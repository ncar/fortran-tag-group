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378A31-E9B0-AF9C-AEDE-78DC8F928EBB}" name="Dom Heinzeller" initials="DH" userId="S::heinzell@ucar.edu::c1c588cb-4828-4bcb-aefe-37c6a79f07c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22" d="100"/>
          <a:sy n="122" d="100"/>
        </p:scale>
        <p:origin x="45" y="9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19870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Housekeeping: this is a skeleton deck - swap in your project's name, your compilers, your site. Set expectations: by the end you should be able to read and write a CMakeLists.txt for a Fortran library plus tests, and explain to a colleague why it beats the Makefile they have been maintaining since 2009.</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Roughly 30 minutes. Sections 1-3 are the ones nobody can skip. If time runs short, compress section 5 and keep section 6 - the audience mostly wants to know whether the migration is worth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show of hands: who has a Makefile like this in their project? Who wrote it? Who understands it? The usual answer is that three people wrote it, one has left, and nobody dares touch the dependency block at the bottom. Note the literal tab characters - Make's most famous footgun.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strongest argument for CMake in a Fortran shop, so do not rush it. Emphasise that this is not a convenience feature - it is correctness. A wrong Makefile does not always fail; sometimes it just links a stale .mod and you get wrong science.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these six as the scoring rubric for the rest of the talk. At the end, on the comparison slide, we come back and score make, Autotools and CMake against exactly this list. Point out that items 5 and 6 are usually missing entirely from home-grown builds.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concept people get wrong most often. CMake does not compile anything. It writes the thing that compiles. Two consequences worth stating out loud: (1) errors come in two flavours - configure-time and build-time - and knowing which you are looking at halves your debugging time; (2) the build directory is disposable, so 'have you tried deleting build/' is a legitimate first response.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Live-demo candidate: create these three lines in an empty directory with a hello-world main.f90 and build it in front of the audience. It takes twenty seconds and it defuses the fear that CMake is enormous. Mention that LANGUAGES Fortran matters - without it CMake looks for a C compiler and fails confusingly on some systems.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-S/-B needs CMake 3.13+, which every site has. The older 'mkdir build &amp;&amp; cd build &amp;&amp; cmake ..' still works and you will see it in every tutorial written before 2019. Also mention cmake --build understands --target install and --config for multi-config generators.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a war story if you have one - almost everyone has been bitten by a stale .mod. You can also mention that CMake will refuse an in-source build if you add a guard, and many projects do exactly that.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hinge of the talk. If people leave understanding only one thing, make it 'think in targets'. Most bad CMake in the wild - including a lot of ecbuild-era code - is bad because it uses directory-scoped commands and global flag variables instead of targets.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for the shortest possible rule: PUBLIC if it appears in a module you export, PRIVATE otherwise; INTERFACE is rare outside of header-only or flag-carrying targets. The BUILD_INTERFACE / INSTALL_INTERFACE pair on the bottom is boilerplate people copy without understanding - so explain it once, here.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output is real - it comes from the companion example project shipped with this deck, where src/CMakeLists.txt lists the four sources in exactly the reverse of the required order. Build it live if you can; it is the most convincing thirty seconds in the talk.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question here: 'can I just install the .mod files into a shared include directory?' Answer: only if every consumer uses the identical compiler and version. This is the strongest practical argument for a package manager, which is slide 21.</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naming the compiler IDs people will actually meet: GNU, Intel (classic ifort), IntelLLVM (ifx), NVHPC, Cray, Flang, LLVMFlang. Note the semicolons inside a generator expression - that is a CMake list, and it is a very common source of confusion when a two-word flag mysteriously becomes one argument.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tip to share: when someone says 'CMake ignored my change', it is almost always a stale cache. The fix is a new build directory, not a bug report. Also mention that CMAKE_PREFIX_PATH is the single most useful cache variable on an HPC system - it is how you point CMake at your NetCDF/HDF5 installs.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note for this audience: FindNetCDF is not shipped by CMake, so most Fortran projects vendor one or rely on the module files installed by their site or by Spack. That is the single most common find_package frustration in this community - name it before someone else does.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NWP codes the most valuable pattern is usually the regression test: run a short forecast, compare against a reference file with a small comparison tool, register that tool as the test command. Also mention COST and RESOURCE_LOCK properties for expensive or exclusive tests, and that ctest can drive MPI runs via the COMMAND line.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audience is sceptical about CI, the honest pitch is that the barrier was never the CI system - it was that nobody could describe how to build the code in fewer than a page of instructions. CMake removes that barrier.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most home-grown Fortran builds simply do not have, and it is the reason integrating them into a larger system is painful. Frame it as: the install step is your public API. If you get this right, everything downstream - Spack, other projects, your own coupled model - becomes easy.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explicitly with the status quo: today, integrating a Fortran library usually means reading its Makefile to work out what it produced and where. Two lines versus an afternoon.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Adjust this slide to your audience - if they do not use Spack, swap in EasyBuild or conda-forge. The general point stands: a standard build interface is what makes automated packaging possible at all.</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fair to Autotools: it solves the portability problem genuinely well and it has no build-time dependency beyond a shell, which still matters on exotic machines. Its real costs are the m4 layer nobody on your team can debug, generated configure scripts that take minutes to run, and effectively no Windows or IDE story. Be fair to Make too: it is fine for a five-file project, and CMake generates Makefiles anyway.</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skip this slide. An audience of scientists and developers will trust the rest of the talk considerably more if you volunteer the weaknesses before they do. If someone raises Meson or Bazel, the short answer is: Meson is a reasonable choice with good Fortran support and a much smaller ecosystem; Bazel is not a serious option for this community.</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 project has an ecbuild or similar CMake wrapper already, the migration is different: it is about removing a layer rather than adding one. Mention that in passing if it applies to your group.</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for questions - the cheat sheet on the right gives people something to photograph. Offer the companion example repository; it is more useful than the slides.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hyperlink" Target="https://github.com/ncar/ccpp-scm"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430"/>
        </a:solidFill>
        <a:effectLst/>
      </p:bgPr>
    </p:bg>
    <p:spTree>
      <p:nvGrpSpPr>
        <p:cNvPr id="1" name=""/>
        <p:cNvGrpSpPr/>
        <p:nvPr/>
      </p:nvGrpSpPr>
      <p:grpSpPr>
        <a:xfrm>
          <a:off x="0" y="0"/>
          <a:ext cx="0" cy="0"/>
          <a:chOff x="0" y="0"/>
          <a:chExt cx="0" cy="0"/>
        </a:xfrm>
      </p:grpSpPr>
      <p:sp>
        <p:nvSpPr>
          <p:cNvPr id="2" name="Text 0"/>
          <p:cNvSpPr txBox="1"/>
          <p:nvPr/>
        </p:nvSpPr>
        <p:spPr>
          <a:xfrm>
            <a:off x="640080" y="1417320"/>
            <a:ext cx="7680960" cy="1005840"/>
          </a:xfrm>
          <a:prstGeom prst="rect">
            <a:avLst/>
          </a:prstGeom>
          <a:noFill/>
          <a:ln/>
        </p:spPr>
        <p:txBody>
          <a:bodyPr wrap="square" lIns="0" tIns="0" rIns="0" bIns="0" rtlCol="0" anchor="ctr"/>
          <a:lstStyle/>
          <a:p>
            <a:pPr marL="0" indent="0">
              <a:buNone/>
            </a:pPr>
            <a:r>
              <a:rPr lang="en-US" sz="5200" b="1" dirty="0">
                <a:solidFill>
                  <a:srgbClr val="FFFFFF"/>
                </a:solidFill>
                <a:latin typeface="Cambria" pitchFamily="34" charset="0"/>
                <a:ea typeface="Cambria" pitchFamily="34" charset="-122"/>
                <a:cs typeface="Cambria" pitchFamily="34" charset="-120"/>
              </a:rPr>
              <a:t>CMake for Fortran</a:t>
            </a:r>
            <a:endParaRPr lang="en-US" sz="5200" dirty="0"/>
          </a:p>
        </p:txBody>
      </p:sp>
      <p:sp>
        <p:nvSpPr>
          <p:cNvPr id="3" name="Text 1"/>
          <p:cNvSpPr txBox="1"/>
          <p:nvPr/>
        </p:nvSpPr>
        <p:spPr>
          <a:xfrm>
            <a:off x="640080" y="2468880"/>
            <a:ext cx="7680960" cy="457200"/>
          </a:xfrm>
          <a:prstGeom prst="rect">
            <a:avLst/>
          </a:prstGeom>
          <a:noFill/>
          <a:ln/>
        </p:spPr>
        <p:txBody>
          <a:bodyPr wrap="square" lIns="0" tIns="0" rIns="0" bIns="0" rtlCol="0" anchor="ctr"/>
          <a:lstStyle/>
          <a:p>
            <a:pPr marL="0" indent="0">
              <a:buNone/>
            </a:pPr>
            <a:r>
              <a:rPr lang="en-US" sz="2000" dirty="0">
                <a:solidFill>
                  <a:srgbClr val="F2A65A"/>
                </a:solidFill>
                <a:latin typeface="Calibri" pitchFamily="34" charset="0"/>
                <a:ea typeface="Calibri" pitchFamily="34" charset="-122"/>
                <a:cs typeface="Calibri" pitchFamily="34" charset="-120"/>
              </a:rPr>
              <a:t>Getting out of the Makefile business</a:t>
            </a:r>
            <a:endParaRPr lang="en-US" sz="2000" dirty="0"/>
          </a:p>
        </p:txBody>
      </p:sp>
      <p:sp>
        <p:nvSpPr>
          <p:cNvPr id="4" name="Text 2"/>
          <p:cNvSpPr txBox="1"/>
          <p:nvPr/>
        </p:nvSpPr>
        <p:spPr>
          <a:xfrm>
            <a:off x="640080" y="3063240"/>
            <a:ext cx="6949440" cy="822960"/>
          </a:xfrm>
          <a:prstGeom prst="rect">
            <a:avLst/>
          </a:prstGeom>
          <a:noFill/>
          <a:ln/>
        </p:spPr>
        <p:txBody>
          <a:bodyPr wrap="square" lIns="0" tIns="0" rIns="0" bIns="0" rtlCol="0" anchor="ctr"/>
          <a:lstStyle/>
          <a:p>
            <a:pPr marL="0" indent="0">
              <a:lnSpc>
                <a:spcPct val="120000"/>
              </a:lnSpc>
              <a:buNone/>
            </a:pPr>
            <a:r>
              <a:rPr lang="en-US" sz="1400" dirty="0">
                <a:solidFill>
                  <a:srgbClr val="8A93A6"/>
                </a:solidFill>
                <a:latin typeface="Calibri" pitchFamily="34" charset="0"/>
                <a:ea typeface="Calibri" pitchFamily="34" charset="-122"/>
                <a:cs typeface="Calibri" pitchFamily="34" charset="-120"/>
              </a:rPr>
              <a:t>A from-scratch introduction for scientists and developers.</a:t>
            </a:r>
            <a:endParaRPr lang="en-US" sz="1400" dirty="0"/>
          </a:p>
          <a:p>
            <a:pPr marL="0" indent="0">
              <a:lnSpc>
                <a:spcPct val="120000"/>
              </a:lnSpc>
              <a:buNone/>
            </a:pPr>
            <a:r>
              <a:rPr lang="en-US" sz="1400" dirty="0">
                <a:solidFill>
                  <a:srgbClr val="8A93A6"/>
                </a:solidFill>
                <a:latin typeface="Calibri" pitchFamily="34" charset="0"/>
                <a:ea typeface="Calibri" pitchFamily="34" charset="-122"/>
                <a:cs typeface="Calibri" pitchFamily="34" charset="-120"/>
              </a:rPr>
              <a:t>No prior CMake knowledge assumed. Everything here works with CMake 3.x.</a:t>
            </a:r>
            <a:endParaRPr lang="en-US" sz="1400" dirty="0"/>
          </a:p>
        </p:txBody>
      </p:sp>
      <p:sp>
        <p:nvSpPr>
          <p:cNvPr id="5" name="Text 3"/>
          <p:cNvSpPr txBox="1"/>
          <p:nvPr/>
        </p:nvSpPr>
        <p:spPr>
          <a:xfrm>
            <a:off x="640080" y="5852160"/>
            <a:ext cx="7315200" cy="320040"/>
          </a:xfrm>
          <a:prstGeom prst="rect">
            <a:avLst/>
          </a:prstGeom>
          <a:noFill/>
          <a:ln/>
        </p:spPr>
        <p:txBody>
          <a:bodyPr wrap="square" lIns="0" tIns="0" rIns="0" bIns="0" rtlCol="0" anchor="ctr"/>
          <a:lstStyle/>
          <a:p>
            <a:pPr marL="0" indent="0">
              <a:buNone/>
            </a:pPr>
            <a:r>
              <a:rPr lang="en-US" sz="1300" dirty="0">
                <a:solidFill>
                  <a:srgbClr val="8A93A6"/>
                </a:solidFill>
                <a:latin typeface="Calibri" pitchFamily="34" charset="0"/>
                <a:ea typeface="Calibri" pitchFamily="34" charset="-122"/>
                <a:cs typeface="Calibri" pitchFamily="34" charset="-120"/>
              </a:rPr>
              <a:t>Dom Heinzeller  ·  UCAR / NRL  ·  August 31, 2026</a:t>
            </a:r>
            <a:endParaRPr lang="en-US" sz="1300" dirty="0"/>
          </a:p>
        </p:txBody>
      </p:sp>
      <p:sp>
        <p:nvSpPr>
          <p:cNvPr id="6" name="Shape 4"/>
          <p:cNvSpPr/>
          <p:nvPr/>
        </p:nvSpPr>
        <p:spPr>
          <a:xfrm>
            <a:off x="8549640" y="1417320"/>
            <a:ext cx="3017520" cy="1642796"/>
          </a:xfrm>
          <a:prstGeom prst="roundRect">
            <a:avLst>
              <a:gd name="adj" fmla="val 4453"/>
            </a:avLst>
          </a:prstGeom>
          <a:solidFill>
            <a:srgbClr val="2C3446"/>
          </a:solidFill>
          <a:ln w="12700">
            <a:solidFill>
              <a:srgbClr val="2C3446"/>
            </a:solidFill>
            <a:prstDash val="solid"/>
          </a:ln>
        </p:spPr>
        <p:txBody>
          <a:bodyPr/>
          <a:lstStyle/>
          <a:p>
            <a:endParaRPr lang="en-US"/>
          </a:p>
        </p:txBody>
      </p:sp>
      <p:sp>
        <p:nvSpPr>
          <p:cNvPr id="7" name="Text 5"/>
          <p:cNvSpPr txBox="1"/>
          <p:nvPr/>
        </p:nvSpPr>
        <p:spPr>
          <a:xfrm>
            <a:off x="8750808" y="1563624"/>
            <a:ext cx="2615184" cy="1350188"/>
          </a:xfrm>
          <a:prstGeom prst="rect">
            <a:avLst/>
          </a:prstGeom>
          <a:noFill/>
          <a:ln/>
        </p:spPr>
        <p:txBody>
          <a:bodyPr wrap="square" lIns="0" tIns="0" rIns="0" bIns="0" rtlCol="0" anchor="t"/>
          <a:lstStyle/>
          <a:p>
            <a:pPr marL="0" indent="0">
              <a:lnSpc>
                <a:spcPct val="112000"/>
              </a:lnSpc>
              <a:buNone/>
            </a:pPr>
            <a:r>
              <a:rPr lang="en-US" sz="1100" dirty="0">
                <a:solidFill>
                  <a:srgbClr val="F2A65A"/>
                </a:solidFill>
                <a:latin typeface="Courier New" pitchFamily="34" charset="0"/>
                <a:ea typeface="Courier New" pitchFamily="34" charset="-122"/>
                <a:cs typeface="Courier New" pitchFamily="34" charset="-120"/>
              </a:rPr>
              <a:t>$</a:t>
            </a:r>
            <a:r>
              <a:rPr lang="en-US" sz="1100" dirty="0">
                <a:solidFill>
                  <a:srgbClr val="E6E8EC"/>
                </a:solidFill>
                <a:latin typeface="Courier New" pitchFamily="34" charset="0"/>
                <a:ea typeface="Courier New" pitchFamily="34" charset="-122"/>
                <a:cs typeface="Courier New" pitchFamily="34" charset="-120"/>
              </a:rPr>
              <a:t> cmake -S . -B build</a:t>
            </a:r>
            <a:endParaRPr lang="en-US" sz="1100" dirty="0"/>
          </a:p>
          <a:p>
            <a:pPr marL="0" indent="0">
              <a:lnSpc>
                <a:spcPct val="112000"/>
              </a:lnSpc>
              <a:buNone/>
            </a:pPr>
            <a:r>
              <a:rPr lang="en-US" sz="1100" dirty="0">
                <a:solidFill>
                  <a:srgbClr val="F2A65A"/>
                </a:solidFill>
                <a:latin typeface="Courier New" pitchFamily="34" charset="0"/>
                <a:ea typeface="Courier New" pitchFamily="34" charset="-122"/>
                <a:cs typeface="Courier New" pitchFamily="34" charset="-120"/>
              </a:rPr>
              <a:t>$</a:t>
            </a:r>
            <a:r>
              <a:rPr lang="en-US" sz="1100" dirty="0">
                <a:solidFill>
                  <a:srgbClr val="E6E8EC"/>
                </a:solidFill>
                <a:latin typeface="Courier New" pitchFamily="34" charset="0"/>
                <a:ea typeface="Courier New" pitchFamily="34" charset="-122"/>
                <a:cs typeface="Courier New" pitchFamily="34" charset="-120"/>
              </a:rPr>
              <a:t> cmake --build build -j</a:t>
            </a:r>
            <a:endParaRPr lang="en-US" sz="1100" dirty="0"/>
          </a:p>
          <a:p>
            <a:pPr marL="0" indent="0">
              <a:lnSpc>
                <a:spcPct val="112000"/>
              </a:lnSpc>
              <a:buNone/>
            </a:pPr>
            <a:r>
              <a:rPr lang="en-US" sz="1100" dirty="0">
                <a:solidFill>
                  <a:srgbClr val="F2A65A"/>
                </a:solidFill>
                <a:latin typeface="Courier New" pitchFamily="34" charset="0"/>
                <a:ea typeface="Courier New" pitchFamily="34" charset="-122"/>
                <a:cs typeface="Courier New" pitchFamily="34" charset="-120"/>
              </a:rPr>
              <a:t>$</a:t>
            </a:r>
            <a:r>
              <a:rPr lang="en-US" sz="1100" dirty="0">
                <a:solidFill>
                  <a:srgbClr val="E6E8EC"/>
                </a:solidFill>
                <a:latin typeface="Courier New" pitchFamily="34" charset="0"/>
                <a:ea typeface="Courier New" pitchFamily="34" charset="-122"/>
                <a:cs typeface="Courier New" pitchFamily="34" charset="-120"/>
              </a:rPr>
              <a:t> ctest --test-dir build</a:t>
            </a:r>
            <a:endParaRPr lang="en-US" sz="1100" dirty="0"/>
          </a:p>
          <a:p>
            <a:pPr marL="0" indent="0">
              <a:lnSpc>
                <a:spcPct val="112000"/>
              </a:lnSpc>
              <a:buNone/>
            </a:pPr>
            <a:r>
              <a:rPr lang="en-US" sz="1100" dirty="0">
                <a:solidFill>
                  <a:srgbClr val="F2A65A"/>
                </a:solidFill>
                <a:latin typeface="Courier New" pitchFamily="34" charset="0"/>
                <a:ea typeface="Courier New" pitchFamily="34" charset="-122"/>
                <a:cs typeface="Courier New" pitchFamily="34" charset="-120"/>
              </a:rPr>
              <a:t>$</a:t>
            </a:r>
            <a:r>
              <a:rPr lang="en-US" sz="1100" dirty="0">
                <a:solidFill>
                  <a:srgbClr val="E6E8EC"/>
                </a:solidFill>
                <a:latin typeface="Courier New" pitchFamily="34" charset="0"/>
                <a:ea typeface="Courier New" pitchFamily="34" charset="-122"/>
                <a:cs typeface="Courier New" pitchFamily="34" charset="-120"/>
              </a:rPr>
              <a:t> cmake --install build</a:t>
            </a:r>
            <a:endParaRPr lang="en-US" sz="1100" dirty="0"/>
          </a:p>
          <a:p>
            <a:pPr marL="0" indent="0">
              <a:lnSpc>
                <a:spcPct val="112000"/>
              </a:lnSpc>
              <a:buNone/>
            </a:pPr>
            <a:r>
              <a:rPr lang="en-US" sz="1100" dirty="0">
                <a:solidFill>
                  <a:srgbClr val="E6E8EC"/>
                </a:solidFill>
                <a:latin typeface="Courier New" pitchFamily="34" charset="0"/>
                <a:ea typeface="Courier New" pitchFamily="34" charset="-122"/>
                <a:cs typeface="Courier New" pitchFamily="34" charset="-120"/>
              </a:rPr>
              <a:t> </a:t>
            </a:r>
            <a:endParaRPr lang="en-US" sz="1100" dirty="0"/>
          </a:p>
          <a:p>
            <a:pPr marL="0" indent="0">
              <a:lnSpc>
                <a:spcPct val="112000"/>
              </a:lnSpc>
              <a:buNone/>
            </a:pPr>
            <a:r>
              <a:rPr lang="en-US" sz="1100" i="1" dirty="0">
                <a:solidFill>
                  <a:srgbClr val="8A93A6"/>
                </a:solidFill>
                <a:latin typeface="Courier New" pitchFamily="34" charset="0"/>
                <a:ea typeface="Courier New" pitchFamily="34" charset="-122"/>
                <a:cs typeface="Courier New" pitchFamily="34" charset="-120"/>
              </a:rPr>
              <a:t># that is the whole</a:t>
            </a:r>
            <a:endParaRPr lang="en-US" sz="1100" dirty="0"/>
          </a:p>
          <a:p>
            <a:pPr marL="0" indent="0">
              <a:lnSpc>
                <a:spcPct val="112000"/>
              </a:lnSpc>
              <a:buNone/>
            </a:pPr>
            <a:r>
              <a:rPr lang="en-US" sz="1100" i="1" dirty="0">
                <a:solidFill>
                  <a:srgbClr val="8A93A6"/>
                </a:solidFill>
                <a:latin typeface="Courier New" pitchFamily="34" charset="0"/>
                <a:ea typeface="Courier New" pitchFamily="34" charset="-122"/>
                <a:cs typeface="Courier New" pitchFamily="34" charset="-120"/>
              </a:rPr>
              <a:t># user interface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F2430"/>
        </a:solidFill>
        <a:effectLst/>
      </p:bgPr>
    </p:bg>
    <p:spTree>
      <p:nvGrpSpPr>
        <p:cNvPr id="1" name=""/>
        <p:cNvGrpSpPr/>
        <p:nvPr/>
      </p:nvGrpSpPr>
      <p:grpSpPr>
        <a:xfrm>
          <a:off x="0" y="0"/>
          <a:ext cx="0" cy="0"/>
          <a:chOff x="0" y="0"/>
          <a:chExt cx="0" cy="0"/>
        </a:xfrm>
      </p:grpSpPr>
      <p:sp>
        <p:nvSpPr>
          <p:cNvPr id="2" name="Text 0"/>
          <p:cNvSpPr txBox="1"/>
          <p:nvPr/>
        </p:nvSpPr>
        <p:spPr>
          <a:xfrm>
            <a:off x="640080" y="6327648"/>
            <a:ext cx="4572000" cy="274320"/>
          </a:xfrm>
          <a:prstGeom prst="rect">
            <a:avLst/>
          </a:prstGeom>
          <a:noFill/>
          <a:ln/>
        </p:spPr>
        <p:txBody>
          <a:bodyPr wrap="square" lIns="0" tIns="0" rIns="0" bIns="0" rtlCol="0" anchor="ctr"/>
          <a:lstStyle/>
          <a:p>
            <a:pPr marL="0" indent="0">
              <a:buNone/>
            </a:pPr>
            <a:r>
              <a:rPr lang="en-US" sz="1000" dirty="0">
                <a:solidFill>
                  <a:srgbClr val="4A5468"/>
                </a:solidFill>
                <a:latin typeface="Calibri" pitchFamily="34" charset="0"/>
                <a:ea typeface="Calibri" pitchFamily="34" charset="-122"/>
                <a:cs typeface="Calibri" pitchFamily="34" charset="-120"/>
              </a:rPr>
              <a:t>CMake for Fortran</a:t>
            </a:r>
            <a:endParaRPr lang="en-US" sz="1000" dirty="0"/>
          </a:p>
        </p:txBody>
      </p:sp>
      <p:sp>
        <p:nvSpPr>
          <p:cNvPr id="3" name="Text 1"/>
          <p:cNvSpPr txBox="1"/>
          <p:nvPr/>
        </p:nvSpPr>
        <p:spPr>
          <a:xfrm>
            <a:off x="10607040" y="6327648"/>
            <a:ext cx="914400" cy="274320"/>
          </a:xfrm>
          <a:prstGeom prst="rect">
            <a:avLst/>
          </a:prstGeom>
          <a:noFill/>
          <a:ln/>
        </p:spPr>
        <p:txBody>
          <a:bodyPr wrap="square" lIns="0" tIns="0" rIns="0" bIns="0" rtlCol="0" anchor="ctr"/>
          <a:lstStyle/>
          <a:p>
            <a:pPr marL="0" indent="0" algn="r">
              <a:buNone/>
            </a:pPr>
            <a:r>
              <a:rPr lang="en-US" sz="1000" dirty="0">
                <a:solidFill>
                  <a:srgbClr val="4A5468"/>
                </a:solidFill>
                <a:latin typeface="Calibri" pitchFamily="34" charset="0"/>
                <a:ea typeface="Calibri" pitchFamily="34" charset="-122"/>
                <a:cs typeface="Calibri" pitchFamily="34" charset="-120"/>
              </a:rPr>
              <a:t>2</a:t>
            </a:r>
            <a:endParaRPr lang="en-US" sz="1000" dirty="0"/>
          </a:p>
        </p:txBody>
      </p:sp>
      <p:sp>
        <p:nvSpPr>
          <p:cNvPr id="4" name="Text 2"/>
          <p:cNvSpPr txBox="1"/>
          <p:nvPr/>
        </p:nvSpPr>
        <p:spPr>
          <a:xfrm>
            <a:off x="640080" y="640080"/>
            <a:ext cx="73152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Where we are going</a:t>
            </a:r>
            <a:endParaRPr lang="en-US" sz="3200" dirty="0"/>
          </a:p>
        </p:txBody>
      </p:sp>
      <p:sp>
        <p:nvSpPr>
          <p:cNvPr id="5" name="Text 3"/>
          <p:cNvSpPr txBox="1"/>
          <p:nvPr/>
        </p:nvSpPr>
        <p:spPr>
          <a:xfrm>
            <a:off x="640080" y="1600200"/>
            <a:ext cx="685800" cy="457200"/>
          </a:xfrm>
          <a:prstGeom prst="rect">
            <a:avLst/>
          </a:prstGeom>
          <a:noFill/>
          <a:ln/>
        </p:spPr>
        <p:txBody>
          <a:bodyPr wrap="square" lIns="0" tIns="0" rIns="0" bIns="0" rtlCol="0" anchor="ctr"/>
          <a:lstStyle/>
          <a:p>
            <a:pPr marL="0" indent="0">
              <a:buNone/>
            </a:pPr>
            <a:r>
              <a:rPr lang="en-US" sz="2200" b="1" dirty="0">
                <a:solidFill>
                  <a:srgbClr val="EF6C1A"/>
                </a:solidFill>
                <a:latin typeface="Courier New" pitchFamily="34" charset="0"/>
                <a:ea typeface="Courier New" pitchFamily="34" charset="-122"/>
                <a:cs typeface="Courier New" pitchFamily="34" charset="-120"/>
              </a:rPr>
              <a:t>01</a:t>
            </a:r>
            <a:endParaRPr lang="en-US" sz="2200" dirty="0"/>
          </a:p>
        </p:txBody>
      </p:sp>
      <p:sp>
        <p:nvSpPr>
          <p:cNvPr id="6" name="Text 4"/>
          <p:cNvSpPr txBox="1"/>
          <p:nvPr/>
        </p:nvSpPr>
        <p:spPr>
          <a:xfrm>
            <a:off x="1371600" y="1600200"/>
            <a:ext cx="4480560" cy="36576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The problem</a:t>
            </a:r>
            <a:endParaRPr lang="en-US" sz="1700" dirty="0"/>
          </a:p>
        </p:txBody>
      </p:sp>
      <p:sp>
        <p:nvSpPr>
          <p:cNvPr id="7" name="Text 5"/>
          <p:cNvSpPr txBox="1"/>
          <p:nvPr/>
        </p:nvSpPr>
        <p:spPr>
          <a:xfrm>
            <a:off x="1371600" y="1984248"/>
            <a:ext cx="4480560" cy="566928"/>
          </a:xfrm>
          <a:prstGeom prst="rect">
            <a:avLst/>
          </a:prstGeom>
          <a:noFill/>
          <a:ln/>
        </p:spPr>
        <p:txBody>
          <a:bodyPr wrap="square" lIns="0" tIns="0" rIns="0" bIns="0" rtlCol="0" anchor="t"/>
          <a:lstStyle/>
          <a:p>
            <a:pPr marL="0" indent="0">
              <a:lnSpc>
                <a:spcPct val="110000"/>
              </a:lnSpc>
              <a:buNone/>
            </a:pPr>
            <a:r>
              <a:rPr lang="en-US" sz="1200" dirty="0">
                <a:solidFill>
                  <a:srgbClr val="8A93A6"/>
                </a:solidFill>
                <a:latin typeface="Calibri" pitchFamily="34" charset="0"/>
                <a:ea typeface="Calibri" pitchFamily="34" charset="-122"/>
                <a:cs typeface="Calibri" pitchFamily="34" charset="-120"/>
              </a:rPr>
              <a:t>Why hand-written Makefiles and Autotools hurt, and why Fortran hurts more</a:t>
            </a:r>
            <a:endParaRPr lang="en-US" sz="1200" dirty="0"/>
          </a:p>
        </p:txBody>
      </p:sp>
      <p:sp>
        <p:nvSpPr>
          <p:cNvPr id="8" name="Text 6"/>
          <p:cNvSpPr txBox="1"/>
          <p:nvPr/>
        </p:nvSpPr>
        <p:spPr>
          <a:xfrm>
            <a:off x="6263640" y="1600200"/>
            <a:ext cx="685800" cy="457200"/>
          </a:xfrm>
          <a:prstGeom prst="rect">
            <a:avLst/>
          </a:prstGeom>
          <a:noFill/>
          <a:ln/>
        </p:spPr>
        <p:txBody>
          <a:bodyPr wrap="square" lIns="0" tIns="0" rIns="0" bIns="0" rtlCol="0" anchor="ctr"/>
          <a:lstStyle/>
          <a:p>
            <a:pPr marL="0" indent="0">
              <a:buNone/>
            </a:pPr>
            <a:r>
              <a:rPr lang="en-US" sz="2200" b="1" dirty="0">
                <a:solidFill>
                  <a:srgbClr val="EF6C1A"/>
                </a:solidFill>
                <a:latin typeface="Courier New" pitchFamily="34" charset="0"/>
                <a:ea typeface="Courier New" pitchFamily="34" charset="-122"/>
                <a:cs typeface="Courier New" pitchFamily="34" charset="-120"/>
              </a:rPr>
              <a:t>02</a:t>
            </a:r>
            <a:endParaRPr lang="en-US" sz="2200" dirty="0"/>
          </a:p>
        </p:txBody>
      </p:sp>
      <p:sp>
        <p:nvSpPr>
          <p:cNvPr id="9" name="Text 7"/>
          <p:cNvSpPr txBox="1"/>
          <p:nvPr/>
        </p:nvSpPr>
        <p:spPr>
          <a:xfrm>
            <a:off x="6995160" y="1600200"/>
            <a:ext cx="4480560" cy="36576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CMake basics</a:t>
            </a:r>
            <a:endParaRPr lang="en-US" sz="1700" dirty="0"/>
          </a:p>
        </p:txBody>
      </p:sp>
      <p:sp>
        <p:nvSpPr>
          <p:cNvPr id="10" name="Text 8"/>
          <p:cNvSpPr txBox="1"/>
          <p:nvPr/>
        </p:nvSpPr>
        <p:spPr>
          <a:xfrm>
            <a:off x="6995160" y="1984248"/>
            <a:ext cx="4480560" cy="566928"/>
          </a:xfrm>
          <a:prstGeom prst="rect">
            <a:avLst/>
          </a:prstGeom>
          <a:noFill/>
          <a:ln/>
        </p:spPr>
        <p:txBody>
          <a:bodyPr wrap="square" lIns="0" tIns="0" rIns="0" bIns="0" rtlCol="0" anchor="t"/>
          <a:lstStyle/>
          <a:p>
            <a:pPr marL="0" indent="0">
              <a:lnSpc>
                <a:spcPct val="110000"/>
              </a:lnSpc>
              <a:buNone/>
            </a:pPr>
            <a:r>
              <a:rPr lang="en-US" sz="1200" dirty="0">
                <a:solidFill>
                  <a:srgbClr val="8A93A6"/>
                </a:solidFill>
                <a:latin typeface="Calibri" pitchFamily="34" charset="0"/>
                <a:ea typeface="Calibri" pitchFamily="34" charset="-122"/>
                <a:cs typeface="Calibri" pitchFamily="34" charset="-120"/>
              </a:rPr>
              <a:t>The mental model, a 4-line project, configure / build / test / install</a:t>
            </a:r>
            <a:endParaRPr lang="en-US" sz="1200" dirty="0"/>
          </a:p>
        </p:txBody>
      </p:sp>
      <p:sp>
        <p:nvSpPr>
          <p:cNvPr id="11" name="Text 9"/>
          <p:cNvSpPr txBox="1"/>
          <p:nvPr/>
        </p:nvSpPr>
        <p:spPr>
          <a:xfrm>
            <a:off x="640080" y="2898648"/>
            <a:ext cx="685800" cy="457200"/>
          </a:xfrm>
          <a:prstGeom prst="rect">
            <a:avLst/>
          </a:prstGeom>
          <a:noFill/>
          <a:ln/>
        </p:spPr>
        <p:txBody>
          <a:bodyPr wrap="square" lIns="0" tIns="0" rIns="0" bIns="0" rtlCol="0" anchor="ctr"/>
          <a:lstStyle/>
          <a:p>
            <a:pPr marL="0" indent="0">
              <a:buNone/>
            </a:pPr>
            <a:r>
              <a:rPr lang="en-US" sz="2200" b="1" dirty="0">
                <a:solidFill>
                  <a:srgbClr val="EF6C1A"/>
                </a:solidFill>
                <a:latin typeface="Courier New" pitchFamily="34" charset="0"/>
                <a:ea typeface="Courier New" pitchFamily="34" charset="-122"/>
                <a:cs typeface="Courier New" pitchFamily="34" charset="-120"/>
              </a:rPr>
              <a:t>03</a:t>
            </a:r>
            <a:endParaRPr lang="en-US" sz="2200" dirty="0"/>
          </a:p>
        </p:txBody>
      </p:sp>
      <p:sp>
        <p:nvSpPr>
          <p:cNvPr id="12" name="Text 10"/>
          <p:cNvSpPr txBox="1"/>
          <p:nvPr/>
        </p:nvSpPr>
        <p:spPr>
          <a:xfrm>
            <a:off x="1371600" y="2898648"/>
            <a:ext cx="4480560" cy="36576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Targets</a:t>
            </a:r>
            <a:endParaRPr lang="en-US" sz="1700" dirty="0"/>
          </a:p>
        </p:txBody>
      </p:sp>
      <p:sp>
        <p:nvSpPr>
          <p:cNvPr id="13" name="Text 11"/>
          <p:cNvSpPr txBox="1"/>
          <p:nvPr/>
        </p:nvSpPr>
        <p:spPr>
          <a:xfrm>
            <a:off x="1371600" y="3282696"/>
            <a:ext cx="4480560" cy="566928"/>
          </a:xfrm>
          <a:prstGeom prst="rect">
            <a:avLst/>
          </a:prstGeom>
          <a:noFill/>
          <a:ln/>
        </p:spPr>
        <p:txBody>
          <a:bodyPr wrap="square" lIns="0" tIns="0" rIns="0" bIns="0" rtlCol="0" anchor="t"/>
          <a:lstStyle/>
          <a:p>
            <a:pPr marL="0" indent="0">
              <a:lnSpc>
                <a:spcPct val="110000"/>
              </a:lnSpc>
              <a:buNone/>
            </a:pPr>
            <a:r>
              <a:rPr lang="en-US" sz="1200" dirty="0">
                <a:solidFill>
                  <a:srgbClr val="8A93A6"/>
                </a:solidFill>
                <a:latin typeface="Calibri" pitchFamily="34" charset="0"/>
                <a:ea typeface="Calibri" pitchFamily="34" charset="-122"/>
                <a:cs typeface="Calibri" pitchFamily="34" charset="-120"/>
              </a:rPr>
              <a:t>The one abstraction that makes everything else fall into place</a:t>
            </a:r>
            <a:endParaRPr lang="en-US" sz="1200" dirty="0"/>
          </a:p>
        </p:txBody>
      </p:sp>
      <p:sp>
        <p:nvSpPr>
          <p:cNvPr id="14" name="Text 12"/>
          <p:cNvSpPr txBox="1"/>
          <p:nvPr/>
        </p:nvSpPr>
        <p:spPr>
          <a:xfrm>
            <a:off x="6263640" y="2898648"/>
            <a:ext cx="685800" cy="457200"/>
          </a:xfrm>
          <a:prstGeom prst="rect">
            <a:avLst/>
          </a:prstGeom>
          <a:noFill/>
          <a:ln/>
        </p:spPr>
        <p:txBody>
          <a:bodyPr wrap="square" lIns="0" tIns="0" rIns="0" bIns="0" rtlCol="0" anchor="ctr"/>
          <a:lstStyle/>
          <a:p>
            <a:pPr marL="0" indent="0">
              <a:buNone/>
            </a:pPr>
            <a:r>
              <a:rPr lang="en-US" sz="2200" b="1" dirty="0">
                <a:solidFill>
                  <a:srgbClr val="EF6C1A"/>
                </a:solidFill>
                <a:latin typeface="Courier New" pitchFamily="34" charset="0"/>
                <a:ea typeface="Courier New" pitchFamily="34" charset="-122"/>
                <a:cs typeface="Courier New" pitchFamily="34" charset="-120"/>
              </a:rPr>
              <a:t>04</a:t>
            </a:r>
            <a:endParaRPr lang="en-US" sz="2200" dirty="0"/>
          </a:p>
        </p:txBody>
      </p:sp>
      <p:sp>
        <p:nvSpPr>
          <p:cNvPr id="15" name="Text 13"/>
          <p:cNvSpPr txBox="1"/>
          <p:nvPr/>
        </p:nvSpPr>
        <p:spPr>
          <a:xfrm>
            <a:off x="6995160" y="2898648"/>
            <a:ext cx="4480560" cy="36576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Fortran specifics</a:t>
            </a:r>
            <a:endParaRPr lang="en-US" sz="1700" dirty="0"/>
          </a:p>
        </p:txBody>
      </p:sp>
      <p:sp>
        <p:nvSpPr>
          <p:cNvPr id="16" name="Text 14"/>
          <p:cNvSpPr txBox="1"/>
          <p:nvPr/>
        </p:nvSpPr>
        <p:spPr>
          <a:xfrm>
            <a:off x="6995160" y="3282696"/>
            <a:ext cx="4480560" cy="566928"/>
          </a:xfrm>
          <a:prstGeom prst="rect">
            <a:avLst/>
          </a:prstGeom>
          <a:noFill/>
          <a:ln/>
        </p:spPr>
        <p:txBody>
          <a:bodyPr wrap="square" lIns="0" tIns="0" rIns="0" bIns="0" rtlCol="0" anchor="t"/>
          <a:lstStyle/>
          <a:p>
            <a:pPr marL="0" indent="0">
              <a:lnSpc>
                <a:spcPct val="110000"/>
              </a:lnSpc>
              <a:buNone/>
            </a:pPr>
            <a:r>
              <a:rPr lang="en-US" sz="1200" dirty="0">
                <a:solidFill>
                  <a:srgbClr val="8A93A6"/>
                </a:solidFill>
                <a:latin typeface="Calibri" pitchFamily="34" charset="0"/>
                <a:ea typeface="Calibri" pitchFamily="34" charset="-122"/>
                <a:cs typeface="Calibri" pitchFamily="34" charset="-120"/>
              </a:rPr>
              <a:t>Module dependencies, .mod files, per-compiler flags</a:t>
            </a:r>
            <a:endParaRPr lang="en-US" sz="1200" dirty="0"/>
          </a:p>
        </p:txBody>
      </p:sp>
      <p:sp>
        <p:nvSpPr>
          <p:cNvPr id="17" name="Text 15"/>
          <p:cNvSpPr txBox="1"/>
          <p:nvPr/>
        </p:nvSpPr>
        <p:spPr>
          <a:xfrm>
            <a:off x="640080" y="4197096"/>
            <a:ext cx="685800" cy="457200"/>
          </a:xfrm>
          <a:prstGeom prst="rect">
            <a:avLst/>
          </a:prstGeom>
          <a:noFill/>
          <a:ln/>
        </p:spPr>
        <p:txBody>
          <a:bodyPr wrap="square" lIns="0" tIns="0" rIns="0" bIns="0" rtlCol="0" anchor="ctr"/>
          <a:lstStyle/>
          <a:p>
            <a:pPr marL="0" indent="0">
              <a:buNone/>
            </a:pPr>
            <a:r>
              <a:rPr lang="en-US" sz="2200" b="1" dirty="0">
                <a:solidFill>
                  <a:srgbClr val="EF6C1A"/>
                </a:solidFill>
                <a:latin typeface="Courier New" pitchFamily="34" charset="0"/>
                <a:ea typeface="Courier New" pitchFamily="34" charset="-122"/>
                <a:cs typeface="Courier New" pitchFamily="34" charset="-120"/>
              </a:rPr>
              <a:t>05</a:t>
            </a:r>
            <a:endParaRPr lang="en-US" sz="2200" dirty="0"/>
          </a:p>
        </p:txBody>
      </p:sp>
      <p:sp>
        <p:nvSpPr>
          <p:cNvPr id="18" name="Text 16"/>
          <p:cNvSpPr txBox="1"/>
          <p:nvPr/>
        </p:nvSpPr>
        <p:spPr>
          <a:xfrm>
            <a:off x="1371600" y="4197096"/>
            <a:ext cx="4480560" cy="36576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The full loop</a:t>
            </a:r>
            <a:endParaRPr lang="en-US" sz="1700" dirty="0"/>
          </a:p>
        </p:txBody>
      </p:sp>
      <p:sp>
        <p:nvSpPr>
          <p:cNvPr id="19" name="Text 17"/>
          <p:cNvSpPr txBox="1"/>
          <p:nvPr/>
        </p:nvSpPr>
        <p:spPr>
          <a:xfrm>
            <a:off x="1371600" y="4581144"/>
            <a:ext cx="4480560" cy="566928"/>
          </a:xfrm>
          <a:prstGeom prst="rect">
            <a:avLst/>
          </a:prstGeom>
          <a:noFill/>
          <a:ln/>
        </p:spPr>
        <p:txBody>
          <a:bodyPr wrap="square" lIns="0" tIns="0" rIns="0" bIns="0" rtlCol="0" anchor="t"/>
          <a:lstStyle/>
          <a:p>
            <a:pPr marL="0" indent="0">
              <a:lnSpc>
                <a:spcPct val="110000"/>
              </a:lnSpc>
              <a:buNone/>
            </a:pPr>
            <a:r>
              <a:rPr lang="en-US" sz="1200" dirty="0">
                <a:solidFill>
                  <a:srgbClr val="8A93A6"/>
                </a:solidFill>
                <a:latin typeface="Calibri" pitchFamily="34" charset="0"/>
                <a:ea typeface="Calibri" pitchFamily="34" charset="-122"/>
                <a:cs typeface="Calibri" pitchFamily="34" charset="-120"/>
              </a:rPr>
              <a:t>CTest, CI, install, find_package, Spack</a:t>
            </a:r>
            <a:endParaRPr lang="en-US" sz="1200" dirty="0"/>
          </a:p>
        </p:txBody>
      </p:sp>
      <p:sp>
        <p:nvSpPr>
          <p:cNvPr id="20" name="Text 18"/>
          <p:cNvSpPr txBox="1"/>
          <p:nvPr/>
        </p:nvSpPr>
        <p:spPr>
          <a:xfrm>
            <a:off x="6263640" y="4197096"/>
            <a:ext cx="685800" cy="457200"/>
          </a:xfrm>
          <a:prstGeom prst="rect">
            <a:avLst/>
          </a:prstGeom>
          <a:noFill/>
          <a:ln/>
        </p:spPr>
        <p:txBody>
          <a:bodyPr wrap="square" lIns="0" tIns="0" rIns="0" bIns="0" rtlCol="0" anchor="ctr"/>
          <a:lstStyle/>
          <a:p>
            <a:pPr marL="0" indent="0">
              <a:buNone/>
            </a:pPr>
            <a:r>
              <a:rPr lang="en-US" sz="2200" b="1" dirty="0">
                <a:solidFill>
                  <a:srgbClr val="EF6C1A"/>
                </a:solidFill>
                <a:latin typeface="Courier New" pitchFamily="34" charset="0"/>
                <a:ea typeface="Courier New" pitchFamily="34" charset="-122"/>
                <a:cs typeface="Courier New" pitchFamily="34" charset="-120"/>
              </a:rPr>
              <a:t>06</a:t>
            </a:r>
            <a:endParaRPr lang="en-US" sz="2200" dirty="0"/>
          </a:p>
        </p:txBody>
      </p:sp>
      <p:sp>
        <p:nvSpPr>
          <p:cNvPr id="21" name="Text 19"/>
          <p:cNvSpPr txBox="1"/>
          <p:nvPr/>
        </p:nvSpPr>
        <p:spPr>
          <a:xfrm>
            <a:off x="6995160" y="4197096"/>
            <a:ext cx="4480560" cy="36576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The argument</a:t>
            </a:r>
            <a:endParaRPr lang="en-US" sz="1700" dirty="0"/>
          </a:p>
        </p:txBody>
      </p:sp>
      <p:sp>
        <p:nvSpPr>
          <p:cNvPr id="22" name="Text 20"/>
          <p:cNvSpPr txBox="1"/>
          <p:nvPr/>
        </p:nvSpPr>
        <p:spPr>
          <a:xfrm>
            <a:off x="6995160" y="4581144"/>
            <a:ext cx="4480560" cy="566928"/>
          </a:xfrm>
          <a:prstGeom prst="rect">
            <a:avLst/>
          </a:prstGeom>
          <a:noFill/>
          <a:ln/>
        </p:spPr>
        <p:txBody>
          <a:bodyPr wrap="square" lIns="0" tIns="0" rIns="0" bIns="0" rtlCol="0" anchor="t"/>
          <a:lstStyle/>
          <a:p>
            <a:pPr marL="0" indent="0">
              <a:lnSpc>
                <a:spcPct val="110000"/>
              </a:lnSpc>
              <a:buNone/>
            </a:pPr>
            <a:r>
              <a:rPr lang="en-US" sz="1200" dirty="0">
                <a:solidFill>
                  <a:srgbClr val="8A93A6"/>
                </a:solidFill>
                <a:latin typeface="Calibri" pitchFamily="34" charset="0"/>
                <a:ea typeface="Calibri" pitchFamily="34" charset="-122"/>
                <a:cs typeface="Calibri" pitchFamily="34" charset="-120"/>
              </a:rPr>
              <a:t>CMake vs. make vs. Autotools - and the honest downsides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6327648"/>
            <a:ext cx="4572000" cy="274320"/>
          </a:xfrm>
          <a:prstGeom prst="rect">
            <a:avLst/>
          </a:prstGeom>
          <a:noFill/>
          <a:ln/>
        </p:spPr>
        <p:txBody>
          <a:bodyPr wrap="square" lIns="0" tIns="0" rIns="0" bIns="0" rtlCol="0" anchor="ctr"/>
          <a:lstStyle/>
          <a:p>
            <a:pPr marL="0" indent="0">
              <a:buNone/>
            </a:pPr>
            <a:r>
              <a:rPr lang="en-US" sz="1000" dirty="0">
                <a:solidFill>
                  <a:srgbClr val="AEB5BF"/>
                </a:solidFill>
                <a:latin typeface="Calibri" pitchFamily="34" charset="0"/>
                <a:ea typeface="Calibri" pitchFamily="34" charset="-122"/>
                <a:cs typeface="Calibri" pitchFamily="34" charset="-120"/>
              </a:rPr>
              <a:t>CMake for Fortran</a:t>
            </a:r>
            <a:endParaRPr lang="en-US" sz="1000" dirty="0"/>
          </a:p>
        </p:txBody>
      </p:sp>
      <p:sp>
        <p:nvSpPr>
          <p:cNvPr id="3" name="Text 1"/>
          <p:cNvSpPr txBox="1"/>
          <p:nvPr/>
        </p:nvSpPr>
        <p:spPr>
          <a:xfrm>
            <a:off x="10607040" y="6327648"/>
            <a:ext cx="914400" cy="274320"/>
          </a:xfrm>
          <a:prstGeom prst="rect">
            <a:avLst/>
          </a:prstGeom>
          <a:noFill/>
          <a:ln/>
        </p:spPr>
        <p:txBody>
          <a:bodyPr wrap="square" lIns="0" tIns="0" rIns="0" bIns="0" rtlCol="0" anchor="ctr"/>
          <a:lstStyle/>
          <a:p>
            <a:pPr marL="0" indent="0" algn="r">
              <a:buNone/>
            </a:pPr>
            <a:r>
              <a:rPr lang="en-US" sz="1000" dirty="0">
                <a:solidFill>
                  <a:srgbClr val="AEB5BF"/>
                </a:solidFill>
                <a:latin typeface="Calibri" pitchFamily="34" charset="0"/>
                <a:ea typeface="Calibri" pitchFamily="34" charset="-122"/>
                <a:cs typeface="Calibri" pitchFamily="34" charset="-120"/>
              </a:rPr>
              <a:t>3</a:t>
            </a:r>
            <a:endParaRPr lang="en-US" sz="1000" dirty="0"/>
          </a:p>
        </p:txBody>
      </p:sp>
      <p:sp>
        <p:nvSpPr>
          <p:cNvPr id="4" name="Text 2"/>
          <p:cNvSpPr txBox="1"/>
          <p:nvPr/>
        </p:nvSpPr>
        <p:spPr>
          <a:xfrm>
            <a:off x="640080" y="384048"/>
            <a:ext cx="10881360" cy="256032"/>
          </a:xfrm>
          <a:prstGeom prst="rect">
            <a:avLst/>
          </a:prstGeom>
          <a:noFill/>
          <a:ln/>
        </p:spPr>
        <p:txBody>
          <a:bodyPr wrap="square" lIns="0" tIns="0" rIns="0" bIns="0" rtlCol="0" anchor="ctr"/>
          <a:lstStyle/>
          <a:p>
            <a:pPr marL="0" indent="0">
              <a:buNone/>
            </a:pPr>
            <a:r>
              <a:rPr lang="en-US" sz="1100" b="1" kern="0" spc="200" dirty="0">
                <a:solidFill>
                  <a:srgbClr val="EF6C1A"/>
                </a:solidFill>
                <a:latin typeface="Calibri" pitchFamily="34" charset="0"/>
                <a:ea typeface="Calibri" pitchFamily="34" charset="-122"/>
                <a:cs typeface="Calibri" pitchFamily="34" charset="-120"/>
              </a:rPr>
              <a:t>THE PROBLEM</a:t>
            </a:r>
            <a:endParaRPr lang="en-US" sz="1100" dirty="0"/>
          </a:p>
        </p:txBody>
      </p:sp>
      <p:sp>
        <p:nvSpPr>
          <p:cNvPr id="5" name="Text 3"/>
          <p:cNvSpPr txBox="1"/>
          <p:nvPr/>
        </p:nvSpPr>
        <p:spPr>
          <a:xfrm>
            <a:off x="640080" y="658368"/>
            <a:ext cx="10881360" cy="658368"/>
          </a:xfrm>
          <a:prstGeom prst="rect">
            <a:avLst/>
          </a:prstGeom>
          <a:noFill/>
          <a:ln/>
        </p:spPr>
        <p:txBody>
          <a:bodyPr wrap="square" lIns="0" tIns="0" rIns="0" bIns="0" rtlCol="0" anchor="t"/>
          <a:lstStyle/>
          <a:p>
            <a:pPr marL="0" indent="0">
              <a:buNone/>
            </a:pPr>
            <a:r>
              <a:rPr lang="en-US" sz="3000" b="1" dirty="0">
                <a:solidFill>
                  <a:srgbClr val="1F2430"/>
                </a:solidFill>
                <a:latin typeface="Cambria" pitchFamily="34" charset="0"/>
                <a:ea typeface="Cambria" pitchFamily="34" charset="-122"/>
                <a:cs typeface="Cambria" pitchFamily="34" charset="-120"/>
              </a:rPr>
              <a:t>How most legacy Fortran codes are built</a:t>
            </a:r>
            <a:endParaRPr lang="en-US" sz="3000" dirty="0"/>
          </a:p>
        </p:txBody>
      </p:sp>
      <p:sp>
        <p:nvSpPr>
          <p:cNvPr id="6" name="Shape 4"/>
          <p:cNvSpPr/>
          <p:nvPr/>
        </p:nvSpPr>
        <p:spPr>
          <a:xfrm>
            <a:off x="640080" y="1600200"/>
            <a:ext cx="5943600" cy="3216859"/>
          </a:xfrm>
          <a:prstGeom prst="roundRect">
            <a:avLst>
              <a:gd name="adj" fmla="val 2274"/>
            </a:avLst>
          </a:prstGeom>
          <a:solidFill>
            <a:srgbClr val="1F2430"/>
          </a:solidFill>
          <a:ln w="12700">
            <a:solidFill>
              <a:srgbClr val="1F2430"/>
            </a:solidFill>
            <a:prstDash val="solid"/>
          </a:ln>
        </p:spPr>
        <p:txBody>
          <a:bodyPr/>
          <a:lstStyle/>
          <a:p>
            <a:endParaRPr lang="en-US"/>
          </a:p>
        </p:txBody>
      </p:sp>
      <p:sp>
        <p:nvSpPr>
          <p:cNvPr id="7" name="Text 5"/>
          <p:cNvSpPr txBox="1"/>
          <p:nvPr/>
        </p:nvSpPr>
        <p:spPr>
          <a:xfrm>
            <a:off x="841248" y="1746504"/>
            <a:ext cx="5541264" cy="2924251"/>
          </a:xfrm>
          <a:prstGeom prst="rect">
            <a:avLst/>
          </a:prstGeom>
          <a:noFill/>
          <a:ln/>
        </p:spPr>
        <p:txBody>
          <a:bodyPr wrap="square" lIns="0" tIns="0" rIns="0" bIns="0" rtlCol="0" anchor="t"/>
          <a:lstStyle/>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FC      = gfortran</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FFLAGS  = -O2 -fopenmp</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OBJS    = kinds.o geometry.o stats.o demo.o</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demo: $(OBJS) main.o</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$(FC) $(FFLAGS) -o $@ $^</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%.o: %.f90</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$(FC) $(FFLAGS) -c $&lt;</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a:t>
            </a:r>
            <a:endParaRPr lang="en-US" sz="1200" dirty="0"/>
          </a:p>
          <a:p>
            <a:pPr marL="0" indent="0">
              <a:lnSpc>
                <a:spcPct val="112000"/>
              </a:lnSpc>
              <a:buNone/>
            </a:pPr>
            <a:r>
              <a:rPr lang="en-US" sz="1200" i="1" dirty="0">
                <a:solidFill>
                  <a:srgbClr val="8A93A6"/>
                </a:solidFill>
                <a:latin typeface="Courier New" pitchFamily="34" charset="0"/>
                <a:ea typeface="Courier New" pitchFamily="34" charset="-122"/>
                <a:cs typeface="Courier New" pitchFamily="34" charset="-120"/>
              </a:rPr>
              <a:t># and then, by hand, forever:</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geometry.o: kinds.o</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stats.o:    kinds.o</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demo.o:     geometry.o stats.o</a:t>
            </a:r>
            <a:endParaRPr lang="en-US" sz="1200" dirty="0"/>
          </a:p>
        </p:txBody>
      </p:sp>
      <p:sp>
        <p:nvSpPr>
          <p:cNvPr id="8" name="Text 6"/>
          <p:cNvSpPr txBox="1"/>
          <p:nvPr/>
        </p:nvSpPr>
        <p:spPr>
          <a:xfrm>
            <a:off x="6903720" y="1691640"/>
            <a:ext cx="4617720" cy="2880360"/>
          </a:xfrm>
          <a:prstGeom prst="rect">
            <a:avLst/>
          </a:prstGeom>
          <a:noFill/>
          <a:ln/>
        </p:spPr>
        <p:txBody>
          <a:bodyPr wrap="square" lIns="0" tIns="0" rIns="0" bIns="0" rtlCol="0" anchor="t"/>
          <a:lstStyle/>
          <a:p>
            <a:pPr marL="342900" indent="-342900">
              <a:lnSpc>
                <a:spcPct val="110000"/>
              </a:lnSpc>
              <a:spcAft>
                <a:spcPts val="800"/>
              </a:spcAft>
              <a:buSzPct val="100000"/>
              <a:buChar char="•"/>
            </a:pPr>
            <a:r>
              <a:rPr lang="en-US" sz="1400" dirty="0">
                <a:solidFill>
                  <a:srgbClr val="3A4354"/>
                </a:solidFill>
                <a:latin typeface="Calibri" pitchFamily="34" charset="0"/>
                <a:ea typeface="Calibri" pitchFamily="34" charset="-122"/>
                <a:cs typeface="Calibri" pitchFamily="34" charset="-120"/>
              </a:rPr>
              <a:t>Every dependency is maintained by a human. Humans forget.</a:t>
            </a:r>
            <a:endParaRPr lang="en-US" sz="1400" dirty="0"/>
          </a:p>
          <a:p>
            <a:pPr marL="342900" indent="-342900">
              <a:lnSpc>
                <a:spcPct val="110000"/>
              </a:lnSpc>
              <a:spcAft>
                <a:spcPts val="800"/>
              </a:spcAft>
              <a:buSzPct val="100000"/>
              <a:buChar char="•"/>
            </a:pPr>
            <a:r>
              <a:rPr lang="en-US" sz="1400" dirty="0">
                <a:solidFill>
                  <a:srgbClr val="3A4354"/>
                </a:solidFill>
                <a:latin typeface="Calibri" pitchFamily="34" charset="0"/>
                <a:ea typeface="Calibri" pitchFamily="34" charset="-122"/>
                <a:cs typeface="Calibri" pitchFamily="34" charset="-120"/>
              </a:rPr>
              <a:t>Compiler support is a growing thicket of ifeq blocks.</a:t>
            </a:r>
            <a:endParaRPr lang="en-US" sz="1400" dirty="0"/>
          </a:p>
          <a:p>
            <a:pPr marL="342900" indent="-342900">
              <a:lnSpc>
                <a:spcPct val="110000"/>
              </a:lnSpc>
              <a:spcAft>
                <a:spcPts val="800"/>
              </a:spcAft>
              <a:buSzPct val="100000"/>
              <a:buChar char="•"/>
            </a:pPr>
            <a:r>
              <a:rPr lang="en-US" sz="1400" dirty="0">
                <a:solidFill>
                  <a:srgbClr val="3A4354"/>
                </a:solidFill>
                <a:latin typeface="Calibri" pitchFamily="34" charset="0"/>
                <a:ea typeface="Calibri" pitchFamily="34" charset="-122"/>
                <a:cs typeface="Calibri" pitchFamily="34" charset="-120"/>
              </a:rPr>
              <a:t>Debug vs. optimised builds means editing the file, or a second file.</a:t>
            </a:r>
            <a:endParaRPr lang="en-US" sz="1400" dirty="0"/>
          </a:p>
          <a:p>
            <a:pPr marL="342900" indent="-342900">
              <a:lnSpc>
                <a:spcPct val="110000"/>
              </a:lnSpc>
              <a:spcAft>
                <a:spcPts val="800"/>
              </a:spcAft>
              <a:buSzPct val="100000"/>
              <a:buChar char="•"/>
            </a:pPr>
            <a:r>
              <a:rPr lang="en-US" sz="1400" dirty="0">
                <a:solidFill>
                  <a:srgbClr val="3A4354"/>
                </a:solidFill>
                <a:latin typeface="Calibri" pitchFamily="34" charset="0"/>
                <a:ea typeface="Calibri" pitchFamily="34" charset="-122"/>
                <a:cs typeface="Calibri" pitchFamily="34" charset="-120"/>
              </a:rPr>
              <a:t>Finding NetCDF / MPI / HDF5 is a hard-coded path in someone's environment.</a:t>
            </a:r>
            <a:endParaRPr lang="en-US" sz="1400" dirty="0"/>
          </a:p>
          <a:p>
            <a:pPr marL="342900" indent="-342900">
              <a:lnSpc>
                <a:spcPct val="110000"/>
              </a:lnSpc>
              <a:spcAft>
                <a:spcPts val="800"/>
              </a:spcAft>
              <a:buSzPct val="100000"/>
              <a:buChar char="•"/>
            </a:pPr>
            <a:r>
              <a:rPr lang="en-US" sz="1400" dirty="0">
                <a:solidFill>
                  <a:srgbClr val="3A4354"/>
                </a:solidFill>
                <a:latin typeface="Calibri" pitchFamily="34" charset="0"/>
                <a:ea typeface="Calibri" pitchFamily="34" charset="-122"/>
                <a:cs typeface="Calibri" pitchFamily="34" charset="-120"/>
              </a:rPr>
              <a:t>There is no install step, no test step, no way for anyone else to consume the library.</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6327648"/>
            <a:ext cx="4572000" cy="274320"/>
          </a:xfrm>
          <a:prstGeom prst="rect">
            <a:avLst/>
          </a:prstGeom>
          <a:noFill/>
          <a:ln/>
        </p:spPr>
        <p:txBody>
          <a:bodyPr wrap="square" lIns="0" tIns="0" rIns="0" bIns="0" rtlCol="0" anchor="ctr"/>
          <a:lstStyle/>
          <a:p>
            <a:pPr marL="0" indent="0">
              <a:buNone/>
            </a:pPr>
            <a:r>
              <a:rPr lang="en-US" sz="1000" dirty="0">
                <a:solidFill>
                  <a:srgbClr val="AEB5BF"/>
                </a:solidFill>
                <a:latin typeface="Calibri" pitchFamily="34" charset="0"/>
                <a:ea typeface="Calibri" pitchFamily="34" charset="-122"/>
                <a:cs typeface="Calibri" pitchFamily="34" charset="-120"/>
              </a:rPr>
              <a:t>CMake for Fortran</a:t>
            </a:r>
            <a:endParaRPr lang="en-US" sz="1000" dirty="0"/>
          </a:p>
        </p:txBody>
      </p:sp>
      <p:sp>
        <p:nvSpPr>
          <p:cNvPr id="3" name="Text 1"/>
          <p:cNvSpPr txBox="1"/>
          <p:nvPr/>
        </p:nvSpPr>
        <p:spPr>
          <a:xfrm>
            <a:off x="10607040" y="6327648"/>
            <a:ext cx="914400" cy="274320"/>
          </a:xfrm>
          <a:prstGeom prst="rect">
            <a:avLst/>
          </a:prstGeom>
          <a:noFill/>
          <a:ln/>
        </p:spPr>
        <p:txBody>
          <a:bodyPr wrap="square" lIns="0" tIns="0" rIns="0" bIns="0" rtlCol="0" anchor="ctr"/>
          <a:lstStyle/>
          <a:p>
            <a:pPr marL="0" indent="0" algn="r">
              <a:buNone/>
            </a:pPr>
            <a:r>
              <a:rPr lang="en-US" sz="1000" dirty="0">
                <a:solidFill>
                  <a:srgbClr val="AEB5BF"/>
                </a:solidFill>
                <a:latin typeface="Calibri" pitchFamily="34" charset="0"/>
                <a:ea typeface="Calibri" pitchFamily="34" charset="-122"/>
                <a:cs typeface="Calibri" pitchFamily="34" charset="-120"/>
              </a:rPr>
              <a:t>4</a:t>
            </a:r>
            <a:endParaRPr lang="en-US" sz="1000" dirty="0"/>
          </a:p>
        </p:txBody>
      </p:sp>
      <p:sp>
        <p:nvSpPr>
          <p:cNvPr id="4" name="Text 2"/>
          <p:cNvSpPr txBox="1"/>
          <p:nvPr/>
        </p:nvSpPr>
        <p:spPr>
          <a:xfrm>
            <a:off x="640080" y="384048"/>
            <a:ext cx="10881360" cy="256032"/>
          </a:xfrm>
          <a:prstGeom prst="rect">
            <a:avLst/>
          </a:prstGeom>
          <a:noFill/>
          <a:ln/>
        </p:spPr>
        <p:txBody>
          <a:bodyPr wrap="square" lIns="0" tIns="0" rIns="0" bIns="0" rtlCol="0" anchor="ctr"/>
          <a:lstStyle/>
          <a:p>
            <a:pPr marL="0" indent="0">
              <a:buNone/>
            </a:pPr>
            <a:r>
              <a:rPr lang="en-US" sz="1100" b="1" kern="0" spc="200" dirty="0">
                <a:solidFill>
                  <a:srgbClr val="EF6C1A"/>
                </a:solidFill>
                <a:latin typeface="Calibri" pitchFamily="34" charset="0"/>
                <a:ea typeface="Calibri" pitchFamily="34" charset="-122"/>
                <a:cs typeface="Calibri" pitchFamily="34" charset="-120"/>
              </a:rPr>
              <a:t>THE PROBLEM</a:t>
            </a:r>
            <a:endParaRPr lang="en-US" sz="1100" dirty="0"/>
          </a:p>
        </p:txBody>
      </p:sp>
      <p:sp>
        <p:nvSpPr>
          <p:cNvPr id="5" name="Text 3"/>
          <p:cNvSpPr txBox="1"/>
          <p:nvPr/>
        </p:nvSpPr>
        <p:spPr>
          <a:xfrm>
            <a:off x="640080" y="658368"/>
            <a:ext cx="10881360" cy="658368"/>
          </a:xfrm>
          <a:prstGeom prst="rect">
            <a:avLst/>
          </a:prstGeom>
          <a:noFill/>
          <a:ln/>
        </p:spPr>
        <p:txBody>
          <a:bodyPr wrap="square" lIns="0" tIns="0" rIns="0" bIns="0" rtlCol="0" anchor="t"/>
          <a:lstStyle/>
          <a:p>
            <a:pPr marL="0" indent="0">
              <a:buNone/>
            </a:pPr>
            <a:r>
              <a:rPr lang="en-US" sz="3000" b="1" dirty="0">
                <a:solidFill>
                  <a:srgbClr val="1F2430"/>
                </a:solidFill>
                <a:latin typeface="Cambria" pitchFamily="34" charset="0"/>
                <a:ea typeface="Cambria" pitchFamily="34" charset="-122"/>
                <a:cs typeface="Cambria" pitchFamily="34" charset="-120"/>
              </a:rPr>
              <a:t>Fortran makes it worse: modules are a build-order problem</a:t>
            </a:r>
            <a:endParaRPr lang="en-US" sz="3000" dirty="0"/>
          </a:p>
        </p:txBody>
      </p:sp>
      <p:sp>
        <p:nvSpPr>
          <p:cNvPr id="6" name="Text 4"/>
          <p:cNvSpPr txBox="1"/>
          <p:nvPr/>
        </p:nvSpPr>
        <p:spPr>
          <a:xfrm>
            <a:off x="640080" y="1572768"/>
            <a:ext cx="10881360" cy="822960"/>
          </a:xfrm>
          <a:prstGeom prst="rect">
            <a:avLst/>
          </a:prstGeom>
          <a:noFill/>
          <a:ln/>
        </p:spPr>
        <p:txBody>
          <a:bodyPr wrap="square" lIns="0" tIns="0" rIns="0" bIns="0" rtlCol="0" anchor="ctr"/>
          <a:lstStyle/>
          <a:p>
            <a:pPr marL="0" indent="0">
              <a:lnSpc>
                <a:spcPct val="120000"/>
              </a:lnSpc>
              <a:buNone/>
            </a:pPr>
            <a:r>
              <a:rPr lang="en-US" sz="1400" dirty="0">
                <a:solidFill>
                  <a:srgbClr val="3A4354"/>
                </a:solidFill>
                <a:latin typeface="Calibri" pitchFamily="34" charset="0"/>
                <a:ea typeface="Calibri" pitchFamily="34" charset="-122"/>
                <a:cs typeface="Calibri" pitchFamily="34" charset="-120"/>
              </a:rPr>
              <a:t>C and C++ dependencies are textual: #include is resolved by the preprocessor and any object can be compiled at any time. Fortran's USE is not. Compiling a file that USEs a module requires the .mod file to already exist - so source order is a hard constraint your build system must derive.</a:t>
            </a:r>
            <a:endParaRPr lang="en-US" sz="1400" dirty="0"/>
          </a:p>
        </p:txBody>
      </p:sp>
      <p:sp>
        <p:nvSpPr>
          <p:cNvPr id="7" name="Text 5"/>
          <p:cNvSpPr txBox="1"/>
          <p:nvPr/>
        </p:nvSpPr>
        <p:spPr>
          <a:xfrm>
            <a:off x="640080" y="2514600"/>
            <a:ext cx="5303520" cy="274320"/>
          </a:xfrm>
          <a:prstGeom prst="rect">
            <a:avLst/>
          </a:prstGeom>
          <a:noFill/>
          <a:ln/>
        </p:spPr>
        <p:txBody>
          <a:bodyPr wrap="square" lIns="0" tIns="0" rIns="0" bIns="0" rtlCol="0" anchor="ctr"/>
          <a:lstStyle/>
          <a:p>
            <a:pPr marL="0" indent="0">
              <a:buNone/>
            </a:pPr>
            <a:r>
              <a:rPr lang="en-US" sz="1200" b="1" kern="0" spc="100" dirty="0">
                <a:solidFill>
                  <a:srgbClr val="6B7280"/>
                </a:solidFill>
                <a:latin typeface="Calibri" pitchFamily="34" charset="0"/>
                <a:ea typeface="Calibri" pitchFamily="34" charset="-122"/>
                <a:cs typeface="Calibri" pitchFamily="34" charset="-120"/>
              </a:rPr>
              <a:t>WHAT YOU WROTE</a:t>
            </a:r>
            <a:endParaRPr lang="en-US" sz="1200" dirty="0"/>
          </a:p>
        </p:txBody>
      </p:sp>
      <p:sp>
        <p:nvSpPr>
          <p:cNvPr id="8" name="Shape 6"/>
          <p:cNvSpPr/>
          <p:nvPr/>
        </p:nvSpPr>
        <p:spPr>
          <a:xfrm>
            <a:off x="640080" y="2834640"/>
            <a:ext cx="5303520" cy="1262253"/>
          </a:xfrm>
          <a:prstGeom prst="roundRect">
            <a:avLst>
              <a:gd name="adj" fmla="val 5795"/>
            </a:avLst>
          </a:prstGeom>
          <a:solidFill>
            <a:srgbClr val="1F2430"/>
          </a:solidFill>
          <a:ln w="12700">
            <a:solidFill>
              <a:srgbClr val="1F2430"/>
            </a:solidFill>
            <a:prstDash val="solid"/>
          </a:ln>
        </p:spPr>
        <p:txBody>
          <a:bodyPr/>
          <a:lstStyle/>
          <a:p>
            <a:endParaRPr lang="en-US"/>
          </a:p>
        </p:txBody>
      </p:sp>
      <p:sp>
        <p:nvSpPr>
          <p:cNvPr id="9" name="Text 7"/>
          <p:cNvSpPr txBox="1"/>
          <p:nvPr/>
        </p:nvSpPr>
        <p:spPr>
          <a:xfrm>
            <a:off x="841248" y="2980944"/>
            <a:ext cx="4901184" cy="969645"/>
          </a:xfrm>
          <a:prstGeom prst="rect">
            <a:avLst/>
          </a:prstGeom>
          <a:noFill/>
          <a:ln/>
        </p:spPr>
        <p:txBody>
          <a:bodyPr wrap="square" lIns="0" tIns="0" rIns="0" bIns="0" rtlCol="0" anchor="t"/>
          <a:lstStyle/>
          <a:p>
            <a:pPr marL="0" indent="0">
              <a:lnSpc>
                <a:spcPct val="112000"/>
              </a:lnSpc>
              <a:buNone/>
            </a:pPr>
            <a:r>
              <a:rPr lang="en-US" sz="1100" dirty="0">
                <a:solidFill>
                  <a:srgbClr val="E6E8EC"/>
                </a:solidFill>
                <a:latin typeface="Courier New" pitchFamily="34" charset="0"/>
                <a:ea typeface="Courier New" pitchFamily="34" charset="-122"/>
                <a:cs typeface="Courier New" pitchFamily="34" charset="-120"/>
              </a:rPr>
              <a:t>OBJS = demo.o stats.o geometry.o kinds.o</a:t>
            </a:r>
            <a:endParaRPr lang="en-US" sz="1100" dirty="0"/>
          </a:p>
          <a:p>
            <a:pPr marL="0" indent="0">
              <a:lnSpc>
                <a:spcPct val="112000"/>
              </a:lnSpc>
              <a:buNone/>
            </a:pPr>
            <a:r>
              <a:rPr lang="en-US" sz="1100" dirty="0">
                <a:solidFill>
                  <a:srgbClr val="E6E8EC"/>
                </a:solidFill>
                <a:latin typeface="Courier New" pitchFamily="34" charset="0"/>
                <a:ea typeface="Courier New" pitchFamily="34" charset="-122"/>
                <a:cs typeface="Courier New" pitchFamily="34" charset="-120"/>
              </a:rPr>
              <a:t> </a:t>
            </a:r>
            <a:endParaRPr lang="en-US" sz="1100" dirty="0"/>
          </a:p>
          <a:p>
            <a:pPr marL="0" indent="0">
              <a:lnSpc>
                <a:spcPct val="112000"/>
              </a:lnSpc>
              <a:buNone/>
            </a:pPr>
            <a:r>
              <a:rPr lang="en-US" sz="1100" dirty="0">
                <a:solidFill>
                  <a:srgbClr val="F2A65A"/>
                </a:solidFill>
                <a:latin typeface="Courier New" pitchFamily="34" charset="0"/>
                <a:ea typeface="Courier New" pitchFamily="34" charset="-122"/>
                <a:cs typeface="Courier New" pitchFamily="34" charset="-120"/>
              </a:rPr>
              <a:t>$</a:t>
            </a:r>
            <a:r>
              <a:rPr lang="en-US" sz="1100" dirty="0">
                <a:solidFill>
                  <a:srgbClr val="E6E8EC"/>
                </a:solidFill>
                <a:latin typeface="Courier New" pitchFamily="34" charset="0"/>
                <a:ea typeface="Courier New" pitchFamily="34" charset="-122"/>
                <a:cs typeface="Courier New" pitchFamily="34" charset="-120"/>
              </a:rPr>
              <a:t> make -j8</a:t>
            </a:r>
            <a:endParaRPr lang="en-US" sz="1100" dirty="0"/>
          </a:p>
          <a:p>
            <a:pPr marL="0" indent="0">
              <a:lnSpc>
                <a:spcPct val="112000"/>
              </a:lnSpc>
              <a:buNone/>
            </a:pPr>
            <a:r>
              <a:rPr lang="en-US" sz="1100" dirty="0">
                <a:solidFill>
                  <a:srgbClr val="E6E8EC"/>
                </a:solidFill>
                <a:latin typeface="Courier New" pitchFamily="34" charset="0"/>
                <a:ea typeface="Courier New" pitchFamily="34" charset="-122"/>
                <a:cs typeface="Courier New" pitchFamily="34" charset="-120"/>
              </a:rPr>
              <a:t>geometry.f90:2: Cannot open module</a:t>
            </a:r>
            <a:endParaRPr lang="en-US" sz="1100" dirty="0"/>
          </a:p>
          <a:p>
            <a:pPr marL="0" indent="0">
              <a:lnSpc>
                <a:spcPct val="112000"/>
              </a:lnSpc>
              <a:buNone/>
            </a:pPr>
            <a:r>
              <a:rPr lang="en-US" sz="1100" dirty="0">
                <a:solidFill>
                  <a:srgbClr val="E6E8EC"/>
                </a:solidFill>
                <a:latin typeface="Courier New" pitchFamily="34" charset="0"/>
                <a:ea typeface="Courier New" pitchFamily="34" charset="-122"/>
                <a:cs typeface="Courier New" pitchFamily="34" charset="-120"/>
              </a:rPr>
              <a:t>  file 'kinds_mod.mod' for reading</a:t>
            </a:r>
            <a:endParaRPr lang="en-US" sz="1100" dirty="0"/>
          </a:p>
        </p:txBody>
      </p:sp>
      <p:sp>
        <p:nvSpPr>
          <p:cNvPr id="10" name="Text 8"/>
          <p:cNvSpPr txBox="1"/>
          <p:nvPr/>
        </p:nvSpPr>
        <p:spPr>
          <a:xfrm>
            <a:off x="6263640" y="2514600"/>
            <a:ext cx="5257800" cy="274320"/>
          </a:xfrm>
          <a:prstGeom prst="rect">
            <a:avLst/>
          </a:prstGeom>
          <a:noFill/>
          <a:ln/>
        </p:spPr>
        <p:txBody>
          <a:bodyPr wrap="square" lIns="0" tIns="0" rIns="0" bIns="0" rtlCol="0" anchor="ctr"/>
          <a:lstStyle/>
          <a:p>
            <a:pPr marL="0" indent="0">
              <a:buNone/>
            </a:pPr>
            <a:r>
              <a:rPr lang="en-US" sz="1200" b="1" kern="0" spc="100" dirty="0">
                <a:solidFill>
                  <a:srgbClr val="6B7280"/>
                </a:solidFill>
                <a:latin typeface="Calibri" pitchFamily="34" charset="0"/>
                <a:ea typeface="Calibri" pitchFamily="34" charset="-122"/>
                <a:cs typeface="Calibri" pitchFamily="34" charset="-120"/>
              </a:rPr>
              <a:t>WHAT IT COSTS</a:t>
            </a:r>
            <a:endParaRPr lang="en-US" sz="1200" dirty="0"/>
          </a:p>
        </p:txBody>
      </p:sp>
      <p:sp>
        <p:nvSpPr>
          <p:cNvPr id="11" name="Text 9"/>
          <p:cNvSpPr txBox="1"/>
          <p:nvPr/>
        </p:nvSpPr>
        <p:spPr>
          <a:xfrm>
            <a:off x="6263640" y="2880360"/>
            <a:ext cx="5257800" cy="2377440"/>
          </a:xfrm>
          <a:prstGeom prst="rect">
            <a:avLst/>
          </a:prstGeom>
          <a:noFill/>
          <a:ln/>
        </p:spPr>
        <p:txBody>
          <a:bodyPr wrap="square" lIns="0" tIns="0" rIns="0" bIns="0" rtlCol="0" anchor="t"/>
          <a:lstStyle/>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-j works only until it doesn't; failures are non-deterministic.</a:t>
            </a:r>
            <a:endParaRPr lang="en-US" sz="1300" dirty="0"/>
          </a:p>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Add one USE statement to a file and the Makefile is silently wrong.</a:t>
            </a:r>
            <a:endParaRPr lang="en-US" sz="1300" dirty="0"/>
          </a:p>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Tools like makedepf90 or sfmakedepend help - now you maintain a code generator too.</a:t>
            </a:r>
            <a:endParaRPr lang="en-US" sz="1300" dirty="0"/>
          </a:p>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Touching a module rebuilds everything downstream. Getting that right by hand is not realistic.</a:t>
            </a:r>
            <a:endParaRPr lang="en-US" sz="1300" dirty="0"/>
          </a:p>
        </p:txBody>
      </p:sp>
      <p:sp>
        <p:nvSpPr>
          <p:cNvPr id="12" name="Text 10"/>
          <p:cNvSpPr txBox="1"/>
          <p:nvPr/>
        </p:nvSpPr>
        <p:spPr>
          <a:xfrm>
            <a:off x="640080" y="4577861"/>
            <a:ext cx="10881360" cy="292608"/>
          </a:xfrm>
          <a:prstGeom prst="rect">
            <a:avLst/>
          </a:prstGeom>
          <a:noFill/>
          <a:ln/>
        </p:spPr>
        <p:txBody>
          <a:bodyPr wrap="square" lIns="0" tIns="0" rIns="0" bIns="0" rtlCol="0" anchor="ctr"/>
          <a:lstStyle/>
          <a:p>
            <a:pPr marL="0" indent="0">
              <a:buNone/>
            </a:pPr>
            <a:r>
              <a:rPr lang="en-US" sz="1200" i="1" dirty="0">
                <a:solidFill>
                  <a:srgbClr val="EF6C1A"/>
                </a:solidFill>
                <a:latin typeface="Calibri" pitchFamily="34" charset="0"/>
                <a:ea typeface="Calibri" pitchFamily="34" charset="-122"/>
                <a:cs typeface="Calibri" pitchFamily="34" charset="-120"/>
              </a:rPr>
              <a:t>CMake parses your Fortran sources for MODULE and USE and derives all of this. You never write a dependency line. (Slide 12 shows it working.)</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6327648"/>
            <a:ext cx="4572000" cy="274320"/>
          </a:xfrm>
          <a:prstGeom prst="rect">
            <a:avLst/>
          </a:prstGeom>
          <a:noFill/>
          <a:ln/>
        </p:spPr>
        <p:txBody>
          <a:bodyPr wrap="square" lIns="0" tIns="0" rIns="0" bIns="0" rtlCol="0" anchor="ctr"/>
          <a:lstStyle/>
          <a:p>
            <a:pPr marL="0" indent="0">
              <a:buNone/>
            </a:pPr>
            <a:r>
              <a:rPr lang="en-US" sz="1000" dirty="0">
                <a:solidFill>
                  <a:srgbClr val="AEB5BF"/>
                </a:solidFill>
                <a:latin typeface="Calibri" pitchFamily="34" charset="0"/>
                <a:ea typeface="Calibri" pitchFamily="34" charset="-122"/>
                <a:cs typeface="Calibri" pitchFamily="34" charset="-120"/>
              </a:rPr>
              <a:t>CMake for Fortran</a:t>
            </a:r>
            <a:endParaRPr lang="en-US" sz="1000" dirty="0"/>
          </a:p>
        </p:txBody>
      </p:sp>
      <p:sp>
        <p:nvSpPr>
          <p:cNvPr id="3" name="Text 1"/>
          <p:cNvSpPr txBox="1"/>
          <p:nvPr/>
        </p:nvSpPr>
        <p:spPr>
          <a:xfrm>
            <a:off x="10607040" y="6327648"/>
            <a:ext cx="914400" cy="274320"/>
          </a:xfrm>
          <a:prstGeom prst="rect">
            <a:avLst/>
          </a:prstGeom>
          <a:noFill/>
          <a:ln/>
        </p:spPr>
        <p:txBody>
          <a:bodyPr wrap="square" lIns="0" tIns="0" rIns="0" bIns="0" rtlCol="0" anchor="ctr"/>
          <a:lstStyle/>
          <a:p>
            <a:pPr marL="0" indent="0" algn="r">
              <a:buNone/>
            </a:pPr>
            <a:r>
              <a:rPr lang="en-US" sz="1000" dirty="0">
                <a:solidFill>
                  <a:srgbClr val="AEB5BF"/>
                </a:solidFill>
                <a:latin typeface="Calibri" pitchFamily="34" charset="0"/>
                <a:ea typeface="Calibri" pitchFamily="34" charset="-122"/>
                <a:cs typeface="Calibri" pitchFamily="34" charset="-120"/>
              </a:rPr>
              <a:t>5</a:t>
            </a:r>
            <a:endParaRPr lang="en-US" sz="1000" dirty="0"/>
          </a:p>
        </p:txBody>
      </p:sp>
      <p:sp>
        <p:nvSpPr>
          <p:cNvPr id="4" name="Text 2"/>
          <p:cNvSpPr txBox="1"/>
          <p:nvPr/>
        </p:nvSpPr>
        <p:spPr>
          <a:xfrm>
            <a:off x="640080" y="384048"/>
            <a:ext cx="10881360" cy="256032"/>
          </a:xfrm>
          <a:prstGeom prst="rect">
            <a:avLst/>
          </a:prstGeom>
          <a:noFill/>
          <a:ln/>
        </p:spPr>
        <p:txBody>
          <a:bodyPr wrap="square" lIns="0" tIns="0" rIns="0" bIns="0" rtlCol="0" anchor="ctr"/>
          <a:lstStyle/>
          <a:p>
            <a:pPr marL="0" indent="0">
              <a:buNone/>
            </a:pPr>
            <a:r>
              <a:rPr lang="en-US" sz="1100" b="1" kern="0" spc="200" dirty="0">
                <a:solidFill>
                  <a:srgbClr val="EF6C1A"/>
                </a:solidFill>
                <a:latin typeface="Calibri" pitchFamily="34" charset="0"/>
                <a:ea typeface="Calibri" pitchFamily="34" charset="-122"/>
                <a:cs typeface="Calibri" pitchFamily="34" charset="-120"/>
              </a:rPr>
              <a:t>THE PROBLEM</a:t>
            </a:r>
            <a:endParaRPr lang="en-US" sz="1100" dirty="0"/>
          </a:p>
        </p:txBody>
      </p:sp>
      <p:sp>
        <p:nvSpPr>
          <p:cNvPr id="5" name="Text 3"/>
          <p:cNvSpPr txBox="1"/>
          <p:nvPr/>
        </p:nvSpPr>
        <p:spPr>
          <a:xfrm>
            <a:off x="640080" y="658368"/>
            <a:ext cx="10881360" cy="658368"/>
          </a:xfrm>
          <a:prstGeom prst="rect">
            <a:avLst/>
          </a:prstGeom>
          <a:noFill/>
          <a:ln/>
        </p:spPr>
        <p:txBody>
          <a:bodyPr wrap="square" lIns="0" tIns="0" rIns="0" bIns="0" rtlCol="0" anchor="t"/>
          <a:lstStyle/>
          <a:p>
            <a:pPr marL="0" indent="0">
              <a:buNone/>
            </a:pPr>
            <a:r>
              <a:rPr lang="en-US" sz="3000" b="1" dirty="0">
                <a:solidFill>
                  <a:srgbClr val="1F2430"/>
                </a:solidFill>
                <a:latin typeface="Cambria" pitchFamily="34" charset="0"/>
                <a:ea typeface="Cambria" pitchFamily="34" charset="-122"/>
                <a:cs typeface="Cambria" pitchFamily="34" charset="-120"/>
              </a:rPr>
              <a:t>What we actually want from a build system</a:t>
            </a:r>
            <a:endParaRPr lang="en-US" sz="3000" dirty="0"/>
          </a:p>
        </p:txBody>
      </p:sp>
      <p:sp>
        <p:nvSpPr>
          <p:cNvPr id="6" name="Shape 4"/>
          <p:cNvSpPr/>
          <p:nvPr/>
        </p:nvSpPr>
        <p:spPr>
          <a:xfrm>
            <a:off x="640080" y="1691640"/>
            <a:ext cx="3447288" cy="1828800"/>
          </a:xfrm>
          <a:prstGeom prst="roundRect">
            <a:avLst>
              <a:gd name="adj" fmla="val 3000"/>
            </a:avLst>
          </a:prstGeom>
          <a:solidFill>
            <a:srgbClr val="F4F5F7"/>
          </a:solidFill>
          <a:ln w="12700">
            <a:solidFill>
              <a:srgbClr val="E3E6EA"/>
            </a:solidFill>
            <a:prstDash val="solid"/>
          </a:ln>
        </p:spPr>
        <p:txBody>
          <a:bodyPr/>
          <a:lstStyle/>
          <a:p>
            <a:endParaRPr lang="en-US"/>
          </a:p>
        </p:txBody>
      </p:sp>
      <p:sp>
        <p:nvSpPr>
          <p:cNvPr id="7" name="Shape 5"/>
          <p:cNvSpPr/>
          <p:nvPr/>
        </p:nvSpPr>
        <p:spPr>
          <a:xfrm>
            <a:off x="877824" y="1911096"/>
            <a:ext cx="384048" cy="384048"/>
          </a:xfrm>
          <a:prstGeom prst="ellipse">
            <a:avLst/>
          </a:prstGeom>
          <a:solidFill>
            <a:srgbClr val="EF6C1A"/>
          </a:solidFill>
          <a:ln w="12700">
            <a:solidFill>
              <a:srgbClr val="EF6C1A"/>
            </a:solidFill>
            <a:prstDash val="solid"/>
          </a:ln>
        </p:spPr>
        <p:txBody>
          <a:bodyPr/>
          <a:lstStyle/>
          <a:p>
            <a:endParaRPr lang="en-US"/>
          </a:p>
        </p:txBody>
      </p:sp>
      <p:sp>
        <p:nvSpPr>
          <p:cNvPr id="8" name="Text 6"/>
          <p:cNvSpPr txBox="1"/>
          <p:nvPr/>
        </p:nvSpPr>
        <p:spPr>
          <a:xfrm>
            <a:off x="877824" y="191109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389888" y="1929384"/>
            <a:ext cx="2459736" cy="347472"/>
          </a:xfrm>
          <a:prstGeom prst="rect">
            <a:avLst/>
          </a:prstGeom>
          <a:noFill/>
          <a:ln/>
        </p:spPr>
        <p:txBody>
          <a:bodyPr wrap="square" lIns="0" tIns="0" rIns="0" bIns="0" rtlCol="0" anchor="ctr"/>
          <a:lstStyle/>
          <a:p>
            <a:pPr marL="0" indent="0">
              <a:buNone/>
            </a:pPr>
            <a:r>
              <a:rPr lang="en-US" sz="1500" b="1" dirty="0">
                <a:solidFill>
                  <a:srgbClr val="1F2430"/>
                </a:solidFill>
                <a:latin typeface="Calibri" pitchFamily="34" charset="0"/>
                <a:ea typeface="Calibri" pitchFamily="34" charset="-122"/>
                <a:cs typeface="Calibri" pitchFamily="34" charset="-120"/>
              </a:rPr>
              <a:t>Correct by construction</a:t>
            </a:r>
            <a:endParaRPr lang="en-US" sz="1500" dirty="0"/>
          </a:p>
        </p:txBody>
      </p:sp>
      <p:sp>
        <p:nvSpPr>
          <p:cNvPr id="10" name="Text 8"/>
          <p:cNvSpPr txBox="1"/>
          <p:nvPr/>
        </p:nvSpPr>
        <p:spPr>
          <a:xfrm>
            <a:off x="896112" y="2350008"/>
            <a:ext cx="2935224" cy="1042416"/>
          </a:xfrm>
          <a:prstGeom prst="rect">
            <a:avLst/>
          </a:prstGeom>
          <a:noFill/>
          <a:ln/>
        </p:spPr>
        <p:txBody>
          <a:bodyPr wrap="square" lIns="0" tIns="0" rIns="0" bIns="0" rtlCol="0" anchor="t"/>
          <a:lstStyle/>
          <a:p>
            <a:pPr marL="0" indent="0">
              <a:lnSpc>
                <a:spcPct val="115000"/>
              </a:lnSpc>
              <a:buNone/>
            </a:pPr>
            <a:r>
              <a:rPr lang="en-US" sz="1300" dirty="0">
                <a:solidFill>
                  <a:srgbClr val="3A4354"/>
                </a:solidFill>
                <a:latin typeface="Calibri" pitchFamily="34" charset="0"/>
                <a:ea typeface="Calibri" pitchFamily="34" charset="-122"/>
                <a:cs typeface="Calibri" pitchFamily="34" charset="-120"/>
              </a:rPr>
              <a:t>Derive the dependency graph from the sources, not from a human's memory.</a:t>
            </a:r>
            <a:endParaRPr lang="en-US" sz="1300" dirty="0"/>
          </a:p>
        </p:txBody>
      </p:sp>
      <p:sp>
        <p:nvSpPr>
          <p:cNvPr id="11" name="Shape 9"/>
          <p:cNvSpPr/>
          <p:nvPr/>
        </p:nvSpPr>
        <p:spPr>
          <a:xfrm>
            <a:off x="4361688" y="1691640"/>
            <a:ext cx="3447288" cy="1828800"/>
          </a:xfrm>
          <a:prstGeom prst="roundRect">
            <a:avLst>
              <a:gd name="adj" fmla="val 3000"/>
            </a:avLst>
          </a:prstGeom>
          <a:solidFill>
            <a:srgbClr val="F4F5F7"/>
          </a:solidFill>
          <a:ln w="12700">
            <a:solidFill>
              <a:srgbClr val="E3E6EA"/>
            </a:solidFill>
            <a:prstDash val="solid"/>
          </a:ln>
        </p:spPr>
        <p:txBody>
          <a:bodyPr/>
          <a:lstStyle/>
          <a:p>
            <a:endParaRPr lang="en-US"/>
          </a:p>
        </p:txBody>
      </p:sp>
      <p:sp>
        <p:nvSpPr>
          <p:cNvPr id="12" name="Shape 10"/>
          <p:cNvSpPr/>
          <p:nvPr/>
        </p:nvSpPr>
        <p:spPr>
          <a:xfrm>
            <a:off x="4599432" y="1911096"/>
            <a:ext cx="384048" cy="384048"/>
          </a:xfrm>
          <a:prstGeom prst="ellipse">
            <a:avLst/>
          </a:prstGeom>
          <a:solidFill>
            <a:srgbClr val="EF6C1A"/>
          </a:solidFill>
          <a:ln w="12700">
            <a:solidFill>
              <a:srgbClr val="EF6C1A"/>
            </a:solidFill>
            <a:prstDash val="solid"/>
          </a:ln>
        </p:spPr>
        <p:txBody>
          <a:bodyPr/>
          <a:lstStyle/>
          <a:p>
            <a:endParaRPr lang="en-US"/>
          </a:p>
        </p:txBody>
      </p:sp>
      <p:sp>
        <p:nvSpPr>
          <p:cNvPr id="13" name="Text 11"/>
          <p:cNvSpPr txBox="1"/>
          <p:nvPr/>
        </p:nvSpPr>
        <p:spPr>
          <a:xfrm>
            <a:off x="4599432" y="191109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5111496" y="1929384"/>
            <a:ext cx="2459736" cy="347472"/>
          </a:xfrm>
          <a:prstGeom prst="rect">
            <a:avLst/>
          </a:prstGeom>
          <a:noFill/>
          <a:ln/>
        </p:spPr>
        <p:txBody>
          <a:bodyPr wrap="square" lIns="0" tIns="0" rIns="0" bIns="0" rtlCol="0" anchor="ctr"/>
          <a:lstStyle/>
          <a:p>
            <a:pPr marL="0" indent="0">
              <a:buNone/>
            </a:pPr>
            <a:r>
              <a:rPr lang="en-US" sz="1500" b="1" dirty="0">
                <a:solidFill>
                  <a:srgbClr val="1F2430"/>
                </a:solidFill>
                <a:latin typeface="Calibri" pitchFamily="34" charset="0"/>
                <a:ea typeface="Calibri" pitchFamily="34" charset="-122"/>
                <a:cs typeface="Calibri" pitchFamily="34" charset="-120"/>
              </a:rPr>
              <a:t>Portable</a:t>
            </a:r>
            <a:endParaRPr lang="en-US" sz="1500" dirty="0"/>
          </a:p>
        </p:txBody>
      </p:sp>
      <p:sp>
        <p:nvSpPr>
          <p:cNvPr id="15" name="Text 13"/>
          <p:cNvSpPr txBox="1"/>
          <p:nvPr/>
        </p:nvSpPr>
        <p:spPr>
          <a:xfrm>
            <a:off x="4617720" y="2350008"/>
            <a:ext cx="2935224" cy="1042416"/>
          </a:xfrm>
          <a:prstGeom prst="rect">
            <a:avLst/>
          </a:prstGeom>
          <a:noFill/>
          <a:ln/>
        </p:spPr>
        <p:txBody>
          <a:bodyPr wrap="square" lIns="0" tIns="0" rIns="0" bIns="0" rtlCol="0" anchor="t"/>
          <a:lstStyle/>
          <a:p>
            <a:pPr marL="0" indent="0">
              <a:lnSpc>
                <a:spcPct val="115000"/>
              </a:lnSpc>
              <a:buNone/>
            </a:pPr>
            <a:r>
              <a:rPr lang="en-US" sz="1300" dirty="0">
                <a:solidFill>
                  <a:srgbClr val="3A4354"/>
                </a:solidFill>
                <a:latin typeface="Calibri" pitchFamily="34" charset="0"/>
                <a:ea typeface="Calibri" pitchFamily="34" charset="-122"/>
                <a:cs typeface="Calibri" pitchFamily="34" charset="-120"/>
              </a:rPr>
              <a:t>One description that works with gfortran, ifx, ifort, Cray, NVHPC, on Linux and macOS.</a:t>
            </a:r>
            <a:endParaRPr lang="en-US" sz="1300" dirty="0"/>
          </a:p>
        </p:txBody>
      </p:sp>
      <p:sp>
        <p:nvSpPr>
          <p:cNvPr id="16" name="Shape 14"/>
          <p:cNvSpPr/>
          <p:nvPr/>
        </p:nvSpPr>
        <p:spPr>
          <a:xfrm>
            <a:off x="8083296" y="1691640"/>
            <a:ext cx="3447288" cy="1828800"/>
          </a:xfrm>
          <a:prstGeom prst="roundRect">
            <a:avLst>
              <a:gd name="adj" fmla="val 3000"/>
            </a:avLst>
          </a:prstGeom>
          <a:solidFill>
            <a:srgbClr val="F4F5F7"/>
          </a:solidFill>
          <a:ln w="12700">
            <a:solidFill>
              <a:srgbClr val="E3E6EA"/>
            </a:solidFill>
            <a:prstDash val="solid"/>
          </a:ln>
        </p:spPr>
        <p:txBody>
          <a:bodyPr/>
          <a:lstStyle/>
          <a:p>
            <a:endParaRPr lang="en-US"/>
          </a:p>
        </p:txBody>
      </p:sp>
      <p:sp>
        <p:nvSpPr>
          <p:cNvPr id="17" name="Shape 15"/>
          <p:cNvSpPr/>
          <p:nvPr/>
        </p:nvSpPr>
        <p:spPr>
          <a:xfrm>
            <a:off x="8321040" y="1911096"/>
            <a:ext cx="384048" cy="384048"/>
          </a:xfrm>
          <a:prstGeom prst="ellipse">
            <a:avLst/>
          </a:prstGeom>
          <a:solidFill>
            <a:srgbClr val="EF6C1A"/>
          </a:solidFill>
          <a:ln w="12700">
            <a:solidFill>
              <a:srgbClr val="EF6C1A"/>
            </a:solidFill>
            <a:prstDash val="solid"/>
          </a:ln>
        </p:spPr>
        <p:txBody>
          <a:bodyPr/>
          <a:lstStyle/>
          <a:p>
            <a:endParaRPr lang="en-US"/>
          </a:p>
        </p:txBody>
      </p:sp>
      <p:sp>
        <p:nvSpPr>
          <p:cNvPr id="18" name="Text 16"/>
          <p:cNvSpPr txBox="1"/>
          <p:nvPr/>
        </p:nvSpPr>
        <p:spPr>
          <a:xfrm>
            <a:off x="8321040" y="191109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8833104" y="1929384"/>
            <a:ext cx="2459736" cy="347472"/>
          </a:xfrm>
          <a:prstGeom prst="rect">
            <a:avLst/>
          </a:prstGeom>
          <a:noFill/>
          <a:ln/>
        </p:spPr>
        <p:txBody>
          <a:bodyPr wrap="square" lIns="0" tIns="0" rIns="0" bIns="0" rtlCol="0" anchor="ctr"/>
          <a:lstStyle/>
          <a:p>
            <a:pPr marL="0" indent="0">
              <a:buNone/>
            </a:pPr>
            <a:r>
              <a:rPr lang="en-US" sz="1500" b="1" dirty="0">
                <a:solidFill>
                  <a:srgbClr val="1F2430"/>
                </a:solidFill>
                <a:latin typeface="Calibri" pitchFamily="34" charset="0"/>
                <a:ea typeface="Calibri" pitchFamily="34" charset="-122"/>
                <a:cs typeface="Calibri" pitchFamily="34" charset="-120"/>
              </a:rPr>
              <a:t>Configurable</a:t>
            </a:r>
            <a:endParaRPr lang="en-US" sz="1500" dirty="0"/>
          </a:p>
        </p:txBody>
      </p:sp>
      <p:sp>
        <p:nvSpPr>
          <p:cNvPr id="20" name="Text 18"/>
          <p:cNvSpPr txBox="1"/>
          <p:nvPr/>
        </p:nvSpPr>
        <p:spPr>
          <a:xfrm>
            <a:off x="8339328" y="2350008"/>
            <a:ext cx="2935224" cy="1042416"/>
          </a:xfrm>
          <a:prstGeom prst="rect">
            <a:avLst/>
          </a:prstGeom>
          <a:noFill/>
          <a:ln/>
        </p:spPr>
        <p:txBody>
          <a:bodyPr wrap="square" lIns="0" tIns="0" rIns="0" bIns="0" rtlCol="0" anchor="t"/>
          <a:lstStyle/>
          <a:p>
            <a:pPr marL="0" indent="0">
              <a:lnSpc>
                <a:spcPct val="115000"/>
              </a:lnSpc>
              <a:buNone/>
            </a:pPr>
            <a:r>
              <a:rPr lang="en-US" sz="1300" dirty="0">
                <a:solidFill>
                  <a:srgbClr val="3A4354"/>
                </a:solidFill>
                <a:latin typeface="Calibri" pitchFamily="34" charset="0"/>
                <a:ea typeface="Calibri" pitchFamily="34" charset="-122"/>
                <a:cs typeface="Calibri" pitchFamily="34" charset="-120"/>
              </a:rPr>
              <a:t>Debug and optimized builds, optional features, without editing build files.</a:t>
            </a:r>
            <a:endParaRPr lang="en-US" sz="1300" dirty="0"/>
          </a:p>
        </p:txBody>
      </p:sp>
      <p:sp>
        <p:nvSpPr>
          <p:cNvPr id="21" name="Shape 19"/>
          <p:cNvSpPr/>
          <p:nvPr/>
        </p:nvSpPr>
        <p:spPr>
          <a:xfrm>
            <a:off x="640080" y="3776472"/>
            <a:ext cx="3447288" cy="1828800"/>
          </a:xfrm>
          <a:prstGeom prst="roundRect">
            <a:avLst>
              <a:gd name="adj" fmla="val 3000"/>
            </a:avLst>
          </a:prstGeom>
          <a:solidFill>
            <a:srgbClr val="F4F5F7"/>
          </a:solidFill>
          <a:ln w="12700">
            <a:solidFill>
              <a:srgbClr val="E3E6EA"/>
            </a:solidFill>
            <a:prstDash val="solid"/>
          </a:ln>
        </p:spPr>
        <p:txBody>
          <a:bodyPr/>
          <a:lstStyle/>
          <a:p>
            <a:endParaRPr lang="en-US"/>
          </a:p>
        </p:txBody>
      </p:sp>
      <p:sp>
        <p:nvSpPr>
          <p:cNvPr id="22" name="Shape 20"/>
          <p:cNvSpPr/>
          <p:nvPr/>
        </p:nvSpPr>
        <p:spPr>
          <a:xfrm>
            <a:off x="877824" y="3995928"/>
            <a:ext cx="384048" cy="384048"/>
          </a:xfrm>
          <a:prstGeom prst="ellipse">
            <a:avLst/>
          </a:prstGeom>
          <a:solidFill>
            <a:srgbClr val="EF6C1A"/>
          </a:solidFill>
          <a:ln w="12700">
            <a:solidFill>
              <a:srgbClr val="EF6C1A"/>
            </a:solidFill>
            <a:prstDash val="solid"/>
          </a:ln>
        </p:spPr>
        <p:txBody>
          <a:bodyPr/>
          <a:lstStyle/>
          <a:p>
            <a:endParaRPr lang="en-US"/>
          </a:p>
        </p:txBody>
      </p:sp>
      <p:sp>
        <p:nvSpPr>
          <p:cNvPr id="23" name="Text 21"/>
          <p:cNvSpPr txBox="1"/>
          <p:nvPr/>
        </p:nvSpPr>
        <p:spPr>
          <a:xfrm>
            <a:off x="877824" y="399592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txBox="1"/>
          <p:nvPr/>
        </p:nvSpPr>
        <p:spPr>
          <a:xfrm>
            <a:off x="1389888" y="4014216"/>
            <a:ext cx="2459736" cy="347472"/>
          </a:xfrm>
          <a:prstGeom prst="rect">
            <a:avLst/>
          </a:prstGeom>
          <a:noFill/>
          <a:ln/>
        </p:spPr>
        <p:txBody>
          <a:bodyPr wrap="square" lIns="0" tIns="0" rIns="0" bIns="0" rtlCol="0" anchor="ctr"/>
          <a:lstStyle/>
          <a:p>
            <a:pPr marL="0" indent="0">
              <a:buNone/>
            </a:pPr>
            <a:r>
              <a:rPr lang="en-US" sz="1500" b="1" dirty="0">
                <a:solidFill>
                  <a:srgbClr val="1F2430"/>
                </a:solidFill>
                <a:latin typeface="Calibri" pitchFamily="34" charset="0"/>
                <a:ea typeface="Calibri" pitchFamily="34" charset="-122"/>
                <a:cs typeface="Calibri" pitchFamily="34" charset="-120"/>
              </a:rPr>
              <a:t>Able to find things</a:t>
            </a:r>
            <a:endParaRPr lang="en-US" sz="1500" dirty="0"/>
          </a:p>
        </p:txBody>
      </p:sp>
      <p:sp>
        <p:nvSpPr>
          <p:cNvPr id="25" name="Text 23"/>
          <p:cNvSpPr txBox="1"/>
          <p:nvPr/>
        </p:nvSpPr>
        <p:spPr>
          <a:xfrm>
            <a:off x="896112" y="4434840"/>
            <a:ext cx="2935224" cy="1042416"/>
          </a:xfrm>
          <a:prstGeom prst="rect">
            <a:avLst/>
          </a:prstGeom>
          <a:noFill/>
          <a:ln/>
        </p:spPr>
        <p:txBody>
          <a:bodyPr wrap="square" lIns="0" tIns="0" rIns="0" bIns="0" rtlCol="0" anchor="t"/>
          <a:lstStyle/>
          <a:p>
            <a:pPr marL="0" indent="0">
              <a:lnSpc>
                <a:spcPct val="115000"/>
              </a:lnSpc>
              <a:buNone/>
            </a:pPr>
            <a:r>
              <a:rPr lang="en-US" sz="1300" dirty="0">
                <a:solidFill>
                  <a:srgbClr val="3A4354"/>
                </a:solidFill>
                <a:latin typeface="Calibri" pitchFamily="34" charset="0"/>
                <a:ea typeface="Calibri" pitchFamily="34" charset="-122"/>
                <a:cs typeface="Calibri" pitchFamily="34" charset="-120"/>
              </a:rPr>
              <a:t>Locate MPI, NetCDF, HDF5, LAPACK wherever the site put them.</a:t>
            </a:r>
            <a:endParaRPr lang="en-US" sz="1300" dirty="0"/>
          </a:p>
        </p:txBody>
      </p:sp>
      <p:sp>
        <p:nvSpPr>
          <p:cNvPr id="26" name="Shape 24"/>
          <p:cNvSpPr/>
          <p:nvPr/>
        </p:nvSpPr>
        <p:spPr>
          <a:xfrm>
            <a:off x="4361688" y="3776472"/>
            <a:ext cx="3447288" cy="1828800"/>
          </a:xfrm>
          <a:prstGeom prst="roundRect">
            <a:avLst>
              <a:gd name="adj" fmla="val 3000"/>
            </a:avLst>
          </a:prstGeom>
          <a:solidFill>
            <a:srgbClr val="F4F5F7"/>
          </a:solidFill>
          <a:ln w="12700">
            <a:solidFill>
              <a:srgbClr val="E3E6EA"/>
            </a:solidFill>
            <a:prstDash val="solid"/>
          </a:ln>
        </p:spPr>
        <p:txBody>
          <a:bodyPr/>
          <a:lstStyle/>
          <a:p>
            <a:endParaRPr lang="en-US"/>
          </a:p>
        </p:txBody>
      </p:sp>
      <p:sp>
        <p:nvSpPr>
          <p:cNvPr id="27" name="Shape 25"/>
          <p:cNvSpPr/>
          <p:nvPr/>
        </p:nvSpPr>
        <p:spPr>
          <a:xfrm>
            <a:off x="4599432" y="3995928"/>
            <a:ext cx="384048" cy="384048"/>
          </a:xfrm>
          <a:prstGeom prst="ellipse">
            <a:avLst/>
          </a:prstGeom>
          <a:solidFill>
            <a:srgbClr val="EF6C1A"/>
          </a:solidFill>
          <a:ln w="12700">
            <a:solidFill>
              <a:srgbClr val="EF6C1A"/>
            </a:solidFill>
            <a:prstDash val="solid"/>
          </a:ln>
        </p:spPr>
        <p:txBody>
          <a:bodyPr/>
          <a:lstStyle/>
          <a:p>
            <a:endParaRPr lang="en-US"/>
          </a:p>
        </p:txBody>
      </p:sp>
      <p:sp>
        <p:nvSpPr>
          <p:cNvPr id="28" name="Text 26"/>
          <p:cNvSpPr txBox="1"/>
          <p:nvPr/>
        </p:nvSpPr>
        <p:spPr>
          <a:xfrm>
            <a:off x="4599432" y="399592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9" name="Text 27"/>
          <p:cNvSpPr txBox="1"/>
          <p:nvPr/>
        </p:nvSpPr>
        <p:spPr>
          <a:xfrm>
            <a:off x="5111496" y="4014216"/>
            <a:ext cx="2459736" cy="347472"/>
          </a:xfrm>
          <a:prstGeom prst="rect">
            <a:avLst/>
          </a:prstGeom>
          <a:noFill/>
          <a:ln/>
        </p:spPr>
        <p:txBody>
          <a:bodyPr wrap="square" lIns="0" tIns="0" rIns="0" bIns="0" rtlCol="0" anchor="ctr"/>
          <a:lstStyle/>
          <a:p>
            <a:pPr marL="0" indent="0">
              <a:buNone/>
            </a:pPr>
            <a:r>
              <a:rPr lang="en-US" sz="1500" b="1" dirty="0">
                <a:solidFill>
                  <a:srgbClr val="1F2430"/>
                </a:solidFill>
                <a:latin typeface="Calibri" pitchFamily="34" charset="0"/>
                <a:ea typeface="Calibri" pitchFamily="34" charset="-122"/>
                <a:cs typeface="Calibri" pitchFamily="34" charset="-120"/>
              </a:rPr>
              <a:t>Testable</a:t>
            </a:r>
            <a:endParaRPr lang="en-US" sz="1500" dirty="0"/>
          </a:p>
        </p:txBody>
      </p:sp>
      <p:sp>
        <p:nvSpPr>
          <p:cNvPr id="30" name="Text 28"/>
          <p:cNvSpPr txBox="1"/>
          <p:nvPr/>
        </p:nvSpPr>
        <p:spPr>
          <a:xfrm>
            <a:off x="4617720" y="4434840"/>
            <a:ext cx="2935224" cy="1042416"/>
          </a:xfrm>
          <a:prstGeom prst="rect">
            <a:avLst/>
          </a:prstGeom>
          <a:noFill/>
          <a:ln/>
        </p:spPr>
        <p:txBody>
          <a:bodyPr wrap="square" lIns="0" tIns="0" rIns="0" bIns="0" rtlCol="0" anchor="t"/>
          <a:lstStyle/>
          <a:p>
            <a:pPr marL="0" indent="0">
              <a:lnSpc>
                <a:spcPct val="115000"/>
              </a:lnSpc>
              <a:buNone/>
            </a:pPr>
            <a:r>
              <a:rPr lang="en-US" sz="1300" dirty="0">
                <a:solidFill>
                  <a:srgbClr val="3A4354"/>
                </a:solidFill>
                <a:latin typeface="Calibri" pitchFamily="34" charset="0"/>
                <a:ea typeface="Calibri" pitchFamily="34" charset="-122"/>
                <a:cs typeface="Calibri" pitchFamily="34" charset="-120"/>
              </a:rPr>
              <a:t>A standard way to run the test suite and report results to CI.</a:t>
            </a:r>
            <a:endParaRPr lang="en-US" sz="1300" dirty="0"/>
          </a:p>
        </p:txBody>
      </p:sp>
      <p:sp>
        <p:nvSpPr>
          <p:cNvPr id="31" name="Shape 29"/>
          <p:cNvSpPr/>
          <p:nvPr/>
        </p:nvSpPr>
        <p:spPr>
          <a:xfrm>
            <a:off x="8083296" y="3776472"/>
            <a:ext cx="3447288" cy="1828800"/>
          </a:xfrm>
          <a:prstGeom prst="roundRect">
            <a:avLst>
              <a:gd name="adj" fmla="val 3000"/>
            </a:avLst>
          </a:prstGeom>
          <a:solidFill>
            <a:srgbClr val="F4F5F7"/>
          </a:solidFill>
          <a:ln w="12700">
            <a:solidFill>
              <a:srgbClr val="E3E6EA"/>
            </a:solidFill>
            <a:prstDash val="solid"/>
          </a:ln>
        </p:spPr>
        <p:txBody>
          <a:bodyPr/>
          <a:lstStyle/>
          <a:p>
            <a:endParaRPr lang="en-US"/>
          </a:p>
        </p:txBody>
      </p:sp>
      <p:sp>
        <p:nvSpPr>
          <p:cNvPr id="32" name="Shape 30"/>
          <p:cNvSpPr/>
          <p:nvPr/>
        </p:nvSpPr>
        <p:spPr>
          <a:xfrm>
            <a:off x="8321040" y="3995928"/>
            <a:ext cx="384048" cy="384048"/>
          </a:xfrm>
          <a:prstGeom prst="ellipse">
            <a:avLst/>
          </a:prstGeom>
          <a:solidFill>
            <a:srgbClr val="EF6C1A"/>
          </a:solidFill>
          <a:ln w="12700">
            <a:solidFill>
              <a:srgbClr val="EF6C1A"/>
            </a:solidFill>
            <a:prstDash val="solid"/>
          </a:ln>
        </p:spPr>
        <p:txBody>
          <a:bodyPr/>
          <a:lstStyle/>
          <a:p>
            <a:endParaRPr lang="en-US"/>
          </a:p>
        </p:txBody>
      </p:sp>
      <p:sp>
        <p:nvSpPr>
          <p:cNvPr id="33" name="Text 31"/>
          <p:cNvSpPr txBox="1"/>
          <p:nvPr/>
        </p:nvSpPr>
        <p:spPr>
          <a:xfrm>
            <a:off x="8321040" y="399592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4" name="Text 32"/>
          <p:cNvSpPr txBox="1"/>
          <p:nvPr/>
        </p:nvSpPr>
        <p:spPr>
          <a:xfrm>
            <a:off x="8833104" y="4014216"/>
            <a:ext cx="2459736" cy="347472"/>
          </a:xfrm>
          <a:prstGeom prst="rect">
            <a:avLst/>
          </a:prstGeom>
          <a:noFill/>
          <a:ln/>
        </p:spPr>
        <p:txBody>
          <a:bodyPr wrap="square" lIns="0" tIns="0" rIns="0" bIns="0" rtlCol="0" anchor="ctr"/>
          <a:lstStyle/>
          <a:p>
            <a:pPr marL="0" indent="0">
              <a:buNone/>
            </a:pPr>
            <a:r>
              <a:rPr lang="en-US" sz="1500" b="1" dirty="0">
                <a:solidFill>
                  <a:srgbClr val="1F2430"/>
                </a:solidFill>
                <a:latin typeface="Calibri" pitchFamily="34" charset="0"/>
                <a:ea typeface="Calibri" pitchFamily="34" charset="-122"/>
                <a:cs typeface="Calibri" pitchFamily="34" charset="-120"/>
              </a:rPr>
              <a:t>Consumable</a:t>
            </a:r>
            <a:endParaRPr lang="en-US" sz="1500" dirty="0"/>
          </a:p>
        </p:txBody>
      </p:sp>
      <p:sp>
        <p:nvSpPr>
          <p:cNvPr id="35" name="Text 33"/>
          <p:cNvSpPr txBox="1"/>
          <p:nvPr/>
        </p:nvSpPr>
        <p:spPr>
          <a:xfrm>
            <a:off x="8339328" y="4434840"/>
            <a:ext cx="2935224" cy="1042416"/>
          </a:xfrm>
          <a:prstGeom prst="rect">
            <a:avLst/>
          </a:prstGeom>
          <a:noFill/>
          <a:ln/>
        </p:spPr>
        <p:txBody>
          <a:bodyPr wrap="square" lIns="0" tIns="0" rIns="0" bIns="0" rtlCol="0" anchor="t"/>
          <a:lstStyle/>
          <a:p>
            <a:pPr marL="0" indent="0">
              <a:lnSpc>
                <a:spcPct val="115000"/>
              </a:lnSpc>
              <a:buNone/>
            </a:pPr>
            <a:r>
              <a:rPr lang="en-US" sz="1300" dirty="0">
                <a:solidFill>
                  <a:srgbClr val="3A4354"/>
                </a:solidFill>
                <a:latin typeface="Calibri" pitchFamily="34" charset="0"/>
                <a:ea typeface="Calibri" pitchFamily="34" charset="-122"/>
                <a:cs typeface="Calibri" pitchFamily="34" charset="-120"/>
              </a:rPr>
              <a:t>Install so that the next project can use your library in one line.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6327648"/>
            <a:ext cx="4572000" cy="274320"/>
          </a:xfrm>
          <a:prstGeom prst="rect">
            <a:avLst/>
          </a:prstGeom>
          <a:noFill/>
          <a:ln/>
        </p:spPr>
        <p:txBody>
          <a:bodyPr wrap="square" lIns="0" tIns="0" rIns="0" bIns="0" rtlCol="0" anchor="ctr"/>
          <a:lstStyle/>
          <a:p>
            <a:pPr marL="0" indent="0">
              <a:buNone/>
            </a:pPr>
            <a:r>
              <a:rPr lang="en-US" sz="1000" dirty="0">
                <a:solidFill>
                  <a:srgbClr val="AEB5BF"/>
                </a:solidFill>
                <a:latin typeface="Calibri" pitchFamily="34" charset="0"/>
                <a:ea typeface="Calibri" pitchFamily="34" charset="-122"/>
                <a:cs typeface="Calibri" pitchFamily="34" charset="-120"/>
              </a:rPr>
              <a:t>CMake for Fortran</a:t>
            </a:r>
            <a:endParaRPr lang="en-US" sz="1000" dirty="0"/>
          </a:p>
        </p:txBody>
      </p:sp>
      <p:sp>
        <p:nvSpPr>
          <p:cNvPr id="3" name="Text 1"/>
          <p:cNvSpPr txBox="1"/>
          <p:nvPr/>
        </p:nvSpPr>
        <p:spPr>
          <a:xfrm>
            <a:off x="10607040" y="6327648"/>
            <a:ext cx="914400" cy="274320"/>
          </a:xfrm>
          <a:prstGeom prst="rect">
            <a:avLst/>
          </a:prstGeom>
          <a:noFill/>
          <a:ln/>
        </p:spPr>
        <p:txBody>
          <a:bodyPr wrap="square" lIns="0" tIns="0" rIns="0" bIns="0" rtlCol="0" anchor="ctr"/>
          <a:lstStyle/>
          <a:p>
            <a:pPr marL="0" indent="0" algn="r">
              <a:buNone/>
            </a:pPr>
            <a:r>
              <a:rPr lang="en-US" sz="1000" dirty="0">
                <a:solidFill>
                  <a:srgbClr val="AEB5BF"/>
                </a:solidFill>
                <a:latin typeface="Calibri" pitchFamily="34" charset="0"/>
                <a:ea typeface="Calibri" pitchFamily="34" charset="-122"/>
                <a:cs typeface="Calibri" pitchFamily="34" charset="-120"/>
              </a:rPr>
              <a:t>6</a:t>
            </a:r>
            <a:endParaRPr lang="en-US" sz="1000" dirty="0"/>
          </a:p>
        </p:txBody>
      </p:sp>
      <p:sp>
        <p:nvSpPr>
          <p:cNvPr id="4" name="Text 2"/>
          <p:cNvSpPr txBox="1"/>
          <p:nvPr/>
        </p:nvSpPr>
        <p:spPr>
          <a:xfrm>
            <a:off x="640080" y="384048"/>
            <a:ext cx="10881360" cy="256032"/>
          </a:xfrm>
          <a:prstGeom prst="rect">
            <a:avLst/>
          </a:prstGeom>
          <a:noFill/>
          <a:ln/>
        </p:spPr>
        <p:txBody>
          <a:bodyPr wrap="square" lIns="0" tIns="0" rIns="0" bIns="0" rtlCol="0" anchor="ctr"/>
          <a:lstStyle/>
          <a:p>
            <a:pPr marL="0" indent="0">
              <a:buNone/>
            </a:pPr>
            <a:r>
              <a:rPr lang="en-US" sz="1100" b="1" kern="0" spc="200" dirty="0">
                <a:solidFill>
                  <a:srgbClr val="EF6C1A"/>
                </a:solidFill>
                <a:latin typeface="Calibri" pitchFamily="34" charset="0"/>
                <a:ea typeface="Calibri" pitchFamily="34" charset="-122"/>
                <a:cs typeface="Calibri" pitchFamily="34" charset="-120"/>
              </a:rPr>
              <a:t>BASICS</a:t>
            </a:r>
            <a:endParaRPr lang="en-US" sz="1100" dirty="0"/>
          </a:p>
        </p:txBody>
      </p:sp>
      <p:sp>
        <p:nvSpPr>
          <p:cNvPr id="5" name="Text 3"/>
          <p:cNvSpPr txBox="1"/>
          <p:nvPr/>
        </p:nvSpPr>
        <p:spPr>
          <a:xfrm>
            <a:off x="640080" y="658368"/>
            <a:ext cx="10881360" cy="658368"/>
          </a:xfrm>
          <a:prstGeom prst="rect">
            <a:avLst/>
          </a:prstGeom>
          <a:noFill/>
          <a:ln/>
        </p:spPr>
        <p:txBody>
          <a:bodyPr wrap="square" lIns="0" tIns="0" rIns="0" bIns="0" rtlCol="0" anchor="t"/>
          <a:lstStyle/>
          <a:p>
            <a:pPr marL="0" indent="0">
              <a:buNone/>
            </a:pPr>
            <a:r>
              <a:rPr lang="en-US" sz="3000" b="1" dirty="0">
                <a:solidFill>
                  <a:srgbClr val="1F2430"/>
                </a:solidFill>
                <a:latin typeface="Cambria" pitchFamily="34" charset="0"/>
                <a:ea typeface="Cambria" pitchFamily="34" charset="-122"/>
                <a:cs typeface="Cambria" pitchFamily="34" charset="-120"/>
              </a:rPr>
              <a:t>CMake is a build-system generator, not a build system</a:t>
            </a:r>
            <a:endParaRPr lang="en-US" sz="3000" dirty="0"/>
          </a:p>
        </p:txBody>
      </p:sp>
      <p:sp>
        <p:nvSpPr>
          <p:cNvPr id="6" name="Shape 4"/>
          <p:cNvSpPr/>
          <p:nvPr/>
        </p:nvSpPr>
        <p:spPr>
          <a:xfrm>
            <a:off x="640080" y="1874520"/>
            <a:ext cx="3291840" cy="1737360"/>
          </a:xfrm>
          <a:prstGeom prst="roundRect">
            <a:avLst>
              <a:gd name="adj" fmla="val 3684"/>
            </a:avLst>
          </a:prstGeom>
          <a:solidFill>
            <a:srgbClr val="F4F5F7"/>
          </a:solidFill>
          <a:ln w="12700">
            <a:solidFill>
              <a:srgbClr val="E3E6EA"/>
            </a:solidFill>
            <a:prstDash val="solid"/>
          </a:ln>
        </p:spPr>
        <p:txBody>
          <a:bodyPr/>
          <a:lstStyle/>
          <a:p>
            <a:endParaRPr lang="en-US"/>
          </a:p>
        </p:txBody>
      </p:sp>
      <p:sp>
        <p:nvSpPr>
          <p:cNvPr id="7" name="Text 5"/>
          <p:cNvSpPr txBox="1"/>
          <p:nvPr/>
        </p:nvSpPr>
        <p:spPr>
          <a:xfrm>
            <a:off x="868680" y="2057400"/>
            <a:ext cx="2834640" cy="640080"/>
          </a:xfrm>
          <a:prstGeom prst="rect">
            <a:avLst/>
          </a:prstGeom>
          <a:noFill/>
          <a:ln/>
        </p:spPr>
        <p:txBody>
          <a:bodyPr wrap="square" lIns="0" tIns="0" rIns="0" bIns="0" rtlCol="0" anchor="ctr"/>
          <a:lstStyle/>
          <a:p>
            <a:pPr marL="0" indent="0">
              <a:buNone/>
            </a:pPr>
            <a:r>
              <a:rPr lang="en-US" sz="1500" b="1" dirty="0">
                <a:solidFill>
                  <a:srgbClr val="1F2430"/>
                </a:solidFill>
                <a:latin typeface="Courier New" pitchFamily="34" charset="0"/>
                <a:ea typeface="Courier New" pitchFamily="34" charset="-122"/>
                <a:cs typeface="Courier New" pitchFamily="34" charset="-120"/>
              </a:rPr>
              <a:t>CMakeLists.txt</a:t>
            </a:r>
            <a:endParaRPr lang="en-US" sz="1500" dirty="0"/>
          </a:p>
        </p:txBody>
      </p:sp>
      <p:sp>
        <p:nvSpPr>
          <p:cNvPr id="8" name="Text 6"/>
          <p:cNvSpPr txBox="1"/>
          <p:nvPr/>
        </p:nvSpPr>
        <p:spPr>
          <a:xfrm>
            <a:off x="868680" y="2697480"/>
            <a:ext cx="2834640" cy="777240"/>
          </a:xfrm>
          <a:prstGeom prst="rect">
            <a:avLst/>
          </a:prstGeom>
          <a:noFill/>
          <a:ln/>
        </p:spPr>
        <p:txBody>
          <a:bodyPr wrap="square" lIns="0" tIns="0" rIns="0" bIns="0" rtlCol="0" anchor="ctr"/>
          <a:lstStyle/>
          <a:p>
            <a:pPr marL="0" indent="0">
              <a:lnSpc>
                <a:spcPct val="110000"/>
              </a:lnSpc>
              <a:buNone/>
            </a:pPr>
            <a:r>
              <a:rPr lang="en-US" sz="1200" dirty="0">
                <a:solidFill>
                  <a:srgbClr val="3A4354"/>
                </a:solidFill>
                <a:latin typeface="Calibri" pitchFamily="34" charset="0"/>
                <a:ea typeface="Calibri" pitchFamily="34" charset="-122"/>
                <a:cs typeface="Calibri" pitchFamily="34" charset="-120"/>
              </a:rPr>
              <a:t>What you write.</a:t>
            </a:r>
            <a:endParaRPr lang="en-US" sz="1200" dirty="0"/>
          </a:p>
          <a:p>
            <a:pPr marL="0" indent="0">
              <a:lnSpc>
                <a:spcPct val="110000"/>
              </a:lnSpc>
              <a:buNone/>
            </a:pPr>
            <a:r>
              <a:rPr lang="en-US" sz="1200" dirty="0">
                <a:solidFill>
                  <a:srgbClr val="3A4354"/>
                </a:solidFill>
                <a:latin typeface="Calibri" pitchFamily="34" charset="0"/>
                <a:ea typeface="Calibri" pitchFamily="34" charset="-122"/>
                <a:cs typeface="Calibri" pitchFamily="34" charset="-120"/>
              </a:rPr>
              <a:t>Declarative. One per</a:t>
            </a:r>
            <a:endParaRPr lang="en-US" sz="1200" dirty="0"/>
          </a:p>
          <a:p>
            <a:pPr marL="0" indent="0">
              <a:lnSpc>
                <a:spcPct val="110000"/>
              </a:lnSpc>
              <a:buNone/>
            </a:pPr>
            <a:r>
              <a:rPr lang="en-US" sz="1200" dirty="0">
                <a:solidFill>
                  <a:srgbClr val="3A4354"/>
                </a:solidFill>
                <a:latin typeface="Calibri" pitchFamily="34" charset="0"/>
                <a:ea typeface="Calibri" pitchFamily="34" charset="-122"/>
                <a:cs typeface="Calibri" pitchFamily="34" charset="-120"/>
              </a:rPr>
              <a:t>directory.</a:t>
            </a:r>
            <a:endParaRPr lang="en-US" sz="1200" dirty="0"/>
          </a:p>
        </p:txBody>
      </p:sp>
      <p:sp>
        <p:nvSpPr>
          <p:cNvPr id="9" name="Shape 7"/>
          <p:cNvSpPr/>
          <p:nvPr/>
        </p:nvSpPr>
        <p:spPr>
          <a:xfrm>
            <a:off x="4224528" y="1874520"/>
            <a:ext cx="3291840" cy="1737360"/>
          </a:xfrm>
          <a:prstGeom prst="roundRect">
            <a:avLst>
              <a:gd name="adj" fmla="val 3684"/>
            </a:avLst>
          </a:prstGeom>
          <a:solidFill>
            <a:srgbClr val="1F2430"/>
          </a:solidFill>
          <a:ln w="12700">
            <a:solidFill>
              <a:srgbClr val="1F2430"/>
            </a:solidFill>
            <a:prstDash val="solid"/>
          </a:ln>
        </p:spPr>
        <p:txBody>
          <a:bodyPr/>
          <a:lstStyle/>
          <a:p>
            <a:endParaRPr lang="en-US"/>
          </a:p>
        </p:txBody>
      </p:sp>
      <p:sp>
        <p:nvSpPr>
          <p:cNvPr id="10" name="Text 8"/>
          <p:cNvSpPr txBox="1"/>
          <p:nvPr/>
        </p:nvSpPr>
        <p:spPr>
          <a:xfrm>
            <a:off x="4453128" y="2057400"/>
            <a:ext cx="2834640" cy="640080"/>
          </a:xfrm>
          <a:prstGeom prst="rect">
            <a:avLst/>
          </a:prstGeom>
          <a:noFill/>
          <a:ln/>
        </p:spPr>
        <p:txBody>
          <a:bodyPr wrap="square" lIns="0" tIns="0" rIns="0" bIns="0" rtlCol="0" anchor="ctr"/>
          <a:lstStyle/>
          <a:p>
            <a:pPr marL="0" indent="0">
              <a:buNone/>
            </a:pPr>
            <a:r>
              <a:rPr lang="en-US" sz="1500" b="1" dirty="0">
                <a:solidFill>
                  <a:srgbClr val="F2A65A"/>
                </a:solidFill>
                <a:latin typeface="Courier New" pitchFamily="34" charset="0"/>
                <a:ea typeface="Courier New" pitchFamily="34" charset="-122"/>
                <a:cs typeface="Courier New" pitchFamily="34" charset="-120"/>
              </a:rPr>
              <a:t>cmake</a:t>
            </a:r>
            <a:endParaRPr lang="en-US" sz="1500" dirty="0"/>
          </a:p>
        </p:txBody>
      </p:sp>
      <p:sp>
        <p:nvSpPr>
          <p:cNvPr id="11" name="Text 9"/>
          <p:cNvSpPr txBox="1"/>
          <p:nvPr/>
        </p:nvSpPr>
        <p:spPr>
          <a:xfrm>
            <a:off x="4453128" y="2697480"/>
            <a:ext cx="2834640" cy="777240"/>
          </a:xfrm>
          <a:prstGeom prst="rect">
            <a:avLst/>
          </a:prstGeom>
          <a:noFill/>
          <a:ln/>
        </p:spPr>
        <p:txBody>
          <a:bodyPr wrap="square" lIns="0" tIns="0" rIns="0" bIns="0" rtlCol="0" anchor="ctr"/>
          <a:lstStyle/>
          <a:p>
            <a:pPr marL="0" indent="0">
              <a:lnSpc>
                <a:spcPct val="110000"/>
              </a:lnSpc>
              <a:buNone/>
            </a:pPr>
            <a:r>
              <a:rPr lang="en-US" sz="1200" dirty="0">
                <a:solidFill>
                  <a:srgbClr val="8A93A6"/>
                </a:solidFill>
                <a:latin typeface="Calibri" pitchFamily="34" charset="0"/>
                <a:ea typeface="Calibri" pitchFamily="34" charset="-122"/>
                <a:cs typeface="Calibri" pitchFamily="34" charset="-120"/>
              </a:rPr>
              <a:t>The configure step.</a:t>
            </a:r>
            <a:endParaRPr lang="en-US" sz="1200" dirty="0"/>
          </a:p>
          <a:p>
            <a:pPr marL="0" indent="0">
              <a:lnSpc>
                <a:spcPct val="110000"/>
              </a:lnSpc>
              <a:buNone/>
            </a:pPr>
            <a:r>
              <a:rPr lang="en-US" sz="1200" dirty="0">
                <a:solidFill>
                  <a:srgbClr val="8A93A6"/>
                </a:solidFill>
                <a:latin typeface="Calibri" pitchFamily="34" charset="0"/>
                <a:ea typeface="Calibri" pitchFamily="34" charset="-122"/>
                <a:cs typeface="Calibri" pitchFamily="34" charset="-120"/>
              </a:rPr>
              <a:t>Inspects the system,</a:t>
            </a:r>
            <a:endParaRPr lang="en-US" sz="1200" dirty="0"/>
          </a:p>
          <a:p>
            <a:pPr marL="0" indent="0">
              <a:lnSpc>
                <a:spcPct val="110000"/>
              </a:lnSpc>
              <a:buNone/>
            </a:pPr>
            <a:r>
              <a:rPr lang="en-US" sz="1200" dirty="0">
                <a:solidFill>
                  <a:srgbClr val="8A93A6"/>
                </a:solidFill>
                <a:latin typeface="Calibri" pitchFamily="34" charset="0"/>
                <a:ea typeface="Calibri" pitchFamily="34" charset="-122"/>
                <a:cs typeface="Calibri" pitchFamily="34" charset="-120"/>
              </a:rPr>
              <a:t>resolves everything.</a:t>
            </a:r>
            <a:endParaRPr lang="en-US" sz="1200" dirty="0"/>
          </a:p>
        </p:txBody>
      </p:sp>
      <p:sp>
        <p:nvSpPr>
          <p:cNvPr id="12" name="Shape 10"/>
          <p:cNvSpPr/>
          <p:nvPr/>
        </p:nvSpPr>
        <p:spPr>
          <a:xfrm>
            <a:off x="7818120" y="1874520"/>
            <a:ext cx="3291840" cy="1737360"/>
          </a:xfrm>
          <a:prstGeom prst="roundRect">
            <a:avLst>
              <a:gd name="adj" fmla="val 3684"/>
            </a:avLst>
          </a:prstGeom>
          <a:solidFill>
            <a:srgbClr val="F4F5F7"/>
          </a:solidFill>
          <a:ln w="12700">
            <a:solidFill>
              <a:srgbClr val="E3E6EA"/>
            </a:solidFill>
            <a:prstDash val="solid"/>
          </a:ln>
        </p:spPr>
        <p:txBody>
          <a:bodyPr/>
          <a:lstStyle/>
          <a:p>
            <a:endParaRPr lang="en-US"/>
          </a:p>
        </p:txBody>
      </p:sp>
      <p:sp>
        <p:nvSpPr>
          <p:cNvPr id="13" name="Text 11"/>
          <p:cNvSpPr txBox="1"/>
          <p:nvPr/>
        </p:nvSpPr>
        <p:spPr>
          <a:xfrm>
            <a:off x="8046720" y="2057400"/>
            <a:ext cx="2834640" cy="640080"/>
          </a:xfrm>
          <a:prstGeom prst="rect">
            <a:avLst/>
          </a:prstGeom>
          <a:noFill/>
          <a:ln/>
        </p:spPr>
        <p:txBody>
          <a:bodyPr wrap="square" lIns="0" tIns="0" rIns="0" bIns="0" rtlCol="0" anchor="ctr"/>
          <a:lstStyle/>
          <a:p>
            <a:pPr marL="0" indent="0">
              <a:buNone/>
            </a:pPr>
            <a:r>
              <a:rPr lang="en-US" sz="1500" b="1" dirty="0">
                <a:solidFill>
                  <a:srgbClr val="1F2430"/>
                </a:solidFill>
                <a:latin typeface="Courier New" pitchFamily="34" charset="0"/>
                <a:ea typeface="Courier New" pitchFamily="34" charset="-122"/>
                <a:cs typeface="Courier New" pitchFamily="34" charset="-120"/>
              </a:rPr>
              <a:t>Makefile / Ninja</a:t>
            </a:r>
            <a:endParaRPr lang="en-US" sz="1500" dirty="0"/>
          </a:p>
          <a:p>
            <a:pPr marL="0" indent="0">
              <a:buNone/>
            </a:pPr>
            <a:r>
              <a:rPr lang="en-US" sz="1500" b="1" dirty="0">
                <a:solidFill>
                  <a:srgbClr val="1F2430"/>
                </a:solidFill>
                <a:latin typeface="Courier New" pitchFamily="34" charset="0"/>
                <a:ea typeface="Courier New" pitchFamily="34" charset="-122"/>
                <a:cs typeface="Courier New" pitchFamily="34" charset="-120"/>
              </a:rPr>
              <a:t>VS / Xcode</a:t>
            </a:r>
            <a:endParaRPr lang="en-US" sz="1500" dirty="0"/>
          </a:p>
        </p:txBody>
      </p:sp>
      <p:sp>
        <p:nvSpPr>
          <p:cNvPr id="14" name="Text 12"/>
          <p:cNvSpPr txBox="1"/>
          <p:nvPr/>
        </p:nvSpPr>
        <p:spPr>
          <a:xfrm>
            <a:off x="8046720" y="2697480"/>
            <a:ext cx="2834640" cy="777240"/>
          </a:xfrm>
          <a:prstGeom prst="rect">
            <a:avLst/>
          </a:prstGeom>
          <a:noFill/>
          <a:ln/>
        </p:spPr>
        <p:txBody>
          <a:bodyPr wrap="square" lIns="0" tIns="0" rIns="0" bIns="0" rtlCol="0" anchor="ctr"/>
          <a:lstStyle/>
          <a:p>
            <a:pPr marL="0" indent="0">
              <a:lnSpc>
                <a:spcPct val="110000"/>
              </a:lnSpc>
              <a:buNone/>
            </a:pPr>
            <a:r>
              <a:rPr lang="en-US" sz="1200" dirty="0">
                <a:solidFill>
                  <a:srgbClr val="3A4354"/>
                </a:solidFill>
                <a:latin typeface="Calibri" pitchFamily="34" charset="0"/>
                <a:ea typeface="Calibri" pitchFamily="34" charset="-122"/>
                <a:cs typeface="Calibri" pitchFamily="34" charset="-120"/>
              </a:rPr>
              <a:t>Generated. Never</a:t>
            </a:r>
            <a:endParaRPr lang="en-US" sz="1200" dirty="0"/>
          </a:p>
          <a:p>
            <a:pPr marL="0" indent="0">
              <a:lnSpc>
                <a:spcPct val="110000"/>
              </a:lnSpc>
              <a:buNone/>
            </a:pPr>
            <a:r>
              <a:rPr lang="en-US" sz="1200" dirty="0">
                <a:solidFill>
                  <a:srgbClr val="3A4354"/>
                </a:solidFill>
                <a:latin typeface="Calibri" pitchFamily="34" charset="0"/>
                <a:ea typeface="Calibri" pitchFamily="34" charset="-122"/>
                <a:cs typeface="Calibri" pitchFamily="34" charset="-120"/>
              </a:rPr>
              <a:t>edited, never committed,</a:t>
            </a:r>
            <a:endParaRPr lang="en-US" sz="1200" dirty="0"/>
          </a:p>
          <a:p>
            <a:pPr marL="0" indent="0">
              <a:lnSpc>
                <a:spcPct val="110000"/>
              </a:lnSpc>
              <a:buNone/>
            </a:pPr>
            <a:r>
              <a:rPr lang="en-US" sz="1200" dirty="0">
                <a:solidFill>
                  <a:srgbClr val="3A4354"/>
                </a:solidFill>
                <a:latin typeface="Calibri" pitchFamily="34" charset="0"/>
                <a:ea typeface="Calibri" pitchFamily="34" charset="-122"/>
                <a:cs typeface="Calibri" pitchFamily="34" charset="-120"/>
              </a:rPr>
              <a:t>thrown away.</a:t>
            </a:r>
            <a:endParaRPr lang="en-US" sz="1200" dirty="0"/>
          </a:p>
        </p:txBody>
      </p:sp>
      <p:sp>
        <p:nvSpPr>
          <p:cNvPr id="15" name="Shape 13"/>
          <p:cNvSpPr/>
          <p:nvPr/>
        </p:nvSpPr>
        <p:spPr>
          <a:xfrm>
            <a:off x="3858768" y="2606040"/>
            <a:ext cx="292608" cy="274320"/>
          </a:xfrm>
          <a:prstGeom prst="rightArrow">
            <a:avLst/>
          </a:prstGeom>
          <a:solidFill>
            <a:srgbClr val="EF6C1A"/>
          </a:solidFill>
          <a:ln w="12700">
            <a:solidFill>
              <a:srgbClr val="EF6C1A"/>
            </a:solidFill>
            <a:prstDash val="solid"/>
          </a:ln>
        </p:spPr>
        <p:txBody>
          <a:bodyPr/>
          <a:lstStyle/>
          <a:p>
            <a:endParaRPr lang="en-US"/>
          </a:p>
        </p:txBody>
      </p:sp>
      <p:sp>
        <p:nvSpPr>
          <p:cNvPr id="16" name="Shape 14"/>
          <p:cNvSpPr/>
          <p:nvPr/>
        </p:nvSpPr>
        <p:spPr>
          <a:xfrm>
            <a:off x="7452360" y="2606040"/>
            <a:ext cx="292608" cy="274320"/>
          </a:xfrm>
          <a:prstGeom prst="rightArrow">
            <a:avLst/>
          </a:prstGeom>
          <a:solidFill>
            <a:srgbClr val="EF6C1A"/>
          </a:solidFill>
          <a:ln w="12700">
            <a:solidFill>
              <a:srgbClr val="EF6C1A"/>
            </a:solidFill>
            <a:prstDash val="solid"/>
          </a:ln>
        </p:spPr>
        <p:txBody>
          <a:bodyPr/>
          <a:lstStyle/>
          <a:p>
            <a:endParaRPr lang="en-US"/>
          </a:p>
        </p:txBody>
      </p:sp>
      <p:sp>
        <p:nvSpPr>
          <p:cNvPr id="17" name="Text 15"/>
          <p:cNvSpPr txBox="1"/>
          <p:nvPr/>
        </p:nvSpPr>
        <p:spPr>
          <a:xfrm>
            <a:off x="640080" y="3931920"/>
            <a:ext cx="5394960" cy="2194560"/>
          </a:xfrm>
          <a:prstGeom prst="rect">
            <a:avLst/>
          </a:prstGeom>
          <a:noFill/>
          <a:ln/>
        </p:spPr>
        <p:txBody>
          <a:bodyPr wrap="square" lIns="0" tIns="0" rIns="0" bIns="0" rtlCol="0" anchor="t"/>
          <a:lstStyle/>
          <a:p>
            <a:pPr marL="342900" indent="-342900">
              <a:lnSpc>
                <a:spcPct val="110000"/>
              </a:lnSpc>
              <a:spcAft>
                <a:spcPts val="800"/>
              </a:spcAft>
              <a:buSzPct val="100000"/>
              <a:buChar char="•"/>
            </a:pPr>
            <a:r>
              <a:rPr lang="en-US" sz="1400" dirty="0">
                <a:solidFill>
                  <a:srgbClr val="3A4354"/>
                </a:solidFill>
                <a:latin typeface="Calibri" pitchFamily="34" charset="0"/>
                <a:ea typeface="Calibri" pitchFamily="34" charset="-122"/>
                <a:cs typeface="Calibri" pitchFamily="34" charset="-120"/>
              </a:rPr>
              <a:t>You describe intent: 'this library is made of these sources'.</a:t>
            </a:r>
            <a:endParaRPr lang="en-US" sz="1400" dirty="0"/>
          </a:p>
          <a:p>
            <a:pPr marL="342900" indent="-342900">
              <a:lnSpc>
                <a:spcPct val="110000"/>
              </a:lnSpc>
              <a:spcAft>
                <a:spcPts val="800"/>
              </a:spcAft>
              <a:buSzPct val="100000"/>
              <a:buChar char="•"/>
            </a:pPr>
            <a:r>
              <a:rPr lang="en-US" sz="1400" dirty="0">
                <a:solidFill>
                  <a:srgbClr val="3A4354"/>
                </a:solidFill>
                <a:latin typeface="Calibri" pitchFamily="34" charset="0"/>
                <a:ea typeface="Calibri" pitchFamily="34" charset="-122"/>
                <a:cs typeface="Calibri" pitchFamily="34" charset="-120"/>
              </a:rPr>
              <a:t>CMake decides how to express that for the tool on the machine.</a:t>
            </a:r>
            <a:endParaRPr lang="en-US" sz="1400" dirty="0"/>
          </a:p>
          <a:p>
            <a:pPr marL="342900" indent="-342900">
              <a:lnSpc>
                <a:spcPct val="110000"/>
              </a:lnSpc>
              <a:spcAft>
                <a:spcPts val="800"/>
              </a:spcAft>
              <a:buSzPct val="100000"/>
              <a:buChar char="•"/>
            </a:pPr>
            <a:r>
              <a:rPr lang="en-US" sz="1400" dirty="0">
                <a:solidFill>
                  <a:srgbClr val="3A4354"/>
                </a:solidFill>
                <a:latin typeface="Calibri" pitchFamily="34" charset="0"/>
                <a:ea typeface="Calibri" pitchFamily="34" charset="-122"/>
                <a:cs typeface="Calibri" pitchFamily="34" charset="-120"/>
              </a:rPr>
              <a:t>The same CMakeLists.txt drives Ninja on your laptop and Makefiles on the HPC system.</a:t>
            </a:r>
          </a:p>
          <a:p>
            <a:pPr marL="342900" indent="-342900">
              <a:lnSpc>
                <a:spcPct val="110000"/>
              </a:lnSpc>
              <a:spcAft>
                <a:spcPts val="800"/>
              </a:spcAft>
              <a:buSzPct val="100000"/>
              <a:buChar char="•"/>
            </a:pPr>
            <a:r>
              <a:rPr lang="en-US" sz="1400" dirty="0" err="1">
                <a:solidFill>
                  <a:srgbClr val="3A4354"/>
                </a:solidFill>
                <a:latin typeface="Calibri" pitchFamily="34" charset="0"/>
                <a:ea typeface="Calibri" pitchFamily="34" charset="-122"/>
                <a:cs typeface="Calibri" pitchFamily="34" charset="-120"/>
              </a:rPr>
              <a:t>CMake</a:t>
            </a:r>
            <a:r>
              <a:rPr lang="en-US" sz="1400" dirty="0">
                <a:solidFill>
                  <a:srgbClr val="3A4354"/>
                </a:solidFill>
                <a:latin typeface="Calibri" pitchFamily="34" charset="0"/>
                <a:ea typeface="Calibri" pitchFamily="34" charset="-122"/>
                <a:cs typeface="Calibri" pitchFamily="34" charset="-120"/>
              </a:rPr>
              <a:t> enforces out-of-source builds.</a:t>
            </a:r>
            <a:endParaRPr lang="en-US" sz="1400" dirty="0"/>
          </a:p>
        </p:txBody>
      </p:sp>
      <p:sp>
        <p:nvSpPr>
          <p:cNvPr id="18" name="Shape 16"/>
          <p:cNvSpPr/>
          <p:nvPr/>
        </p:nvSpPr>
        <p:spPr>
          <a:xfrm>
            <a:off x="6309360" y="3931920"/>
            <a:ext cx="5230368" cy="1452524"/>
          </a:xfrm>
          <a:prstGeom prst="roundRect">
            <a:avLst>
              <a:gd name="adj" fmla="val 5036"/>
            </a:avLst>
          </a:prstGeom>
          <a:solidFill>
            <a:srgbClr val="1F2430"/>
          </a:solidFill>
          <a:ln w="12700">
            <a:solidFill>
              <a:srgbClr val="1F2430"/>
            </a:solidFill>
            <a:prstDash val="solid"/>
          </a:ln>
        </p:spPr>
        <p:txBody>
          <a:bodyPr/>
          <a:lstStyle/>
          <a:p>
            <a:endParaRPr lang="en-US"/>
          </a:p>
        </p:txBody>
      </p:sp>
      <p:sp>
        <p:nvSpPr>
          <p:cNvPr id="19" name="Text 17"/>
          <p:cNvSpPr txBox="1"/>
          <p:nvPr/>
        </p:nvSpPr>
        <p:spPr>
          <a:xfrm>
            <a:off x="6510528" y="4078224"/>
            <a:ext cx="4828032" cy="1159916"/>
          </a:xfrm>
          <a:prstGeom prst="rect">
            <a:avLst/>
          </a:prstGeom>
          <a:noFill/>
          <a:ln/>
        </p:spPr>
        <p:txBody>
          <a:bodyPr wrap="square" lIns="0" tIns="0" rIns="0" bIns="0" rtlCol="0" anchor="t"/>
          <a:lstStyle/>
          <a:p>
            <a:pPr marL="0" indent="0">
              <a:lnSpc>
                <a:spcPct val="112000"/>
              </a:lnSpc>
              <a:buNone/>
            </a:pPr>
            <a:r>
              <a:rPr lang="en-US" sz="1100" i="1" dirty="0">
                <a:solidFill>
                  <a:srgbClr val="8A93A6"/>
                </a:solidFill>
                <a:latin typeface="Courier New" pitchFamily="34" charset="0"/>
                <a:ea typeface="Courier New" pitchFamily="34" charset="-122"/>
                <a:cs typeface="Courier New" pitchFamily="34" charset="-120"/>
              </a:rPr>
              <a:t># the generator is a flag, not a rewrite</a:t>
            </a:r>
            <a:endParaRPr lang="en-US" sz="1100" dirty="0"/>
          </a:p>
          <a:p>
            <a:pPr marL="0" indent="0">
              <a:lnSpc>
                <a:spcPct val="112000"/>
              </a:lnSpc>
              <a:buNone/>
            </a:pPr>
            <a:r>
              <a:rPr lang="en-US" sz="1100" dirty="0">
                <a:solidFill>
                  <a:srgbClr val="F2A65A"/>
                </a:solidFill>
                <a:latin typeface="Courier New" pitchFamily="34" charset="0"/>
                <a:ea typeface="Courier New" pitchFamily="34" charset="-122"/>
                <a:cs typeface="Courier New" pitchFamily="34" charset="-120"/>
              </a:rPr>
              <a:t>$</a:t>
            </a:r>
            <a:r>
              <a:rPr lang="en-US" sz="1100" dirty="0">
                <a:solidFill>
                  <a:srgbClr val="E6E8EC"/>
                </a:solidFill>
                <a:latin typeface="Courier New" pitchFamily="34" charset="0"/>
                <a:ea typeface="Courier New" pitchFamily="34" charset="-122"/>
                <a:cs typeface="Courier New" pitchFamily="34" charset="-120"/>
              </a:rPr>
              <a:t> cmake -S . -B build -G Ninja</a:t>
            </a:r>
            <a:endParaRPr lang="en-US" sz="1100" dirty="0"/>
          </a:p>
          <a:p>
            <a:pPr marL="0" indent="0">
              <a:lnSpc>
                <a:spcPct val="112000"/>
              </a:lnSpc>
              <a:buNone/>
            </a:pPr>
            <a:r>
              <a:rPr lang="en-US" sz="1100" dirty="0">
                <a:solidFill>
                  <a:srgbClr val="E6E8EC"/>
                </a:solidFill>
                <a:latin typeface="Courier New" pitchFamily="34" charset="0"/>
                <a:ea typeface="Courier New" pitchFamily="34" charset="-122"/>
                <a:cs typeface="Courier New" pitchFamily="34" charset="-120"/>
              </a:rPr>
              <a:t>$ cmake -S . -B build   </a:t>
            </a:r>
            <a:r>
              <a:rPr lang="en-US" sz="1100" i="1" dirty="0">
                <a:solidFill>
                  <a:srgbClr val="8A93A6"/>
                </a:solidFill>
                <a:latin typeface="Courier New" pitchFamily="34" charset="0"/>
                <a:ea typeface="Courier New" pitchFamily="34" charset="-122"/>
                <a:cs typeface="Courier New" pitchFamily="34" charset="-120"/>
              </a:rPr>
              <a:t># default: Make</a:t>
            </a:r>
            <a:endParaRPr lang="en-US" sz="1100" dirty="0"/>
          </a:p>
          <a:p>
            <a:pPr marL="0" indent="0">
              <a:lnSpc>
                <a:spcPct val="112000"/>
              </a:lnSpc>
              <a:buNone/>
            </a:pPr>
            <a:r>
              <a:rPr lang="en-US" sz="1100" dirty="0">
                <a:solidFill>
                  <a:srgbClr val="E6E8EC"/>
                </a:solidFill>
                <a:latin typeface="Courier New" pitchFamily="34" charset="0"/>
                <a:ea typeface="Courier New" pitchFamily="34" charset="-122"/>
                <a:cs typeface="Courier New" pitchFamily="34" charset="-120"/>
              </a:rPr>
              <a:t> </a:t>
            </a:r>
            <a:endParaRPr lang="en-US" sz="1100" dirty="0"/>
          </a:p>
          <a:p>
            <a:pPr marL="0" indent="0">
              <a:lnSpc>
                <a:spcPct val="112000"/>
              </a:lnSpc>
              <a:buNone/>
            </a:pPr>
            <a:r>
              <a:rPr lang="en-US" sz="1100" i="1" dirty="0">
                <a:solidFill>
                  <a:srgbClr val="8A93A6"/>
                </a:solidFill>
                <a:latin typeface="Courier New" pitchFamily="34" charset="0"/>
                <a:ea typeface="Courier New" pitchFamily="34" charset="-122"/>
                <a:cs typeface="Courier New" pitchFamily="34" charset="-120"/>
              </a:rPr>
              <a:t># nothing generated is ever committed</a:t>
            </a:r>
            <a:endParaRPr lang="en-US" sz="1100" dirty="0"/>
          </a:p>
          <a:p>
            <a:pPr marL="0" indent="0">
              <a:lnSpc>
                <a:spcPct val="112000"/>
              </a:lnSpc>
              <a:buNone/>
            </a:pPr>
            <a:r>
              <a:rPr lang="en-US" sz="1100" dirty="0">
                <a:solidFill>
                  <a:srgbClr val="F2A65A"/>
                </a:solidFill>
                <a:latin typeface="Courier New" pitchFamily="34" charset="0"/>
                <a:ea typeface="Courier New" pitchFamily="34" charset="-122"/>
                <a:cs typeface="Courier New" pitchFamily="34" charset="-120"/>
              </a:rPr>
              <a:t>$</a:t>
            </a:r>
            <a:r>
              <a:rPr lang="en-US" sz="1100" dirty="0">
                <a:solidFill>
                  <a:srgbClr val="E6E8EC"/>
                </a:solidFill>
                <a:latin typeface="Courier New" pitchFamily="34" charset="0"/>
                <a:ea typeface="Courier New" pitchFamily="34" charset="-122"/>
                <a:cs typeface="Courier New" pitchFamily="34" charset="-120"/>
              </a:rPr>
              <a:t> echo build/ &gt;&gt; .gitignore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6327648"/>
            <a:ext cx="4572000" cy="274320"/>
          </a:xfrm>
          <a:prstGeom prst="rect">
            <a:avLst/>
          </a:prstGeom>
          <a:noFill/>
          <a:ln/>
        </p:spPr>
        <p:txBody>
          <a:bodyPr wrap="square" lIns="0" tIns="0" rIns="0" bIns="0" rtlCol="0" anchor="ctr"/>
          <a:lstStyle/>
          <a:p>
            <a:pPr marL="0" indent="0">
              <a:buNone/>
            </a:pPr>
            <a:r>
              <a:rPr lang="en-US" sz="1000" dirty="0">
                <a:solidFill>
                  <a:srgbClr val="AEB5BF"/>
                </a:solidFill>
                <a:latin typeface="Calibri" pitchFamily="34" charset="0"/>
                <a:ea typeface="Calibri" pitchFamily="34" charset="-122"/>
                <a:cs typeface="Calibri" pitchFamily="34" charset="-120"/>
              </a:rPr>
              <a:t>CMake for Fortran</a:t>
            </a:r>
            <a:endParaRPr lang="en-US" sz="1000" dirty="0"/>
          </a:p>
        </p:txBody>
      </p:sp>
      <p:sp>
        <p:nvSpPr>
          <p:cNvPr id="3" name="Text 1"/>
          <p:cNvSpPr txBox="1"/>
          <p:nvPr/>
        </p:nvSpPr>
        <p:spPr>
          <a:xfrm>
            <a:off x="10607040" y="6327648"/>
            <a:ext cx="914400" cy="274320"/>
          </a:xfrm>
          <a:prstGeom prst="rect">
            <a:avLst/>
          </a:prstGeom>
          <a:noFill/>
          <a:ln/>
        </p:spPr>
        <p:txBody>
          <a:bodyPr wrap="square" lIns="0" tIns="0" rIns="0" bIns="0" rtlCol="0" anchor="ctr"/>
          <a:lstStyle/>
          <a:p>
            <a:pPr marL="0" indent="0" algn="r">
              <a:buNone/>
            </a:pPr>
            <a:r>
              <a:rPr lang="en-US" sz="1000" dirty="0">
                <a:solidFill>
                  <a:srgbClr val="AEB5BF"/>
                </a:solidFill>
                <a:latin typeface="Calibri" pitchFamily="34" charset="0"/>
                <a:ea typeface="Calibri" pitchFamily="34" charset="-122"/>
                <a:cs typeface="Calibri" pitchFamily="34" charset="-120"/>
              </a:rPr>
              <a:t>7</a:t>
            </a:r>
            <a:endParaRPr lang="en-US" sz="1000" dirty="0"/>
          </a:p>
        </p:txBody>
      </p:sp>
      <p:sp>
        <p:nvSpPr>
          <p:cNvPr id="4" name="Text 2"/>
          <p:cNvSpPr txBox="1"/>
          <p:nvPr/>
        </p:nvSpPr>
        <p:spPr>
          <a:xfrm>
            <a:off x="640080" y="384048"/>
            <a:ext cx="10881360" cy="256032"/>
          </a:xfrm>
          <a:prstGeom prst="rect">
            <a:avLst/>
          </a:prstGeom>
          <a:noFill/>
          <a:ln/>
        </p:spPr>
        <p:txBody>
          <a:bodyPr wrap="square" lIns="0" tIns="0" rIns="0" bIns="0" rtlCol="0" anchor="ctr"/>
          <a:lstStyle/>
          <a:p>
            <a:pPr marL="0" indent="0">
              <a:buNone/>
            </a:pPr>
            <a:r>
              <a:rPr lang="en-US" sz="1100" b="1" kern="0" spc="200" dirty="0">
                <a:solidFill>
                  <a:srgbClr val="EF6C1A"/>
                </a:solidFill>
                <a:latin typeface="Calibri" pitchFamily="34" charset="0"/>
                <a:ea typeface="Calibri" pitchFamily="34" charset="-122"/>
                <a:cs typeface="Calibri" pitchFamily="34" charset="-120"/>
              </a:rPr>
              <a:t>BASICS</a:t>
            </a:r>
            <a:endParaRPr lang="en-US" sz="1100" dirty="0"/>
          </a:p>
        </p:txBody>
      </p:sp>
      <p:sp>
        <p:nvSpPr>
          <p:cNvPr id="5" name="Text 3"/>
          <p:cNvSpPr txBox="1"/>
          <p:nvPr/>
        </p:nvSpPr>
        <p:spPr>
          <a:xfrm>
            <a:off x="640080" y="658368"/>
            <a:ext cx="10881360" cy="658368"/>
          </a:xfrm>
          <a:prstGeom prst="rect">
            <a:avLst/>
          </a:prstGeom>
          <a:noFill/>
          <a:ln/>
        </p:spPr>
        <p:txBody>
          <a:bodyPr wrap="square" lIns="0" tIns="0" rIns="0" bIns="0" rtlCol="0" anchor="t"/>
          <a:lstStyle/>
          <a:p>
            <a:pPr marL="0" indent="0">
              <a:buNone/>
            </a:pPr>
            <a:r>
              <a:rPr lang="en-US" sz="3000" b="1" dirty="0">
                <a:solidFill>
                  <a:srgbClr val="1F2430"/>
                </a:solidFill>
                <a:latin typeface="Cambria" pitchFamily="34" charset="0"/>
                <a:ea typeface="Cambria" pitchFamily="34" charset="-122"/>
                <a:cs typeface="Cambria" pitchFamily="34" charset="-120"/>
              </a:rPr>
              <a:t>Your first CMakeLists.txt</a:t>
            </a:r>
            <a:endParaRPr lang="en-US" sz="3000" dirty="0"/>
          </a:p>
        </p:txBody>
      </p:sp>
      <p:sp>
        <p:nvSpPr>
          <p:cNvPr id="6" name="Shape 4"/>
          <p:cNvSpPr/>
          <p:nvPr/>
        </p:nvSpPr>
        <p:spPr>
          <a:xfrm>
            <a:off x="640080" y="1645920"/>
            <a:ext cx="6492240" cy="1521714"/>
          </a:xfrm>
          <a:prstGeom prst="roundRect">
            <a:avLst>
              <a:gd name="adj" fmla="val 4807"/>
            </a:avLst>
          </a:prstGeom>
          <a:solidFill>
            <a:srgbClr val="1F2430"/>
          </a:solidFill>
          <a:ln w="12700">
            <a:solidFill>
              <a:srgbClr val="1F2430"/>
            </a:solidFill>
            <a:prstDash val="solid"/>
          </a:ln>
        </p:spPr>
        <p:txBody>
          <a:bodyPr/>
          <a:lstStyle/>
          <a:p>
            <a:endParaRPr lang="en-US"/>
          </a:p>
        </p:txBody>
      </p:sp>
      <p:sp>
        <p:nvSpPr>
          <p:cNvPr id="7" name="Text 5"/>
          <p:cNvSpPr txBox="1"/>
          <p:nvPr/>
        </p:nvSpPr>
        <p:spPr>
          <a:xfrm>
            <a:off x="841248" y="1792224"/>
            <a:ext cx="6089904" cy="1229106"/>
          </a:xfrm>
          <a:prstGeom prst="rect">
            <a:avLst/>
          </a:prstGeom>
          <a:noFill/>
          <a:ln/>
        </p:spPr>
        <p:txBody>
          <a:bodyPr wrap="square" lIns="0" tIns="0" rIns="0" bIns="0" rtlCol="0" anchor="t"/>
          <a:lstStyle/>
          <a:p>
            <a:pPr marL="0" indent="0">
              <a:lnSpc>
                <a:spcPct val="112000"/>
              </a:lnSpc>
              <a:buNone/>
            </a:pPr>
            <a:r>
              <a:rPr lang="en-US" sz="1400" dirty="0">
                <a:solidFill>
                  <a:srgbClr val="E6E8EC"/>
                </a:solidFill>
                <a:latin typeface="Courier New" pitchFamily="34" charset="0"/>
                <a:ea typeface="Courier New" pitchFamily="34" charset="-122"/>
                <a:cs typeface="Courier New" pitchFamily="34" charset="-120"/>
              </a:rPr>
              <a:t>cmake_minimum_required(VERSION 3.16)</a:t>
            </a:r>
            <a:endParaRPr lang="en-US" sz="1400" dirty="0"/>
          </a:p>
          <a:p>
            <a:pPr marL="0" indent="0">
              <a:lnSpc>
                <a:spcPct val="112000"/>
              </a:lnSpc>
              <a:buNone/>
            </a:pPr>
            <a:r>
              <a:rPr lang="en-US" sz="1400" dirty="0">
                <a:solidFill>
                  <a:srgbClr val="E6E8EC"/>
                </a:solidFill>
                <a:latin typeface="Courier New" pitchFamily="34" charset="0"/>
                <a:ea typeface="Courier New" pitchFamily="34" charset="-122"/>
                <a:cs typeface="Courier New" pitchFamily="34" charset="-120"/>
              </a:rPr>
              <a:t> </a:t>
            </a:r>
            <a:endParaRPr lang="en-US" sz="1400" dirty="0"/>
          </a:p>
          <a:p>
            <a:pPr marL="0" indent="0">
              <a:lnSpc>
                <a:spcPct val="112000"/>
              </a:lnSpc>
              <a:buNone/>
            </a:pPr>
            <a:r>
              <a:rPr lang="en-US" sz="1400" dirty="0">
                <a:solidFill>
                  <a:srgbClr val="E6E8EC"/>
                </a:solidFill>
                <a:latin typeface="Courier New" pitchFamily="34" charset="0"/>
                <a:ea typeface="Courier New" pitchFamily="34" charset="-122"/>
                <a:cs typeface="Courier New" pitchFamily="34" charset="-120"/>
              </a:rPr>
              <a:t>project(demo LANGUAGES Fortran)</a:t>
            </a:r>
            <a:endParaRPr lang="en-US" sz="1400" dirty="0"/>
          </a:p>
          <a:p>
            <a:pPr marL="0" indent="0">
              <a:lnSpc>
                <a:spcPct val="112000"/>
              </a:lnSpc>
              <a:buNone/>
            </a:pPr>
            <a:r>
              <a:rPr lang="en-US" sz="1400" dirty="0">
                <a:solidFill>
                  <a:srgbClr val="E6E8EC"/>
                </a:solidFill>
                <a:latin typeface="Courier New" pitchFamily="34" charset="0"/>
                <a:ea typeface="Courier New" pitchFamily="34" charset="-122"/>
                <a:cs typeface="Courier New" pitchFamily="34" charset="-120"/>
              </a:rPr>
              <a:t> </a:t>
            </a:r>
            <a:endParaRPr lang="en-US" sz="1400" dirty="0"/>
          </a:p>
          <a:p>
            <a:pPr marL="0" indent="0">
              <a:lnSpc>
                <a:spcPct val="112000"/>
              </a:lnSpc>
              <a:buNone/>
            </a:pPr>
            <a:r>
              <a:rPr lang="en-US" sz="1400" dirty="0">
                <a:solidFill>
                  <a:srgbClr val="E6E8EC"/>
                </a:solidFill>
                <a:latin typeface="Courier New" pitchFamily="34" charset="0"/>
                <a:ea typeface="Courier New" pitchFamily="34" charset="-122"/>
                <a:cs typeface="Courier New" pitchFamily="34" charset="-120"/>
              </a:rPr>
              <a:t>add_executable(demo main.f90)</a:t>
            </a:r>
            <a:endParaRPr lang="en-US" sz="1400" dirty="0"/>
          </a:p>
        </p:txBody>
      </p:sp>
      <p:sp>
        <p:nvSpPr>
          <p:cNvPr id="8" name="Text 6"/>
          <p:cNvSpPr txBox="1"/>
          <p:nvPr/>
        </p:nvSpPr>
        <p:spPr>
          <a:xfrm>
            <a:off x="7315200" y="1737360"/>
            <a:ext cx="4224528" cy="2103120"/>
          </a:xfrm>
          <a:prstGeom prst="rect">
            <a:avLst/>
          </a:prstGeom>
          <a:noFill/>
          <a:ln/>
        </p:spPr>
        <p:txBody>
          <a:bodyPr wrap="square" lIns="0" tIns="0" rIns="0" bIns="0" rtlCol="0" anchor="t"/>
          <a:lstStyle/>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cmake_minimum_required - pins behaviour, not just the version. Always first.</a:t>
            </a:r>
            <a:endParaRPr lang="en-US" sz="1300" dirty="0"/>
          </a:p>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project() - names it, sets the version, enables the Fortran compiler.</a:t>
            </a:r>
            <a:endParaRPr lang="en-US" sz="1300" dirty="0"/>
          </a:p>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add_executable() - declares a target.</a:t>
            </a:r>
            <a:endParaRPr lang="en-US" sz="1300" dirty="0"/>
          </a:p>
        </p:txBody>
      </p:sp>
      <p:sp>
        <p:nvSpPr>
          <p:cNvPr id="9" name="Text 7"/>
          <p:cNvSpPr txBox="1"/>
          <p:nvPr/>
        </p:nvSpPr>
        <p:spPr>
          <a:xfrm>
            <a:off x="640080" y="3429000"/>
            <a:ext cx="10881360" cy="274320"/>
          </a:xfrm>
          <a:prstGeom prst="rect">
            <a:avLst/>
          </a:prstGeom>
          <a:noFill/>
          <a:ln/>
        </p:spPr>
        <p:txBody>
          <a:bodyPr wrap="square" lIns="0" tIns="0" rIns="0" bIns="0" rtlCol="0" anchor="ctr"/>
          <a:lstStyle/>
          <a:p>
            <a:pPr marL="0" indent="0">
              <a:buNone/>
            </a:pPr>
            <a:r>
              <a:rPr lang="en-US" sz="1200" b="1" kern="0" spc="100" dirty="0">
                <a:solidFill>
                  <a:srgbClr val="6B7280"/>
                </a:solidFill>
                <a:latin typeface="Calibri" pitchFamily="34" charset="0"/>
                <a:ea typeface="Calibri" pitchFamily="34" charset="-122"/>
                <a:cs typeface="Calibri" pitchFamily="34" charset="-120"/>
              </a:rPr>
              <a:t>THE SYNTAX IS ONE RULE: COMMAND(ARGUMENTS)</a:t>
            </a:r>
            <a:endParaRPr lang="en-US" sz="1200" dirty="0"/>
          </a:p>
        </p:txBody>
      </p:sp>
      <p:sp>
        <p:nvSpPr>
          <p:cNvPr id="10" name="Shape 8"/>
          <p:cNvSpPr/>
          <p:nvPr/>
        </p:nvSpPr>
        <p:spPr>
          <a:xfrm>
            <a:off x="640080" y="3749040"/>
            <a:ext cx="6492240" cy="1071982"/>
          </a:xfrm>
          <a:prstGeom prst="roundRect">
            <a:avLst>
              <a:gd name="adj" fmla="val 6824"/>
            </a:avLst>
          </a:prstGeom>
          <a:solidFill>
            <a:srgbClr val="1F2430"/>
          </a:solidFill>
          <a:ln w="12700">
            <a:solidFill>
              <a:srgbClr val="1F2430"/>
            </a:solidFill>
            <a:prstDash val="solid"/>
          </a:ln>
        </p:spPr>
        <p:txBody>
          <a:bodyPr/>
          <a:lstStyle/>
          <a:p>
            <a:endParaRPr lang="en-US"/>
          </a:p>
        </p:txBody>
      </p:sp>
      <p:sp>
        <p:nvSpPr>
          <p:cNvPr id="11" name="Text 9"/>
          <p:cNvSpPr txBox="1"/>
          <p:nvPr/>
        </p:nvSpPr>
        <p:spPr>
          <a:xfrm>
            <a:off x="841248" y="3895344"/>
            <a:ext cx="6089904" cy="779374"/>
          </a:xfrm>
          <a:prstGeom prst="rect">
            <a:avLst/>
          </a:prstGeom>
          <a:noFill/>
          <a:ln/>
        </p:spPr>
        <p:txBody>
          <a:bodyPr wrap="square" lIns="0" tIns="0" rIns="0" bIns="0" rtlCol="0" anchor="t"/>
          <a:lstStyle/>
          <a:p>
            <a:pPr marL="0" indent="0">
              <a:lnSpc>
                <a:spcPct val="112000"/>
              </a:lnSpc>
              <a:buNone/>
            </a:pPr>
            <a:r>
              <a:rPr lang="en-US" sz="1100" dirty="0">
                <a:solidFill>
                  <a:srgbClr val="E6E8EC"/>
                </a:solidFill>
                <a:latin typeface="Courier New" pitchFamily="34" charset="0"/>
                <a:ea typeface="Courier New" pitchFamily="34" charset="-122"/>
                <a:cs typeface="Courier New" pitchFamily="34" charset="-120"/>
              </a:rPr>
              <a:t>set(MY_LIST a b c)      </a:t>
            </a:r>
            <a:r>
              <a:rPr lang="en-US" sz="1100" i="1" dirty="0">
                <a:solidFill>
                  <a:srgbClr val="8A93A6"/>
                </a:solidFill>
                <a:latin typeface="Courier New" pitchFamily="34" charset="0"/>
                <a:ea typeface="Courier New" pitchFamily="34" charset="-122"/>
                <a:cs typeface="Courier New" pitchFamily="34" charset="-120"/>
              </a:rPr>
              <a:t># a list is a ;-separated string</a:t>
            </a:r>
            <a:endParaRPr lang="en-US" sz="1100" dirty="0"/>
          </a:p>
          <a:p>
            <a:pPr marL="0" indent="0">
              <a:lnSpc>
                <a:spcPct val="112000"/>
              </a:lnSpc>
              <a:buNone/>
            </a:pPr>
            <a:r>
              <a:rPr lang="en-US" sz="1100" dirty="0">
                <a:solidFill>
                  <a:srgbClr val="E6E8EC"/>
                </a:solidFill>
                <a:latin typeface="Courier New" pitchFamily="34" charset="0"/>
                <a:ea typeface="Courier New" pitchFamily="34" charset="-122"/>
                <a:cs typeface="Courier New" pitchFamily="34" charset="-120"/>
              </a:rPr>
              <a:t>if(MY_VAR)              </a:t>
            </a:r>
            <a:r>
              <a:rPr lang="en-US" sz="1100" i="1" dirty="0">
                <a:solidFill>
                  <a:srgbClr val="8A93A6"/>
                </a:solidFill>
                <a:latin typeface="Courier New" pitchFamily="34" charset="0"/>
                <a:ea typeface="Courier New" pitchFamily="34" charset="-122"/>
                <a:cs typeface="Courier New" pitchFamily="34" charset="-120"/>
              </a:rPr>
              <a:t># variables expand with ${}</a:t>
            </a:r>
            <a:endParaRPr lang="en-US" sz="1100" dirty="0"/>
          </a:p>
          <a:p>
            <a:pPr marL="0" indent="0">
              <a:lnSpc>
                <a:spcPct val="112000"/>
              </a:lnSpc>
              <a:buNone/>
            </a:pPr>
            <a:r>
              <a:rPr lang="en-US" sz="1100" dirty="0">
                <a:solidFill>
                  <a:srgbClr val="E6E8EC"/>
                </a:solidFill>
                <a:latin typeface="Courier New" pitchFamily="34" charset="0"/>
                <a:ea typeface="Courier New" pitchFamily="34" charset="-122"/>
                <a:cs typeface="Courier New" pitchFamily="34" charset="-120"/>
              </a:rPr>
              <a:t>  message(STATUS "got ${MY_VAR}")</a:t>
            </a:r>
            <a:endParaRPr lang="en-US" sz="1100" dirty="0"/>
          </a:p>
          <a:p>
            <a:pPr marL="0" indent="0">
              <a:lnSpc>
                <a:spcPct val="112000"/>
              </a:lnSpc>
              <a:buNone/>
            </a:pPr>
            <a:r>
              <a:rPr lang="en-US" sz="1100" dirty="0">
                <a:solidFill>
                  <a:srgbClr val="E6E8EC"/>
                </a:solidFill>
                <a:latin typeface="Courier New" pitchFamily="34" charset="0"/>
                <a:ea typeface="Courier New" pitchFamily="34" charset="-122"/>
                <a:cs typeface="Courier New" pitchFamily="34" charset="-120"/>
              </a:rPr>
              <a:t>endif()</a:t>
            </a:r>
            <a:endParaRPr lang="en-US" sz="1100" dirty="0"/>
          </a:p>
        </p:txBody>
      </p:sp>
      <p:sp>
        <p:nvSpPr>
          <p:cNvPr id="12" name="Text 10"/>
          <p:cNvSpPr txBox="1"/>
          <p:nvPr/>
        </p:nvSpPr>
        <p:spPr>
          <a:xfrm>
            <a:off x="7315200" y="3840480"/>
            <a:ext cx="4224528" cy="1737360"/>
          </a:xfrm>
          <a:prstGeom prst="rect">
            <a:avLst/>
          </a:prstGeom>
          <a:noFill/>
          <a:ln/>
        </p:spPr>
        <p:txBody>
          <a:bodyPr wrap="square" lIns="0" tIns="0" rIns="0" bIns="0" rtlCol="0" anchor="t"/>
          <a:lstStyle/>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Commands are case-insensitive; write them lower-case.</a:t>
            </a:r>
            <a:endParaRPr lang="en-US" sz="1300" dirty="0"/>
          </a:p>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Everything is a string. Lists are strings with semicolons.</a:t>
            </a:r>
            <a:endParaRPr lang="en-US" sz="1300" dirty="0"/>
          </a:p>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Quote variables that might be empty or contain spaces.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6327648"/>
            <a:ext cx="4572000" cy="274320"/>
          </a:xfrm>
          <a:prstGeom prst="rect">
            <a:avLst/>
          </a:prstGeom>
          <a:noFill/>
          <a:ln/>
        </p:spPr>
        <p:txBody>
          <a:bodyPr wrap="square" lIns="0" tIns="0" rIns="0" bIns="0" rtlCol="0" anchor="ctr"/>
          <a:lstStyle/>
          <a:p>
            <a:pPr marL="0" indent="0">
              <a:buNone/>
            </a:pPr>
            <a:r>
              <a:rPr lang="en-US" sz="1000" dirty="0">
                <a:solidFill>
                  <a:srgbClr val="AEB5BF"/>
                </a:solidFill>
                <a:latin typeface="Calibri" pitchFamily="34" charset="0"/>
                <a:ea typeface="Calibri" pitchFamily="34" charset="-122"/>
                <a:cs typeface="Calibri" pitchFamily="34" charset="-120"/>
              </a:rPr>
              <a:t>CMake for Fortran</a:t>
            </a:r>
            <a:endParaRPr lang="en-US" sz="1000" dirty="0"/>
          </a:p>
        </p:txBody>
      </p:sp>
      <p:sp>
        <p:nvSpPr>
          <p:cNvPr id="3" name="Text 1"/>
          <p:cNvSpPr txBox="1"/>
          <p:nvPr/>
        </p:nvSpPr>
        <p:spPr>
          <a:xfrm>
            <a:off x="10607040" y="6327648"/>
            <a:ext cx="914400" cy="274320"/>
          </a:xfrm>
          <a:prstGeom prst="rect">
            <a:avLst/>
          </a:prstGeom>
          <a:noFill/>
          <a:ln/>
        </p:spPr>
        <p:txBody>
          <a:bodyPr wrap="square" lIns="0" tIns="0" rIns="0" bIns="0" rtlCol="0" anchor="ctr"/>
          <a:lstStyle/>
          <a:p>
            <a:pPr marL="0" indent="0" algn="r">
              <a:buNone/>
            </a:pPr>
            <a:r>
              <a:rPr lang="en-US" sz="1000" dirty="0">
                <a:solidFill>
                  <a:srgbClr val="AEB5BF"/>
                </a:solidFill>
                <a:latin typeface="Calibri" pitchFamily="34" charset="0"/>
                <a:ea typeface="Calibri" pitchFamily="34" charset="-122"/>
                <a:cs typeface="Calibri" pitchFamily="34" charset="-120"/>
              </a:rPr>
              <a:t>8</a:t>
            </a:r>
            <a:endParaRPr lang="en-US" sz="1000" dirty="0"/>
          </a:p>
        </p:txBody>
      </p:sp>
      <p:sp>
        <p:nvSpPr>
          <p:cNvPr id="4" name="Text 2"/>
          <p:cNvSpPr txBox="1"/>
          <p:nvPr/>
        </p:nvSpPr>
        <p:spPr>
          <a:xfrm>
            <a:off x="640080" y="384048"/>
            <a:ext cx="10881360" cy="256032"/>
          </a:xfrm>
          <a:prstGeom prst="rect">
            <a:avLst/>
          </a:prstGeom>
          <a:noFill/>
          <a:ln/>
        </p:spPr>
        <p:txBody>
          <a:bodyPr wrap="square" lIns="0" tIns="0" rIns="0" bIns="0" rtlCol="0" anchor="ctr"/>
          <a:lstStyle/>
          <a:p>
            <a:pPr marL="0" indent="0">
              <a:buNone/>
            </a:pPr>
            <a:r>
              <a:rPr lang="en-US" sz="1100" b="1" kern="0" spc="200" dirty="0">
                <a:solidFill>
                  <a:srgbClr val="EF6C1A"/>
                </a:solidFill>
                <a:latin typeface="Calibri" pitchFamily="34" charset="0"/>
                <a:ea typeface="Calibri" pitchFamily="34" charset="-122"/>
                <a:cs typeface="Calibri" pitchFamily="34" charset="-120"/>
              </a:rPr>
              <a:t>BASICS</a:t>
            </a:r>
            <a:endParaRPr lang="en-US" sz="1100" dirty="0"/>
          </a:p>
        </p:txBody>
      </p:sp>
      <p:sp>
        <p:nvSpPr>
          <p:cNvPr id="5" name="Text 3"/>
          <p:cNvSpPr txBox="1"/>
          <p:nvPr/>
        </p:nvSpPr>
        <p:spPr>
          <a:xfrm>
            <a:off x="640080" y="658368"/>
            <a:ext cx="10881360" cy="658368"/>
          </a:xfrm>
          <a:prstGeom prst="rect">
            <a:avLst/>
          </a:prstGeom>
          <a:noFill/>
          <a:ln/>
        </p:spPr>
        <p:txBody>
          <a:bodyPr wrap="square" lIns="0" tIns="0" rIns="0" bIns="0" rtlCol="0" anchor="t"/>
          <a:lstStyle/>
          <a:p>
            <a:pPr marL="0" indent="0">
              <a:buNone/>
            </a:pPr>
            <a:r>
              <a:rPr lang="en-US" sz="3000" b="1" dirty="0">
                <a:solidFill>
                  <a:srgbClr val="1F2430"/>
                </a:solidFill>
                <a:latin typeface="Cambria" pitchFamily="34" charset="0"/>
                <a:ea typeface="Cambria" pitchFamily="34" charset="-122"/>
                <a:cs typeface="Cambria" pitchFamily="34" charset="-120"/>
              </a:rPr>
              <a:t>The four commands you will actually type</a:t>
            </a:r>
            <a:endParaRPr lang="en-US" sz="3000" dirty="0"/>
          </a:p>
        </p:txBody>
      </p:sp>
      <p:sp>
        <p:nvSpPr>
          <p:cNvPr id="6" name="Shape 4"/>
          <p:cNvSpPr/>
          <p:nvPr/>
        </p:nvSpPr>
        <p:spPr>
          <a:xfrm>
            <a:off x="640080" y="1645920"/>
            <a:ext cx="5029200" cy="896112"/>
          </a:xfrm>
          <a:prstGeom prst="roundRect">
            <a:avLst>
              <a:gd name="adj" fmla="val 6122"/>
            </a:avLst>
          </a:prstGeom>
          <a:solidFill>
            <a:srgbClr val="1F2430"/>
          </a:solidFill>
          <a:ln w="12700">
            <a:solidFill>
              <a:srgbClr val="1F2430"/>
            </a:solidFill>
            <a:prstDash val="solid"/>
          </a:ln>
        </p:spPr>
        <p:txBody>
          <a:bodyPr/>
          <a:lstStyle/>
          <a:p>
            <a:endParaRPr lang="en-US"/>
          </a:p>
        </p:txBody>
      </p:sp>
      <p:sp>
        <p:nvSpPr>
          <p:cNvPr id="7" name="Text 5"/>
          <p:cNvSpPr txBox="1"/>
          <p:nvPr/>
        </p:nvSpPr>
        <p:spPr>
          <a:xfrm>
            <a:off x="868680" y="1645920"/>
            <a:ext cx="4572000" cy="896112"/>
          </a:xfrm>
          <a:prstGeom prst="rect">
            <a:avLst/>
          </a:prstGeom>
          <a:noFill/>
          <a:ln/>
        </p:spPr>
        <p:txBody>
          <a:bodyPr wrap="square" lIns="0" tIns="0" rIns="0" bIns="0" rtlCol="0" anchor="ctr"/>
          <a:lstStyle/>
          <a:p>
            <a:pPr marL="0" indent="0">
              <a:buNone/>
            </a:pPr>
            <a:r>
              <a:rPr lang="en-US" sz="1300" dirty="0">
                <a:solidFill>
                  <a:srgbClr val="E6E8EC"/>
                </a:solidFill>
                <a:latin typeface="Courier New" pitchFamily="34" charset="0"/>
                <a:ea typeface="Courier New" pitchFamily="34" charset="-122"/>
                <a:cs typeface="Courier New" pitchFamily="34" charset="-120"/>
              </a:rPr>
              <a:t>$ cmake -S . -B build</a:t>
            </a:r>
            <a:endParaRPr lang="en-US" sz="1300" dirty="0"/>
          </a:p>
        </p:txBody>
      </p:sp>
      <p:sp>
        <p:nvSpPr>
          <p:cNvPr id="8" name="Text 6"/>
          <p:cNvSpPr txBox="1"/>
          <p:nvPr/>
        </p:nvSpPr>
        <p:spPr>
          <a:xfrm>
            <a:off x="5897880" y="1691640"/>
            <a:ext cx="1828800" cy="274320"/>
          </a:xfrm>
          <a:prstGeom prst="rect">
            <a:avLst/>
          </a:prstGeom>
          <a:noFill/>
          <a:ln/>
        </p:spPr>
        <p:txBody>
          <a:bodyPr wrap="square" lIns="0" tIns="0" rIns="0" bIns="0" rtlCol="0" anchor="ctr"/>
          <a:lstStyle/>
          <a:p>
            <a:pPr marL="0" indent="0">
              <a:buNone/>
            </a:pPr>
            <a:r>
              <a:rPr lang="en-US" sz="1100" b="1" kern="0" spc="150" dirty="0">
                <a:solidFill>
                  <a:srgbClr val="EF6C1A"/>
                </a:solidFill>
                <a:latin typeface="Calibri" pitchFamily="34" charset="0"/>
                <a:ea typeface="Calibri" pitchFamily="34" charset="-122"/>
                <a:cs typeface="Calibri" pitchFamily="34" charset="-120"/>
              </a:rPr>
              <a:t>CONFIGURE</a:t>
            </a:r>
            <a:endParaRPr lang="en-US" sz="1100" dirty="0"/>
          </a:p>
        </p:txBody>
      </p:sp>
      <p:sp>
        <p:nvSpPr>
          <p:cNvPr id="9" name="Text 7"/>
          <p:cNvSpPr txBox="1"/>
          <p:nvPr/>
        </p:nvSpPr>
        <p:spPr>
          <a:xfrm>
            <a:off x="5897880" y="1938528"/>
            <a:ext cx="5641848" cy="603504"/>
          </a:xfrm>
          <a:prstGeom prst="rect">
            <a:avLst/>
          </a:prstGeom>
          <a:noFill/>
          <a:ln/>
        </p:spPr>
        <p:txBody>
          <a:bodyPr wrap="square" lIns="0" tIns="0" rIns="0" bIns="0" rtlCol="0" anchor="t"/>
          <a:lstStyle/>
          <a:p>
            <a:pPr marL="0" indent="0">
              <a:lnSpc>
                <a:spcPct val="110000"/>
              </a:lnSpc>
              <a:buNone/>
            </a:pPr>
            <a:r>
              <a:rPr lang="en-US" sz="1200" dirty="0">
                <a:solidFill>
                  <a:srgbClr val="3A4354"/>
                </a:solidFill>
                <a:latin typeface="Calibri" pitchFamily="34" charset="0"/>
                <a:ea typeface="Calibri" pitchFamily="34" charset="-122"/>
                <a:cs typeface="Calibri" pitchFamily="34" charset="-120"/>
              </a:rPr>
              <a:t>Reads CMakeLists.txt, probes the compiler, finds dependencies, writes build/.  Re-runs itself automatically when you edit a CMakeLists.txt.</a:t>
            </a:r>
            <a:endParaRPr lang="en-US" sz="1200" dirty="0"/>
          </a:p>
        </p:txBody>
      </p:sp>
      <p:sp>
        <p:nvSpPr>
          <p:cNvPr id="10" name="Shape 8"/>
          <p:cNvSpPr/>
          <p:nvPr/>
        </p:nvSpPr>
        <p:spPr>
          <a:xfrm>
            <a:off x="640080" y="2779776"/>
            <a:ext cx="5029200" cy="896112"/>
          </a:xfrm>
          <a:prstGeom prst="roundRect">
            <a:avLst>
              <a:gd name="adj" fmla="val 6122"/>
            </a:avLst>
          </a:prstGeom>
          <a:solidFill>
            <a:srgbClr val="1F2430"/>
          </a:solidFill>
          <a:ln w="12700">
            <a:solidFill>
              <a:srgbClr val="1F2430"/>
            </a:solidFill>
            <a:prstDash val="solid"/>
          </a:ln>
        </p:spPr>
        <p:txBody>
          <a:bodyPr/>
          <a:lstStyle/>
          <a:p>
            <a:endParaRPr lang="en-US"/>
          </a:p>
        </p:txBody>
      </p:sp>
      <p:sp>
        <p:nvSpPr>
          <p:cNvPr id="11" name="Text 9"/>
          <p:cNvSpPr txBox="1"/>
          <p:nvPr/>
        </p:nvSpPr>
        <p:spPr>
          <a:xfrm>
            <a:off x="868680" y="2779776"/>
            <a:ext cx="4572000" cy="896112"/>
          </a:xfrm>
          <a:prstGeom prst="rect">
            <a:avLst/>
          </a:prstGeom>
          <a:noFill/>
          <a:ln/>
        </p:spPr>
        <p:txBody>
          <a:bodyPr wrap="square" lIns="0" tIns="0" rIns="0" bIns="0" rtlCol="0" anchor="ctr"/>
          <a:lstStyle/>
          <a:p>
            <a:pPr marL="0" indent="0">
              <a:buNone/>
            </a:pPr>
            <a:r>
              <a:rPr lang="en-US" sz="1300" dirty="0">
                <a:solidFill>
                  <a:srgbClr val="E6E8EC"/>
                </a:solidFill>
                <a:latin typeface="Courier New" pitchFamily="34" charset="0"/>
                <a:ea typeface="Courier New" pitchFamily="34" charset="-122"/>
                <a:cs typeface="Courier New" pitchFamily="34" charset="-120"/>
              </a:rPr>
              <a:t>$ cmake --build build -j 8</a:t>
            </a:r>
            <a:endParaRPr lang="en-US" sz="1300" dirty="0"/>
          </a:p>
        </p:txBody>
      </p:sp>
      <p:sp>
        <p:nvSpPr>
          <p:cNvPr id="12" name="Text 10"/>
          <p:cNvSpPr txBox="1"/>
          <p:nvPr/>
        </p:nvSpPr>
        <p:spPr>
          <a:xfrm>
            <a:off x="5897880" y="2825496"/>
            <a:ext cx="1828800" cy="274320"/>
          </a:xfrm>
          <a:prstGeom prst="rect">
            <a:avLst/>
          </a:prstGeom>
          <a:noFill/>
          <a:ln/>
        </p:spPr>
        <p:txBody>
          <a:bodyPr wrap="square" lIns="0" tIns="0" rIns="0" bIns="0" rtlCol="0" anchor="ctr"/>
          <a:lstStyle/>
          <a:p>
            <a:pPr marL="0" indent="0">
              <a:buNone/>
            </a:pPr>
            <a:r>
              <a:rPr lang="en-US" sz="1100" b="1" kern="0" spc="150" dirty="0">
                <a:solidFill>
                  <a:srgbClr val="EF6C1A"/>
                </a:solidFill>
                <a:latin typeface="Calibri" pitchFamily="34" charset="0"/>
                <a:ea typeface="Calibri" pitchFamily="34" charset="-122"/>
                <a:cs typeface="Calibri" pitchFamily="34" charset="-120"/>
              </a:rPr>
              <a:t>BUILD</a:t>
            </a:r>
            <a:endParaRPr lang="en-US" sz="1100" dirty="0"/>
          </a:p>
        </p:txBody>
      </p:sp>
      <p:sp>
        <p:nvSpPr>
          <p:cNvPr id="13" name="Text 11"/>
          <p:cNvSpPr txBox="1"/>
          <p:nvPr/>
        </p:nvSpPr>
        <p:spPr>
          <a:xfrm>
            <a:off x="5897880" y="3072384"/>
            <a:ext cx="5641848" cy="603504"/>
          </a:xfrm>
          <a:prstGeom prst="rect">
            <a:avLst/>
          </a:prstGeom>
          <a:noFill/>
          <a:ln/>
        </p:spPr>
        <p:txBody>
          <a:bodyPr wrap="square" lIns="0" tIns="0" rIns="0" bIns="0" rtlCol="0" anchor="t"/>
          <a:lstStyle/>
          <a:p>
            <a:pPr marL="0" indent="0">
              <a:lnSpc>
                <a:spcPct val="110000"/>
              </a:lnSpc>
              <a:buNone/>
            </a:pPr>
            <a:r>
              <a:rPr lang="en-US" sz="1200" dirty="0">
                <a:solidFill>
                  <a:srgbClr val="3A4354"/>
                </a:solidFill>
                <a:latin typeface="Calibri" pitchFamily="34" charset="0"/>
                <a:ea typeface="Calibri" pitchFamily="34" charset="-122"/>
                <a:cs typeface="Calibri" pitchFamily="34" charset="-120"/>
              </a:rPr>
              <a:t>Portable wrapper around make / ninja / msbuild. Works the same everywhere, which matters in CI scripts.</a:t>
            </a:r>
            <a:endParaRPr lang="en-US" sz="1200" dirty="0"/>
          </a:p>
        </p:txBody>
      </p:sp>
      <p:sp>
        <p:nvSpPr>
          <p:cNvPr id="14" name="Shape 12"/>
          <p:cNvSpPr/>
          <p:nvPr/>
        </p:nvSpPr>
        <p:spPr>
          <a:xfrm>
            <a:off x="640080" y="3913632"/>
            <a:ext cx="5029200" cy="896112"/>
          </a:xfrm>
          <a:prstGeom prst="roundRect">
            <a:avLst>
              <a:gd name="adj" fmla="val 6122"/>
            </a:avLst>
          </a:prstGeom>
          <a:solidFill>
            <a:srgbClr val="1F2430"/>
          </a:solidFill>
          <a:ln w="12700">
            <a:solidFill>
              <a:srgbClr val="1F2430"/>
            </a:solidFill>
            <a:prstDash val="solid"/>
          </a:ln>
        </p:spPr>
        <p:txBody>
          <a:bodyPr/>
          <a:lstStyle/>
          <a:p>
            <a:endParaRPr lang="en-US"/>
          </a:p>
        </p:txBody>
      </p:sp>
      <p:sp>
        <p:nvSpPr>
          <p:cNvPr id="15" name="Text 13"/>
          <p:cNvSpPr txBox="1"/>
          <p:nvPr/>
        </p:nvSpPr>
        <p:spPr>
          <a:xfrm>
            <a:off x="868680" y="3913632"/>
            <a:ext cx="4572000" cy="896112"/>
          </a:xfrm>
          <a:prstGeom prst="rect">
            <a:avLst/>
          </a:prstGeom>
          <a:noFill/>
          <a:ln/>
        </p:spPr>
        <p:txBody>
          <a:bodyPr wrap="square" lIns="0" tIns="0" rIns="0" bIns="0" rtlCol="0" anchor="ctr"/>
          <a:lstStyle/>
          <a:p>
            <a:pPr marL="0" indent="0">
              <a:buNone/>
            </a:pPr>
            <a:r>
              <a:rPr lang="en-US" sz="1300" dirty="0">
                <a:solidFill>
                  <a:srgbClr val="E6E8EC"/>
                </a:solidFill>
                <a:latin typeface="Courier New" pitchFamily="34" charset="0"/>
                <a:ea typeface="Courier New" pitchFamily="34" charset="-122"/>
                <a:cs typeface="Courier New" pitchFamily="34" charset="-120"/>
              </a:rPr>
              <a:t>$ ctest --test-</a:t>
            </a:r>
            <a:r>
              <a:rPr lang="en-US" sz="1300" dirty="0" err="1">
                <a:solidFill>
                  <a:srgbClr val="E6E8EC"/>
                </a:solidFill>
                <a:latin typeface="Courier New" pitchFamily="34" charset="0"/>
                <a:ea typeface="Courier New" pitchFamily="34" charset="-122"/>
                <a:cs typeface="Courier New" pitchFamily="34" charset="-120"/>
              </a:rPr>
              <a:t>dir</a:t>
            </a:r>
            <a:r>
              <a:rPr lang="en-US" sz="1300" dirty="0">
                <a:solidFill>
                  <a:srgbClr val="E6E8EC"/>
                </a:solidFill>
                <a:latin typeface="Courier New" pitchFamily="34" charset="0"/>
                <a:ea typeface="Courier New" pitchFamily="34" charset="-122"/>
                <a:cs typeface="Courier New" pitchFamily="34" charset="-120"/>
              </a:rPr>
              <a:t> build</a:t>
            </a:r>
            <a:endParaRPr lang="en-US" sz="1300" dirty="0"/>
          </a:p>
        </p:txBody>
      </p:sp>
      <p:sp>
        <p:nvSpPr>
          <p:cNvPr id="16" name="Text 14"/>
          <p:cNvSpPr txBox="1"/>
          <p:nvPr/>
        </p:nvSpPr>
        <p:spPr>
          <a:xfrm>
            <a:off x="5897880" y="3959352"/>
            <a:ext cx="1828800" cy="274320"/>
          </a:xfrm>
          <a:prstGeom prst="rect">
            <a:avLst/>
          </a:prstGeom>
          <a:noFill/>
          <a:ln/>
        </p:spPr>
        <p:txBody>
          <a:bodyPr wrap="square" lIns="0" tIns="0" rIns="0" bIns="0" rtlCol="0" anchor="ctr"/>
          <a:lstStyle/>
          <a:p>
            <a:pPr marL="0" indent="0">
              <a:buNone/>
            </a:pPr>
            <a:r>
              <a:rPr lang="en-US" sz="1100" b="1" kern="0" spc="150" dirty="0">
                <a:solidFill>
                  <a:srgbClr val="EF6C1A"/>
                </a:solidFill>
                <a:latin typeface="Calibri" pitchFamily="34" charset="0"/>
                <a:ea typeface="Calibri" pitchFamily="34" charset="-122"/>
                <a:cs typeface="Calibri" pitchFamily="34" charset="-120"/>
              </a:rPr>
              <a:t>TEST</a:t>
            </a:r>
            <a:endParaRPr lang="en-US" sz="1100" dirty="0"/>
          </a:p>
        </p:txBody>
      </p:sp>
      <p:sp>
        <p:nvSpPr>
          <p:cNvPr id="17" name="Text 15"/>
          <p:cNvSpPr txBox="1"/>
          <p:nvPr/>
        </p:nvSpPr>
        <p:spPr>
          <a:xfrm>
            <a:off x="5897880" y="4206240"/>
            <a:ext cx="5641848" cy="603504"/>
          </a:xfrm>
          <a:prstGeom prst="rect">
            <a:avLst/>
          </a:prstGeom>
          <a:noFill/>
          <a:ln/>
        </p:spPr>
        <p:txBody>
          <a:bodyPr wrap="square" lIns="0" tIns="0" rIns="0" bIns="0" rtlCol="0" anchor="t"/>
          <a:lstStyle/>
          <a:p>
            <a:pPr marL="0" indent="0">
              <a:lnSpc>
                <a:spcPct val="110000"/>
              </a:lnSpc>
              <a:buNone/>
            </a:pPr>
            <a:r>
              <a:rPr lang="en-US" sz="1200" dirty="0">
                <a:solidFill>
                  <a:srgbClr val="3A4354"/>
                </a:solidFill>
                <a:latin typeface="Calibri" pitchFamily="34" charset="0"/>
                <a:ea typeface="Calibri" pitchFamily="34" charset="-122"/>
                <a:cs typeface="Calibri" pitchFamily="34" charset="-120"/>
              </a:rPr>
              <a:t>Runs everything registered with add_test(). Exit code is CI-friendly out of the box.</a:t>
            </a:r>
            <a:endParaRPr lang="en-US" sz="1200" dirty="0"/>
          </a:p>
        </p:txBody>
      </p:sp>
      <p:sp>
        <p:nvSpPr>
          <p:cNvPr id="18" name="Shape 16"/>
          <p:cNvSpPr/>
          <p:nvPr/>
        </p:nvSpPr>
        <p:spPr>
          <a:xfrm>
            <a:off x="640080" y="5047488"/>
            <a:ext cx="5029200" cy="896112"/>
          </a:xfrm>
          <a:prstGeom prst="roundRect">
            <a:avLst>
              <a:gd name="adj" fmla="val 6122"/>
            </a:avLst>
          </a:prstGeom>
          <a:solidFill>
            <a:srgbClr val="1F2430"/>
          </a:solidFill>
          <a:ln w="12700">
            <a:solidFill>
              <a:srgbClr val="1F2430"/>
            </a:solidFill>
            <a:prstDash val="solid"/>
          </a:ln>
        </p:spPr>
        <p:txBody>
          <a:bodyPr/>
          <a:lstStyle/>
          <a:p>
            <a:endParaRPr lang="en-US"/>
          </a:p>
        </p:txBody>
      </p:sp>
      <p:sp>
        <p:nvSpPr>
          <p:cNvPr id="19" name="Text 17"/>
          <p:cNvSpPr txBox="1"/>
          <p:nvPr/>
        </p:nvSpPr>
        <p:spPr>
          <a:xfrm>
            <a:off x="868680" y="5047488"/>
            <a:ext cx="4572000" cy="896112"/>
          </a:xfrm>
          <a:prstGeom prst="rect">
            <a:avLst/>
          </a:prstGeom>
          <a:noFill/>
          <a:ln/>
        </p:spPr>
        <p:txBody>
          <a:bodyPr wrap="square" lIns="0" tIns="0" rIns="0" bIns="0" rtlCol="0" anchor="ctr"/>
          <a:lstStyle/>
          <a:p>
            <a:pPr marL="0" indent="0">
              <a:buNone/>
            </a:pPr>
            <a:r>
              <a:rPr lang="en-US" sz="1300" dirty="0">
                <a:solidFill>
                  <a:srgbClr val="E6E8EC"/>
                </a:solidFill>
                <a:latin typeface="Courier New" pitchFamily="34" charset="0"/>
                <a:ea typeface="Courier New" pitchFamily="34" charset="-122"/>
                <a:cs typeface="Courier New" pitchFamily="34" charset="-120"/>
              </a:rPr>
              <a:t>$ cmake --install build</a:t>
            </a:r>
            <a:endParaRPr lang="en-US" sz="1300" dirty="0"/>
          </a:p>
        </p:txBody>
      </p:sp>
      <p:sp>
        <p:nvSpPr>
          <p:cNvPr id="20" name="Text 18"/>
          <p:cNvSpPr txBox="1"/>
          <p:nvPr/>
        </p:nvSpPr>
        <p:spPr>
          <a:xfrm>
            <a:off x="5897880" y="5093208"/>
            <a:ext cx="1828800" cy="274320"/>
          </a:xfrm>
          <a:prstGeom prst="rect">
            <a:avLst/>
          </a:prstGeom>
          <a:noFill/>
          <a:ln/>
        </p:spPr>
        <p:txBody>
          <a:bodyPr wrap="square" lIns="0" tIns="0" rIns="0" bIns="0" rtlCol="0" anchor="ctr"/>
          <a:lstStyle/>
          <a:p>
            <a:pPr marL="0" indent="0">
              <a:buNone/>
            </a:pPr>
            <a:r>
              <a:rPr lang="en-US" sz="1100" b="1" kern="0" spc="150" dirty="0">
                <a:solidFill>
                  <a:srgbClr val="EF6C1A"/>
                </a:solidFill>
                <a:latin typeface="Calibri" pitchFamily="34" charset="0"/>
                <a:ea typeface="Calibri" pitchFamily="34" charset="-122"/>
                <a:cs typeface="Calibri" pitchFamily="34" charset="-120"/>
              </a:rPr>
              <a:t>INSTALL</a:t>
            </a:r>
            <a:endParaRPr lang="en-US" sz="1100" dirty="0"/>
          </a:p>
        </p:txBody>
      </p:sp>
      <p:sp>
        <p:nvSpPr>
          <p:cNvPr id="21" name="Text 19"/>
          <p:cNvSpPr txBox="1"/>
          <p:nvPr/>
        </p:nvSpPr>
        <p:spPr>
          <a:xfrm>
            <a:off x="5897880" y="5340096"/>
            <a:ext cx="5641848" cy="603504"/>
          </a:xfrm>
          <a:prstGeom prst="rect">
            <a:avLst/>
          </a:prstGeom>
          <a:noFill/>
          <a:ln/>
        </p:spPr>
        <p:txBody>
          <a:bodyPr wrap="square" lIns="0" tIns="0" rIns="0" bIns="0" rtlCol="0" anchor="t"/>
          <a:lstStyle/>
          <a:p>
            <a:pPr marL="0" indent="0">
              <a:lnSpc>
                <a:spcPct val="110000"/>
              </a:lnSpc>
              <a:buNone/>
            </a:pPr>
            <a:r>
              <a:rPr lang="en-US" sz="1200" dirty="0">
                <a:solidFill>
                  <a:srgbClr val="3A4354"/>
                </a:solidFill>
                <a:latin typeface="Calibri" pitchFamily="34" charset="0"/>
                <a:ea typeface="Calibri" pitchFamily="34" charset="-122"/>
                <a:cs typeface="Calibri" pitchFamily="34" charset="-120"/>
              </a:rPr>
              <a:t>Copies libraries, executables, .mod files and the package config to CMAKE_INSTALL_PREFIX. Update RPATH, if necessary.</a:t>
            </a:r>
            <a:endParaRPr lang="en-US" sz="1200" dirty="0"/>
          </a:p>
        </p:txBody>
      </p:sp>
      <p:sp>
        <p:nvSpPr>
          <p:cNvPr id="22" name="Text 20"/>
          <p:cNvSpPr txBox="1"/>
          <p:nvPr/>
        </p:nvSpPr>
        <p:spPr>
          <a:xfrm>
            <a:off x="640080" y="6199632"/>
            <a:ext cx="10881360" cy="292608"/>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-S source dir, -B build dir. Everything else is a -D option on the configure line.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6327648"/>
            <a:ext cx="4572000" cy="274320"/>
          </a:xfrm>
          <a:prstGeom prst="rect">
            <a:avLst/>
          </a:prstGeom>
          <a:noFill/>
          <a:ln/>
        </p:spPr>
        <p:txBody>
          <a:bodyPr wrap="square" lIns="0" tIns="0" rIns="0" bIns="0" rtlCol="0" anchor="ctr"/>
          <a:lstStyle/>
          <a:p>
            <a:pPr marL="0" indent="0">
              <a:buNone/>
            </a:pPr>
            <a:r>
              <a:rPr lang="en-US" sz="1000" dirty="0">
                <a:solidFill>
                  <a:srgbClr val="AEB5BF"/>
                </a:solidFill>
                <a:latin typeface="Calibri" pitchFamily="34" charset="0"/>
                <a:ea typeface="Calibri" pitchFamily="34" charset="-122"/>
                <a:cs typeface="Calibri" pitchFamily="34" charset="-120"/>
              </a:rPr>
              <a:t>CMake for Fortran</a:t>
            </a:r>
            <a:endParaRPr lang="en-US" sz="1000" dirty="0"/>
          </a:p>
        </p:txBody>
      </p:sp>
      <p:sp>
        <p:nvSpPr>
          <p:cNvPr id="3" name="Text 1"/>
          <p:cNvSpPr txBox="1"/>
          <p:nvPr/>
        </p:nvSpPr>
        <p:spPr>
          <a:xfrm>
            <a:off x="10607040" y="6327648"/>
            <a:ext cx="914400" cy="274320"/>
          </a:xfrm>
          <a:prstGeom prst="rect">
            <a:avLst/>
          </a:prstGeom>
          <a:noFill/>
          <a:ln/>
        </p:spPr>
        <p:txBody>
          <a:bodyPr wrap="square" lIns="0" tIns="0" rIns="0" bIns="0" rtlCol="0" anchor="ctr"/>
          <a:lstStyle/>
          <a:p>
            <a:pPr marL="0" indent="0" algn="r">
              <a:buNone/>
            </a:pPr>
            <a:r>
              <a:rPr lang="en-US" sz="1000" dirty="0">
                <a:solidFill>
                  <a:srgbClr val="AEB5BF"/>
                </a:solidFill>
                <a:latin typeface="Calibri" pitchFamily="34" charset="0"/>
                <a:ea typeface="Calibri" pitchFamily="34" charset="-122"/>
                <a:cs typeface="Calibri" pitchFamily="34" charset="-120"/>
              </a:rPr>
              <a:t>9</a:t>
            </a:r>
            <a:endParaRPr lang="en-US" sz="1000" dirty="0"/>
          </a:p>
        </p:txBody>
      </p:sp>
      <p:sp>
        <p:nvSpPr>
          <p:cNvPr id="4" name="Text 2"/>
          <p:cNvSpPr txBox="1"/>
          <p:nvPr/>
        </p:nvSpPr>
        <p:spPr>
          <a:xfrm>
            <a:off x="640080" y="384048"/>
            <a:ext cx="10881360" cy="256032"/>
          </a:xfrm>
          <a:prstGeom prst="rect">
            <a:avLst/>
          </a:prstGeom>
          <a:noFill/>
          <a:ln/>
        </p:spPr>
        <p:txBody>
          <a:bodyPr wrap="square" lIns="0" tIns="0" rIns="0" bIns="0" rtlCol="0" anchor="ctr"/>
          <a:lstStyle/>
          <a:p>
            <a:pPr marL="0" indent="0">
              <a:buNone/>
            </a:pPr>
            <a:r>
              <a:rPr lang="en-US" sz="1100" b="1" kern="0" spc="200" dirty="0">
                <a:solidFill>
                  <a:srgbClr val="EF6C1A"/>
                </a:solidFill>
                <a:latin typeface="Calibri" pitchFamily="34" charset="0"/>
                <a:ea typeface="Calibri" pitchFamily="34" charset="-122"/>
                <a:cs typeface="Calibri" pitchFamily="34" charset="-120"/>
              </a:rPr>
              <a:t>BASICS</a:t>
            </a:r>
            <a:endParaRPr lang="en-US" sz="1100" dirty="0"/>
          </a:p>
        </p:txBody>
      </p:sp>
      <p:sp>
        <p:nvSpPr>
          <p:cNvPr id="5" name="Text 3"/>
          <p:cNvSpPr txBox="1"/>
          <p:nvPr/>
        </p:nvSpPr>
        <p:spPr>
          <a:xfrm>
            <a:off x="640080" y="658368"/>
            <a:ext cx="10881360" cy="658368"/>
          </a:xfrm>
          <a:prstGeom prst="rect">
            <a:avLst/>
          </a:prstGeom>
          <a:noFill/>
          <a:ln/>
        </p:spPr>
        <p:txBody>
          <a:bodyPr wrap="square" lIns="0" tIns="0" rIns="0" bIns="0" rtlCol="0" anchor="t"/>
          <a:lstStyle/>
          <a:p>
            <a:pPr marL="0" indent="0">
              <a:buNone/>
            </a:pPr>
            <a:r>
              <a:rPr lang="en-US" sz="3000" b="1" dirty="0">
                <a:solidFill>
                  <a:srgbClr val="1F2430"/>
                </a:solidFill>
                <a:latin typeface="Cambria" pitchFamily="34" charset="0"/>
                <a:ea typeface="Cambria" pitchFamily="34" charset="-122"/>
                <a:cs typeface="Cambria" pitchFamily="34" charset="-120"/>
              </a:rPr>
              <a:t>Out-of-source builds, and why they are not optional</a:t>
            </a:r>
            <a:endParaRPr lang="en-US" sz="3000" dirty="0"/>
          </a:p>
        </p:txBody>
      </p:sp>
      <p:sp>
        <p:nvSpPr>
          <p:cNvPr id="6" name="Text 4"/>
          <p:cNvSpPr txBox="1"/>
          <p:nvPr/>
        </p:nvSpPr>
        <p:spPr>
          <a:xfrm>
            <a:off x="640080" y="1627632"/>
            <a:ext cx="5394960" cy="274320"/>
          </a:xfrm>
          <a:prstGeom prst="rect">
            <a:avLst/>
          </a:prstGeom>
          <a:noFill/>
          <a:ln/>
        </p:spPr>
        <p:txBody>
          <a:bodyPr wrap="square" lIns="0" tIns="0" rIns="0" bIns="0" rtlCol="0" anchor="ctr"/>
          <a:lstStyle/>
          <a:p>
            <a:pPr marL="0" indent="0">
              <a:buNone/>
            </a:pPr>
            <a:r>
              <a:rPr lang="en-US" sz="1200" b="1" kern="0" spc="100" dirty="0">
                <a:solidFill>
                  <a:srgbClr val="6B7280"/>
                </a:solidFill>
                <a:latin typeface="Calibri" pitchFamily="34" charset="0"/>
                <a:ea typeface="Calibri" pitchFamily="34" charset="-122"/>
                <a:cs typeface="Calibri" pitchFamily="34" charset="-120"/>
              </a:rPr>
              <a:t>SOURCE TREE STAYS CLEAN</a:t>
            </a:r>
            <a:endParaRPr lang="en-US" sz="1200" dirty="0"/>
          </a:p>
        </p:txBody>
      </p:sp>
      <p:sp>
        <p:nvSpPr>
          <p:cNvPr id="7" name="Shape 5"/>
          <p:cNvSpPr/>
          <p:nvPr/>
        </p:nvSpPr>
        <p:spPr>
          <a:xfrm>
            <a:off x="640080" y="1938528"/>
            <a:ext cx="5394960" cy="1971446"/>
          </a:xfrm>
          <a:prstGeom prst="roundRect">
            <a:avLst>
              <a:gd name="adj" fmla="val 3711"/>
            </a:avLst>
          </a:prstGeom>
          <a:solidFill>
            <a:srgbClr val="1F2430"/>
          </a:solidFill>
          <a:ln w="12700">
            <a:solidFill>
              <a:srgbClr val="1F2430"/>
            </a:solidFill>
            <a:prstDash val="solid"/>
          </a:ln>
        </p:spPr>
        <p:txBody>
          <a:bodyPr/>
          <a:lstStyle/>
          <a:p>
            <a:endParaRPr lang="en-US"/>
          </a:p>
        </p:txBody>
      </p:sp>
      <p:sp>
        <p:nvSpPr>
          <p:cNvPr id="8" name="Text 6"/>
          <p:cNvSpPr txBox="1"/>
          <p:nvPr/>
        </p:nvSpPr>
        <p:spPr>
          <a:xfrm>
            <a:off x="841248" y="2084832"/>
            <a:ext cx="4992624" cy="1678838"/>
          </a:xfrm>
          <a:prstGeom prst="rect">
            <a:avLst/>
          </a:prstGeom>
          <a:noFill/>
          <a:ln/>
        </p:spPr>
        <p:txBody>
          <a:bodyPr wrap="square" lIns="0" tIns="0" rIns="0" bIns="0" rtlCol="0" anchor="t"/>
          <a:lstStyle/>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myproject/</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CMakeLists.txt</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src/    app/    test/</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build-gnu-debug/     </a:t>
            </a:r>
            <a:r>
              <a:rPr lang="en-US" sz="1200" i="1" dirty="0">
                <a:solidFill>
                  <a:srgbClr val="8A93A6"/>
                </a:solidFill>
                <a:latin typeface="Courier New" pitchFamily="34" charset="0"/>
                <a:ea typeface="Courier New" pitchFamily="34" charset="-122"/>
                <a:cs typeface="Courier New" pitchFamily="34" charset="-120"/>
              </a:rPr>
              <a:t># throwaway</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build-intel-release/ </a:t>
            </a:r>
            <a:r>
              <a:rPr lang="en-US" sz="1200" i="1" dirty="0">
                <a:solidFill>
                  <a:srgbClr val="8A93A6"/>
                </a:solidFill>
                <a:latin typeface="Courier New" pitchFamily="34" charset="0"/>
                <a:ea typeface="Courier New" pitchFamily="34" charset="-122"/>
                <a:cs typeface="Courier New" pitchFamily="34" charset="-120"/>
              </a:rPr>
              <a:t># throwaway</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a:t>
            </a:r>
            <a:endParaRPr lang="en-US" sz="1200" dirty="0"/>
          </a:p>
          <a:p>
            <a:pPr marL="0" indent="0">
              <a:lnSpc>
                <a:spcPct val="112000"/>
              </a:lnSpc>
              <a:buNone/>
            </a:pPr>
            <a:r>
              <a:rPr lang="en-US" sz="1200" dirty="0">
                <a:solidFill>
                  <a:srgbClr val="F2A65A"/>
                </a:solidFill>
                <a:latin typeface="Courier New" pitchFamily="34" charset="0"/>
                <a:ea typeface="Courier New" pitchFamily="34" charset="-122"/>
                <a:cs typeface="Courier New" pitchFamily="34" charset="-120"/>
              </a:rPr>
              <a:t>$</a:t>
            </a:r>
            <a:r>
              <a:rPr lang="en-US" sz="1200" dirty="0">
                <a:solidFill>
                  <a:srgbClr val="E6E8EC"/>
                </a:solidFill>
                <a:latin typeface="Courier New" pitchFamily="34" charset="0"/>
                <a:ea typeface="Courier New" pitchFamily="34" charset="-122"/>
                <a:cs typeface="Courier New" pitchFamily="34" charset="-120"/>
              </a:rPr>
              <a:t> git status</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nothing to commit, working tree clean</a:t>
            </a:r>
            <a:endParaRPr lang="en-US" sz="1200" dirty="0"/>
          </a:p>
        </p:txBody>
      </p:sp>
      <p:sp>
        <p:nvSpPr>
          <p:cNvPr id="9" name="Text 7"/>
          <p:cNvSpPr txBox="1"/>
          <p:nvPr/>
        </p:nvSpPr>
        <p:spPr>
          <a:xfrm>
            <a:off x="6263640" y="1938528"/>
            <a:ext cx="5257800" cy="3017520"/>
          </a:xfrm>
          <a:prstGeom prst="rect">
            <a:avLst/>
          </a:prstGeom>
          <a:noFill/>
          <a:ln/>
        </p:spPr>
        <p:txBody>
          <a:bodyPr wrap="square" lIns="0" tIns="0" rIns="0" bIns="0" rtlCol="0" anchor="t"/>
          <a:lstStyle/>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Several build trees can share one source tree: gfortran debug and ifx optimised, side by side, no interference.</a:t>
            </a:r>
            <a:endParaRPr lang="en-US" sz="1300" dirty="0"/>
          </a:p>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Deleting build/ is always a safe reset - there is no state anywhere else.</a:t>
            </a:r>
            <a:endParaRPr lang="en-US" sz="1300" dirty="0"/>
          </a:p>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No object files or .mod files to gitignore, and none to accidentally commit.</a:t>
            </a:r>
            <a:endParaRPr lang="en-US" sz="1300" dirty="0"/>
          </a:p>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Different compilers do not fight over incompatible .mod formats in the same directory.</a:t>
            </a:r>
            <a:endParaRPr lang="en-US" sz="1300" dirty="0"/>
          </a:p>
        </p:txBody>
      </p:sp>
      <p:sp>
        <p:nvSpPr>
          <p:cNvPr id="10" name="Shape 8"/>
          <p:cNvSpPr/>
          <p:nvPr/>
        </p:nvSpPr>
        <p:spPr>
          <a:xfrm>
            <a:off x="640080" y="4572000"/>
            <a:ext cx="10881360" cy="960120"/>
          </a:xfrm>
          <a:prstGeom prst="roundRect">
            <a:avLst>
              <a:gd name="adj" fmla="val 5714"/>
            </a:avLst>
          </a:prstGeom>
          <a:solidFill>
            <a:srgbClr val="FBEEE6"/>
          </a:solidFill>
          <a:ln w="12700">
            <a:solidFill>
              <a:srgbClr val="F0CDB4"/>
            </a:solidFill>
            <a:prstDash val="solid"/>
          </a:ln>
        </p:spPr>
        <p:txBody>
          <a:bodyPr/>
          <a:lstStyle/>
          <a:p>
            <a:endParaRPr lang="en-US"/>
          </a:p>
        </p:txBody>
      </p:sp>
      <p:sp>
        <p:nvSpPr>
          <p:cNvPr id="11" name="Text 9"/>
          <p:cNvSpPr txBox="1"/>
          <p:nvPr/>
        </p:nvSpPr>
        <p:spPr>
          <a:xfrm>
            <a:off x="896112" y="4663440"/>
            <a:ext cx="10369296" cy="777240"/>
          </a:xfrm>
          <a:prstGeom prst="rect">
            <a:avLst/>
          </a:prstGeom>
          <a:noFill/>
          <a:ln/>
        </p:spPr>
        <p:txBody>
          <a:bodyPr wrap="square" lIns="0" tIns="0" rIns="0" bIns="0" rtlCol="0" anchor="ctr"/>
          <a:lstStyle/>
          <a:p>
            <a:pPr marL="0" indent="0">
              <a:lnSpc>
                <a:spcPct val="115000"/>
              </a:lnSpc>
              <a:buNone/>
            </a:pPr>
            <a:r>
              <a:rPr lang="en-US" sz="1300" b="1" dirty="0">
                <a:solidFill>
                  <a:srgbClr val="B23A2F"/>
                </a:solidFill>
                <a:latin typeface="Calibri" pitchFamily="34" charset="0"/>
                <a:ea typeface="Calibri" pitchFamily="34" charset="-122"/>
                <a:cs typeface="Calibri" pitchFamily="34" charset="-120"/>
              </a:rPr>
              <a:t>Fortran-specific: </a:t>
            </a:r>
            <a:r>
              <a:rPr lang="en-US" sz="1300" dirty="0">
                <a:solidFill>
                  <a:srgbClr val="3A4354"/>
                </a:solidFill>
                <a:latin typeface="Calibri" pitchFamily="34" charset="0"/>
                <a:ea typeface="Calibri" pitchFamily="34" charset="-122"/>
                <a:cs typeface="Calibri" pitchFamily="34" charset="-120"/>
              </a:rPr>
              <a:t>.mod files are compiler- and often version-specific, and they are generated into the build tree. An in-source build mixes them with your sources and the next compiler you try will pick up the wrong ones. This is the classic "it built yesterday" bug.</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6327648"/>
            <a:ext cx="4572000" cy="274320"/>
          </a:xfrm>
          <a:prstGeom prst="rect">
            <a:avLst/>
          </a:prstGeom>
          <a:noFill/>
          <a:ln/>
        </p:spPr>
        <p:txBody>
          <a:bodyPr wrap="square" lIns="0" tIns="0" rIns="0" bIns="0" rtlCol="0" anchor="ctr"/>
          <a:lstStyle/>
          <a:p>
            <a:pPr marL="0" indent="0">
              <a:buNone/>
            </a:pPr>
            <a:r>
              <a:rPr lang="en-US" sz="1000" dirty="0">
                <a:solidFill>
                  <a:srgbClr val="AEB5BF"/>
                </a:solidFill>
                <a:latin typeface="Calibri" pitchFamily="34" charset="0"/>
                <a:ea typeface="Calibri" pitchFamily="34" charset="-122"/>
                <a:cs typeface="Calibri" pitchFamily="34" charset="-120"/>
              </a:rPr>
              <a:t>CMake for Fortran</a:t>
            </a:r>
            <a:endParaRPr lang="en-US" sz="1000" dirty="0"/>
          </a:p>
        </p:txBody>
      </p:sp>
      <p:sp>
        <p:nvSpPr>
          <p:cNvPr id="3" name="Text 1"/>
          <p:cNvSpPr txBox="1"/>
          <p:nvPr/>
        </p:nvSpPr>
        <p:spPr>
          <a:xfrm>
            <a:off x="10607040" y="6327648"/>
            <a:ext cx="914400" cy="274320"/>
          </a:xfrm>
          <a:prstGeom prst="rect">
            <a:avLst/>
          </a:prstGeom>
          <a:noFill/>
          <a:ln/>
        </p:spPr>
        <p:txBody>
          <a:bodyPr wrap="square" lIns="0" tIns="0" rIns="0" bIns="0" rtlCol="0" anchor="ctr"/>
          <a:lstStyle/>
          <a:p>
            <a:pPr marL="0" indent="0" algn="r">
              <a:buNone/>
            </a:pPr>
            <a:r>
              <a:rPr lang="en-US" sz="1000" dirty="0">
                <a:solidFill>
                  <a:srgbClr val="AEB5BF"/>
                </a:solidFill>
                <a:latin typeface="Calibri" pitchFamily="34" charset="0"/>
                <a:ea typeface="Calibri" pitchFamily="34" charset="-122"/>
                <a:cs typeface="Calibri" pitchFamily="34" charset="-120"/>
              </a:rPr>
              <a:t>10</a:t>
            </a:r>
            <a:endParaRPr lang="en-US" sz="1000" dirty="0"/>
          </a:p>
        </p:txBody>
      </p:sp>
      <p:sp>
        <p:nvSpPr>
          <p:cNvPr id="4" name="Text 2"/>
          <p:cNvSpPr txBox="1"/>
          <p:nvPr/>
        </p:nvSpPr>
        <p:spPr>
          <a:xfrm>
            <a:off x="640080" y="384048"/>
            <a:ext cx="10881360" cy="256032"/>
          </a:xfrm>
          <a:prstGeom prst="rect">
            <a:avLst/>
          </a:prstGeom>
          <a:noFill/>
          <a:ln/>
        </p:spPr>
        <p:txBody>
          <a:bodyPr wrap="square" lIns="0" tIns="0" rIns="0" bIns="0" rtlCol="0" anchor="ctr"/>
          <a:lstStyle/>
          <a:p>
            <a:pPr marL="0" indent="0">
              <a:buNone/>
            </a:pPr>
            <a:r>
              <a:rPr lang="en-US" sz="1100" b="1" kern="0" spc="200" dirty="0">
                <a:solidFill>
                  <a:srgbClr val="EF6C1A"/>
                </a:solidFill>
                <a:latin typeface="Calibri" pitchFamily="34" charset="0"/>
                <a:ea typeface="Calibri" pitchFamily="34" charset="-122"/>
                <a:cs typeface="Calibri" pitchFamily="34" charset="-120"/>
              </a:rPr>
              <a:t>TARGETS</a:t>
            </a:r>
            <a:endParaRPr lang="en-US" sz="1100" dirty="0"/>
          </a:p>
        </p:txBody>
      </p:sp>
      <p:sp>
        <p:nvSpPr>
          <p:cNvPr id="5" name="Text 3"/>
          <p:cNvSpPr txBox="1"/>
          <p:nvPr/>
        </p:nvSpPr>
        <p:spPr>
          <a:xfrm>
            <a:off x="640080" y="658368"/>
            <a:ext cx="10881360" cy="658368"/>
          </a:xfrm>
          <a:prstGeom prst="rect">
            <a:avLst/>
          </a:prstGeom>
          <a:noFill/>
          <a:ln/>
        </p:spPr>
        <p:txBody>
          <a:bodyPr wrap="square" lIns="0" tIns="0" rIns="0" bIns="0" rtlCol="0" anchor="t"/>
          <a:lstStyle/>
          <a:p>
            <a:pPr marL="0" indent="0">
              <a:buNone/>
            </a:pPr>
            <a:r>
              <a:rPr lang="en-US" sz="3000" b="1" dirty="0">
                <a:solidFill>
                  <a:srgbClr val="1F2430"/>
                </a:solidFill>
                <a:latin typeface="Cambria" pitchFamily="34" charset="0"/>
                <a:ea typeface="Cambria" pitchFamily="34" charset="-122"/>
                <a:cs typeface="Cambria" pitchFamily="34" charset="-120"/>
              </a:rPr>
              <a:t>Targets are the unit of everything</a:t>
            </a:r>
            <a:endParaRPr lang="en-US" sz="3000" dirty="0"/>
          </a:p>
        </p:txBody>
      </p:sp>
      <p:sp>
        <p:nvSpPr>
          <p:cNvPr id="6" name="Text 4"/>
          <p:cNvSpPr txBox="1"/>
          <p:nvPr/>
        </p:nvSpPr>
        <p:spPr>
          <a:xfrm>
            <a:off x="640080" y="1572768"/>
            <a:ext cx="10881360" cy="548640"/>
          </a:xfrm>
          <a:prstGeom prst="rect">
            <a:avLst/>
          </a:prstGeom>
          <a:noFill/>
          <a:ln/>
        </p:spPr>
        <p:txBody>
          <a:bodyPr wrap="square" lIns="0" tIns="0" rIns="0" bIns="0" rtlCol="0" anchor="ctr"/>
          <a:lstStyle/>
          <a:p>
            <a:pPr marL="0" indent="0">
              <a:lnSpc>
                <a:spcPct val="120000"/>
              </a:lnSpc>
              <a:buNone/>
            </a:pPr>
            <a:r>
              <a:rPr lang="en-US" sz="1400" dirty="0">
                <a:solidFill>
                  <a:srgbClr val="3A4354"/>
                </a:solidFill>
                <a:latin typeface="Calibri" pitchFamily="34" charset="0"/>
                <a:ea typeface="Calibri" pitchFamily="34" charset="-122"/>
                <a:cs typeface="Calibri" pitchFamily="34" charset="-120"/>
              </a:rPr>
              <a:t>A target is a thing you build - a library or an executable - together with everything a consumer needs to know about it. Once you think in targets rather than in variables and flags, CMake becomes small.</a:t>
            </a:r>
            <a:endParaRPr lang="en-US" sz="1400" dirty="0"/>
          </a:p>
        </p:txBody>
      </p:sp>
      <p:sp>
        <p:nvSpPr>
          <p:cNvPr id="7" name="Shape 5"/>
          <p:cNvSpPr/>
          <p:nvPr/>
        </p:nvSpPr>
        <p:spPr>
          <a:xfrm>
            <a:off x="640080" y="2240280"/>
            <a:ext cx="6675120" cy="2386584"/>
          </a:xfrm>
          <a:prstGeom prst="roundRect">
            <a:avLst>
              <a:gd name="adj" fmla="val 3065"/>
            </a:avLst>
          </a:prstGeom>
          <a:solidFill>
            <a:srgbClr val="1F2430"/>
          </a:solidFill>
          <a:ln w="12700">
            <a:solidFill>
              <a:srgbClr val="1F2430"/>
            </a:solidFill>
            <a:prstDash val="solid"/>
          </a:ln>
        </p:spPr>
        <p:txBody>
          <a:bodyPr/>
          <a:lstStyle/>
          <a:p>
            <a:endParaRPr lang="en-US"/>
          </a:p>
        </p:txBody>
      </p:sp>
      <p:sp>
        <p:nvSpPr>
          <p:cNvPr id="8" name="Text 6"/>
          <p:cNvSpPr txBox="1"/>
          <p:nvPr/>
        </p:nvSpPr>
        <p:spPr>
          <a:xfrm>
            <a:off x="841248" y="2386584"/>
            <a:ext cx="6272784" cy="2093976"/>
          </a:xfrm>
          <a:prstGeom prst="rect">
            <a:avLst/>
          </a:prstGeom>
          <a:noFill/>
          <a:ln/>
        </p:spPr>
        <p:txBody>
          <a:bodyPr wrap="square" lIns="0" tIns="0" rIns="0" bIns="0" rtlCol="0" anchor="t"/>
          <a:lstStyle/>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add_library(geometry</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kinds_mod.f90</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geometry_mod.f90)</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target_include_directories(geometry PUBLIC ...)</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target_compile_options(geometry PRIVATE -Wall)</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target_link_libraries(geometry PUBLIC MPI::MPI_Fortran)</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add_executable(demo main.f90)</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target_link_libraries(demo PRIVATE geometry)  </a:t>
            </a:r>
            <a:r>
              <a:rPr lang="en-US" sz="1200" i="1" dirty="0">
                <a:solidFill>
                  <a:srgbClr val="8A93A6"/>
                </a:solidFill>
                <a:latin typeface="Courier New" pitchFamily="34" charset="0"/>
                <a:ea typeface="Courier New" pitchFamily="34" charset="-122"/>
                <a:cs typeface="Courier New" pitchFamily="34" charset="-120"/>
              </a:rPr>
              <a:t># one line</a:t>
            </a:r>
            <a:endParaRPr lang="en-US" sz="1200" dirty="0"/>
          </a:p>
        </p:txBody>
      </p:sp>
      <p:sp>
        <p:nvSpPr>
          <p:cNvPr id="9" name="Text 7"/>
          <p:cNvSpPr txBox="1"/>
          <p:nvPr/>
        </p:nvSpPr>
        <p:spPr>
          <a:xfrm>
            <a:off x="7498080" y="2331720"/>
            <a:ext cx="4041648" cy="3017520"/>
          </a:xfrm>
          <a:prstGeom prst="rect">
            <a:avLst/>
          </a:prstGeom>
          <a:noFill/>
          <a:ln/>
        </p:spPr>
        <p:txBody>
          <a:bodyPr wrap="square" lIns="0" tIns="0" rIns="0" bIns="0" rtlCol="0" anchor="t"/>
          <a:lstStyle/>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That last line does not just link. It also inherits geometry's include directories, its compile options and its own dependencies.</a:t>
            </a:r>
            <a:endParaRPr lang="en-US" sz="1300" dirty="0"/>
          </a:p>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No global include_directories(). No manually appended CMAKE_Fortran_FLAGS.</a:t>
            </a:r>
            <a:endParaRPr lang="en-US" sz="1300" dirty="0"/>
          </a:p>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Requirements travel with the target that owns them - so nothing leaks into unrelated parts of the build.</a:t>
            </a:r>
            <a:endParaRPr lang="en-US" sz="1300" dirty="0"/>
          </a:p>
        </p:txBody>
      </p:sp>
      <p:sp>
        <p:nvSpPr>
          <p:cNvPr id="10" name="Shape 8"/>
          <p:cNvSpPr/>
          <p:nvPr/>
        </p:nvSpPr>
        <p:spPr>
          <a:xfrm>
            <a:off x="640080" y="5166360"/>
            <a:ext cx="10881360" cy="658368"/>
          </a:xfrm>
          <a:prstGeom prst="roundRect">
            <a:avLst>
              <a:gd name="adj" fmla="val 8333"/>
            </a:avLst>
          </a:prstGeom>
          <a:solidFill>
            <a:srgbClr val="F4F5F7"/>
          </a:solidFill>
          <a:ln w="12700">
            <a:solidFill>
              <a:srgbClr val="E3E6EA"/>
            </a:solidFill>
            <a:prstDash val="solid"/>
          </a:ln>
        </p:spPr>
        <p:txBody>
          <a:bodyPr/>
          <a:lstStyle/>
          <a:p>
            <a:endParaRPr lang="en-US"/>
          </a:p>
        </p:txBody>
      </p:sp>
      <p:sp>
        <p:nvSpPr>
          <p:cNvPr id="11" name="Text 9"/>
          <p:cNvSpPr txBox="1"/>
          <p:nvPr/>
        </p:nvSpPr>
        <p:spPr>
          <a:xfrm>
            <a:off x="896112" y="5166360"/>
            <a:ext cx="10369296" cy="658368"/>
          </a:xfrm>
          <a:prstGeom prst="rect">
            <a:avLst/>
          </a:prstGeom>
          <a:noFill/>
          <a:ln/>
        </p:spPr>
        <p:txBody>
          <a:bodyPr wrap="square" lIns="0" tIns="0" rIns="0" bIns="0" rtlCol="0" anchor="ctr"/>
          <a:lstStyle/>
          <a:p>
            <a:pPr marL="0" indent="0">
              <a:buNone/>
            </a:pPr>
            <a:r>
              <a:rPr lang="en-US" sz="1300" b="1" dirty="0">
                <a:solidFill>
                  <a:srgbClr val="1F2430"/>
                </a:solidFill>
                <a:latin typeface="Calibri" pitchFamily="34" charset="0"/>
                <a:ea typeface="Calibri" pitchFamily="34" charset="-122"/>
                <a:cs typeface="Calibri" pitchFamily="34" charset="-120"/>
              </a:rPr>
              <a:t>Rule of thumb:  </a:t>
            </a:r>
            <a:r>
              <a:rPr lang="en-US" sz="1300" dirty="0">
                <a:solidFill>
                  <a:srgbClr val="3A4354"/>
                </a:solidFill>
                <a:latin typeface="Calibri" pitchFamily="34" charset="0"/>
                <a:ea typeface="Calibri" pitchFamily="34" charset="-122"/>
                <a:cs typeface="Calibri" pitchFamily="34" charset="-120"/>
              </a:rPr>
              <a:t>if a command exists in both a target_* and a bare form, use the target_* form. Bare set(CMAKE_Fortran_FLAGS ...) is the CMake equivalent of a global variable.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6327648"/>
            <a:ext cx="4572000" cy="274320"/>
          </a:xfrm>
          <a:prstGeom prst="rect">
            <a:avLst/>
          </a:prstGeom>
          <a:noFill/>
          <a:ln/>
        </p:spPr>
        <p:txBody>
          <a:bodyPr wrap="square" lIns="0" tIns="0" rIns="0" bIns="0" rtlCol="0" anchor="ctr"/>
          <a:lstStyle/>
          <a:p>
            <a:pPr marL="0" indent="0">
              <a:buNone/>
            </a:pPr>
            <a:r>
              <a:rPr lang="en-US" sz="1000" dirty="0">
                <a:solidFill>
                  <a:srgbClr val="AEB5BF"/>
                </a:solidFill>
                <a:latin typeface="Calibri" pitchFamily="34" charset="0"/>
                <a:ea typeface="Calibri" pitchFamily="34" charset="-122"/>
                <a:cs typeface="Calibri" pitchFamily="34" charset="-120"/>
              </a:rPr>
              <a:t>CMake for Fortran</a:t>
            </a:r>
            <a:endParaRPr lang="en-US" sz="1000" dirty="0"/>
          </a:p>
        </p:txBody>
      </p:sp>
      <p:sp>
        <p:nvSpPr>
          <p:cNvPr id="3" name="Text 1"/>
          <p:cNvSpPr txBox="1"/>
          <p:nvPr/>
        </p:nvSpPr>
        <p:spPr>
          <a:xfrm>
            <a:off x="10607040" y="6327648"/>
            <a:ext cx="914400" cy="274320"/>
          </a:xfrm>
          <a:prstGeom prst="rect">
            <a:avLst/>
          </a:prstGeom>
          <a:noFill/>
          <a:ln/>
        </p:spPr>
        <p:txBody>
          <a:bodyPr wrap="square" lIns="0" tIns="0" rIns="0" bIns="0" rtlCol="0" anchor="ctr"/>
          <a:lstStyle/>
          <a:p>
            <a:pPr marL="0" indent="0" algn="r">
              <a:buNone/>
            </a:pPr>
            <a:r>
              <a:rPr lang="en-US" sz="1000" dirty="0">
                <a:solidFill>
                  <a:srgbClr val="AEB5BF"/>
                </a:solidFill>
                <a:latin typeface="Calibri" pitchFamily="34" charset="0"/>
                <a:ea typeface="Calibri" pitchFamily="34" charset="-122"/>
                <a:cs typeface="Calibri" pitchFamily="34" charset="-120"/>
              </a:rPr>
              <a:t>11</a:t>
            </a:r>
            <a:endParaRPr lang="en-US" sz="1000" dirty="0"/>
          </a:p>
        </p:txBody>
      </p:sp>
      <p:sp>
        <p:nvSpPr>
          <p:cNvPr id="4" name="Text 2"/>
          <p:cNvSpPr txBox="1"/>
          <p:nvPr/>
        </p:nvSpPr>
        <p:spPr>
          <a:xfrm>
            <a:off x="640080" y="384048"/>
            <a:ext cx="10881360" cy="256032"/>
          </a:xfrm>
          <a:prstGeom prst="rect">
            <a:avLst/>
          </a:prstGeom>
          <a:noFill/>
          <a:ln/>
        </p:spPr>
        <p:txBody>
          <a:bodyPr wrap="square" lIns="0" tIns="0" rIns="0" bIns="0" rtlCol="0" anchor="ctr"/>
          <a:lstStyle/>
          <a:p>
            <a:pPr marL="0" indent="0">
              <a:buNone/>
            </a:pPr>
            <a:r>
              <a:rPr lang="en-US" sz="1100" b="1" kern="0" spc="200" dirty="0">
                <a:solidFill>
                  <a:srgbClr val="EF6C1A"/>
                </a:solidFill>
                <a:latin typeface="Calibri" pitchFamily="34" charset="0"/>
                <a:ea typeface="Calibri" pitchFamily="34" charset="-122"/>
                <a:cs typeface="Calibri" pitchFamily="34" charset="-120"/>
              </a:rPr>
              <a:t>TARGETS</a:t>
            </a:r>
            <a:endParaRPr lang="en-US" sz="1100" dirty="0"/>
          </a:p>
        </p:txBody>
      </p:sp>
      <p:sp>
        <p:nvSpPr>
          <p:cNvPr id="5" name="Text 3"/>
          <p:cNvSpPr txBox="1"/>
          <p:nvPr/>
        </p:nvSpPr>
        <p:spPr>
          <a:xfrm>
            <a:off x="640080" y="658368"/>
            <a:ext cx="10881360" cy="658368"/>
          </a:xfrm>
          <a:prstGeom prst="rect">
            <a:avLst/>
          </a:prstGeom>
          <a:noFill/>
          <a:ln/>
        </p:spPr>
        <p:txBody>
          <a:bodyPr wrap="square" lIns="0" tIns="0" rIns="0" bIns="0" rtlCol="0" anchor="t"/>
          <a:lstStyle/>
          <a:p>
            <a:pPr marL="0" indent="0">
              <a:buNone/>
            </a:pPr>
            <a:r>
              <a:rPr lang="en-US" sz="3000" b="1" dirty="0">
                <a:solidFill>
                  <a:srgbClr val="1F2430"/>
                </a:solidFill>
                <a:latin typeface="Cambria" pitchFamily="34" charset="0"/>
                <a:ea typeface="Cambria" pitchFamily="34" charset="-122"/>
                <a:cs typeface="Cambria" pitchFamily="34" charset="-120"/>
              </a:rPr>
              <a:t>PUBLIC, PRIVATE, INTERFACE</a:t>
            </a:r>
            <a:endParaRPr lang="en-US" sz="3000" dirty="0"/>
          </a:p>
        </p:txBody>
      </p:sp>
      <p:sp>
        <p:nvSpPr>
          <p:cNvPr id="6" name="Text 4"/>
          <p:cNvSpPr txBox="1"/>
          <p:nvPr/>
        </p:nvSpPr>
        <p:spPr>
          <a:xfrm>
            <a:off x="640080" y="1572768"/>
            <a:ext cx="10881360" cy="384048"/>
          </a:xfrm>
          <a:prstGeom prst="rect">
            <a:avLst/>
          </a:prstGeom>
          <a:noFill/>
          <a:ln/>
        </p:spPr>
        <p:txBody>
          <a:bodyPr wrap="square" lIns="0" tIns="0" rIns="0" bIns="0" rtlCol="0" anchor="ctr"/>
          <a:lstStyle/>
          <a:p>
            <a:pPr marL="0" indent="0">
              <a:buNone/>
            </a:pPr>
            <a:r>
              <a:rPr lang="en-US" sz="1400" dirty="0">
                <a:solidFill>
                  <a:srgbClr val="3A4354"/>
                </a:solidFill>
                <a:latin typeface="Calibri" pitchFamily="34" charset="0"/>
                <a:ea typeface="Calibri" pitchFamily="34" charset="-122"/>
                <a:cs typeface="Calibri" pitchFamily="34" charset="-120"/>
              </a:rPr>
              <a:t>Every target_* command takes one of three keywords. They answer: does this requirement apply to me, to whoever links me, or to both?</a:t>
            </a:r>
            <a:endParaRPr lang="en-US" sz="1400" dirty="0"/>
          </a:p>
        </p:txBody>
      </p:sp>
      <p:sp>
        <p:nvSpPr>
          <p:cNvPr id="7" name="Shape 5"/>
          <p:cNvSpPr/>
          <p:nvPr/>
        </p:nvSpPr>
        <p:spPr>
          <a:xfrm>
            <a:off x="640080" y="2148840"/>
            <a:ext cx="3447288" cy="2103120"/>
          </a:xfrm>
          <a:prstGeom prst="roundRect">
            <a:avLst>
              <a:gd name="adj" fmla="val 2609"/>
            </a:avLst>
          </a:prstGeom>
          <a:solidFill>
            <a:srgbClr val="F4F5F7"/>
          </a:solidFill>
          <a:ln w="12700">
            <a:solidFill>
              <a:srgbClr val="E3E6EA"/>
            </a:solidFill>
            <a:prstDash val="solid"/>
          </a:ln>
        </p:spPr>
        <p:txBody>
          <a:bodyPr/>
          <a:lstStyle/>
          <a:p>
            <a:endParaRPr lang="en-US"/>
          </a:p>
        </p:txBody>
      </p:sp>
      <p:sp>
        <p:nvSpPr>
          <p:cNvPr id="8" name="Shape 6"/>
          <p:cNvSpPr/>
          <p:nvPr/>
        </p:nvSpPr>
        <p:spPr>
          <a:xfrm>
            <a:off x="896112" y="2377440"/>
            <a:ext cx="1417320" cy="329184"/>
          </a:xfrm>
          <a:prstGeom prst="roundRect">
            <a:avLst>
              <a:gd name="adj" fmla="val 16667"/>
            </a:avLst>
          </a:prstGeom>
          <a:solidFill>
            <a:srgbClr val="B23A2F"/>
          </a:solidFill>
          <a:ln w="12700">
            <a:solidFill>
              <a:srgbClr val="B23A2F"/>
            </a:solidFill>
            <a:prstDash val="solid"/>
          </a:ln>
        </p:spPr>
        <p:txBody>
          <a:bodyPr/>
          <a:lstStyle/>
          <a:p>
            <a:endParaRPr lang="en-US"/>
          </a:p>
        </p:txBody>
      </p:sp>
      <p:sp>
        <p:nvSpPr>
          <p:cNvPr id="9" name="Text 7"/>
          <p:cNvSpPr txBox="1"/>
          <p:nvPr/>
        </p:nvSpPr>
        <p:spPr>
          <a:xfrm>
            <a:off x="896112" y="2377440"/>
            <a:ext cx="1417320"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PRIVATE</a:t>
            </a:r>
            <a:endParaRPr lang="en-US" sz="1100" dirty="0"/>
          </a:p>
        </p:txBody>
      </p:sp>
      <p:sp>
        <p:nvSpPr>
          <p:cNvPr id="10" name="Text 8"/>
          <p:cNvSpPr txBox="1"/>
          <p:nvPr/>
        </p:nvSpPr>
        <p:spPr>
          <a:xfrm>
            <a:off x="896112" y="2816352"/>
            <a:ext cx="2935224" cy="310896"/>
          </a:xfrm>
          <a:prstGeom prst="rect">
            <a:avLst/>
          </a:prstGeom>
          <a:noFill/>
          <a:ln/>
        </p:spPr>
        <p:txBody>
          <a:bodyPr wrap="square" lIns="0" tIns="0" rIns="0" bIns="0" rtlCol="0" anchor="ctr"/>
          <a:lstStyle/>
          <a:p>
            <a:pPr marL="0" indent="0">
              <a:buNone/>
            </a:pPr>
            <a:r>
              <a:rPr lang="en-US" sz="1400" b="1" dirty="0">
                <a:solidFill>
                  <a:srgbClr val="1F2430"/>
                </a:solidFill>
                <a:latin typeface="Calibri" pitchFamily="34" charset="0"/>
                <a:ea typeface="Calibri" pitchFamily="34" charset="-122"/>
                <a:cs typeface="Calibri" pitchFamily="34" charset="-120"/>
              </a:rPr>
              <a:t>Me only</a:t>
            </a:r>
            <a:endParaRPr lang="en-US" sz="1400" dirty="0"/>
          </a:p>
        </p:txBody>
      </p:sp>
      <p:sp>
        <p:nvSpPr>
          <p:cNvPr id="11" name="Text 9"/>
          <p:cNvSpPr txBox="1"/>
          <p:nvPr/>
        </p:nvSpPr>
        <p:spPr>
          <a:xfrm>
            <a:off x="896112" y="3182112"/>
            <a:ext cx="2935224" cy="868680"/>
          </a:xfrm>
          <a:prstGeom prst="rect">
            <a:avLst/>
          </a:prstGeom>
          <a:noFill/>
          <a:ln/>
        </p:spPr>
        <p:txBody>
          <a:bodyPr wrap="square" lIns="0" tIns="0" rIns="0" bIns="0" rtlCol="0" anchor="t"/>
          <a:lstStyle/>
          <a:p>
            <a:pPr marL="0" indent="0">
              <a:lnSpc>
                <a:spcPct val="115000"/>
              </a:lnSpc>
              <a:buNone/>
            </a:pPr>
            <a:r>
              <a:rPr lang="en-US" sz="1250" dirty="0">
                <a:solidFill>
                  <a:srgbClr val="3A4354"/>
                </a:solidFill>
                <a:latin typeface="Calibri" pitchFamily="34" charset="0"/>
                <a:ea typeface="Calibri" pitchFamily="34" charset="-122"/>
                <a:cs typeface="Calibri" pitchFamily="34" charset="-120"/>
              </a:rPr>
              <a:t>Implementation detail. A warning flag, an internal header path, a library only my .f90 files call.</a:t>
            </a:r>
            <a:endParaRPr lang="en-US" sz="1250" dirty="0"/>
          </a:p>
        </p:txBody>
      </p:sp>
      <p:sp>
        <p:nvSpPr>
          <p:cNvPr id="12" name="Shape 10"/>
          <p:cNvSpPr/>
          <p:nvPr/>
        </p:nvSpPr>
        <p:spPr>
          <a:xfrm>
            <a:off x="4361688" y="2148840"/>
            <a:ext cx="3447288" cy="2103120"/>
          </a:xfrm>
          <a:prstGeom prst="roundRect">
            <a:avLst>
              <a:gd name="adj" fmla="val 2609"/>
            </a:avLst>
          </a:prstGeom>
          <a:solidFill>
            <a:srgbClr val="F4F5F7"/>
          </a:solidFill>
          <a:ln w="12700">
            <a:solidFill>
              <a:srgbClr val="E3E6EA"/>
            </a:solidFill>
            <a:prstDash val="solid"/>
          </a:ln>
        </p:spPr>
        <p:txBody>
          <a:bodyPr/>
          <a:lstStyle/>
          <a:p>
            <a:endParaRPr lang="en-US"/>
          </a:p>
        </p:txBody>
      </p:sp>
      <p:sp>
        <p:nvSpPr>
          <p:cNvPr id="13" name="Shape 11"/>
          <p:cNvSpPr/>
          <p:nvPr/>
        </p:nvSpPr>
        <p:spPr>
          <a:xfrm>
            <a:off x="4617720" y="2377440"/>
            <a:ext cx="1417320" cy="329184"/>
          </a:xfrm>
          <a:prstGeom prst="roundRect">
            <a:avLst>
              <a:gd name="adj" fmla="val 16667"/>
            </a:avLst>
          </a:prstGeom>
          <a:solidFill>
            <a:srgbClr val="2E7D5B"/>
          </a:solidFill>
          <a:ln w="12700">
            <a:solidFill>
              <a:srgbClr val="2E7D5B"/>
            </a:solidFill>
            <a:prstDash val="solid"/>
          </a:ln>
        </p:spPr>
        <p:txBody>
          <a:bodyPr/>
          <a:lstStyle/>
          <a:p>
            <a:endParaRPr lang="en-US"/>
          </a:p>
        </p:txBody>
      </p:sp>
      <p:sp>
        <p:nvSpPr>
          <p:cNvPr id="14" name="Text 12"/>
          <p:cNvSpPr txBox="1"/>
          <p:nvPr/>
        </p:nvSpPr>
        <p:spPr>
          <a:xfrm>
            <a:off x="4617720" y="2377440"/>
            <a:ext cx="1417320"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PUBLIC</a:t>
            </a:r>
            <a:endParaRPr lang="en-US" sz="1100" dirty="0"/>
          </a:p>
        </p:txBody>
      </p:sp>
      <p:sp>
        <p:nvSpPr>
          <p:cNvPr id="15" name="Text 13"/>
          <p:cNvSpPr txBox="1"/>
          <p:nvPr/>
        </p:nvSpPr>
        <p:spPr>
          <a:xfrm>
            <a:off x="4617720" y="2816352"/>
            <a:ext cx="2935224" cy="310896"/>
          </a:xfrm>
          <a:prstGeom prst="rect">
            <a:avLst/>
          </a:prstGeom>
          <a:noFill/>
          <a:ln/>
        </p:spPr>
        <p:txBody>
          <a:bodyPr wrap="square" lIns="0" tIns="0" rIns="0" bIns="0" rtlCol="0" anchor="ctr"/>
          <a:lstStyle/>
          <a:p>
            <a:pPr marL="0" indent="0">
              <a:buNone/>
            </a:pPr>
            <a:r>
              <a:rPr lang="en-US" sz="1400" b="1" dirty="0">
                <a:solidFill>
                  <a:srgbClr val="1F2430"/>
                </a:solidFill>
                <a:latin typeface="Calibri" pitchFamily="34" charset="0"/>
                <a:ea typeface="Calibri" pitchFamily="34" charset="-122"/>
                <a:cs typeface="Calibri" pitchFamily="34" charset="-120"/>
              </a:rPr>
              <a:t>Me and my consumers</a:t>
            </a:r>
            <a:endParaRPr lang="en-US" sz="1400" dirty="0"/>
          </a:p>
        </p:txBody>
      </p:sp>
      <p:sp>
        <p:nvSpPr>
          <p:cNvPr id="16" name="Text 14"/>
          <p:cNvSpPr txBox="1"/>
          <p:nvPr/>
        </p:nvSpPr>
        <p:spPr>
          <a:xfrm>
            <a:off x="4617720" y="3182112"/>
            <a:ext cx="2935224" cy="868680"/>
          </a:xfrm>
          <a:prstGeom prst="rect">
            <a:avLst/>
          </a:prstGeom>
          <a:noFill/>
          <a:ln/>
        </p:spPr>
        <p:txBody>
          <a:bodyPr wrap="square" lIns="0" tIns="0" rIns="0" bIns="0" rtlCol="0" anchor="t"/>
          <a:lstStyle/>
          <a:p>
            <a:pPr marL="0" indent="0">
              <a:lnSpc>
                <a:spcPct val="115000"/>
              </a:lnSpc>
              <a:buNone/>
            </a:pPr>
            <a:r>
              <a:rPr lang="en-US" sz="1250" dirty="0">
                <a:solidFill>
                  <a:srgbClr val="3A4354"/>
                </a:solidFill>
                <a:latin typeface="Calibri" pitchFamily="34" charset="0"/>
                <a:ea typeface="Calibri" pitchFamily="34" charset="-122"/>
                <a:cs typeface="Calibri" pitchFamily="34" charset="-120"/>
              </a:rPr>
              <a:t>Appears in my interface. The directory holding my .mod files, a downstream dependency my module exposes.</a:t>
            </a:r>
            <a:endParaRPr lang="en-US" sz="1250" dirty="0"/>
          </a:p>
        </p:txBody>
      </p:sp>
      <p:sp>
        <p:nvSpPr>
          <p:cNvPr id="17" name="Shape 15"/>
          <p:cNvSpPr/>
          <p:nvPr/>
        </p:nvSpPr>
        <p:spPr>
          <a:xfrm>
            <a:off x="8083296" y="2148840"/>
            <a:ext cx="3447288" cy="2103120"/>
          </a:xfrm>
          <a:prstGeom prst="roundRect">
            <a:avLst>
              <a:gd name="adj" fmla="val 2609"/>
            </a:avLst>
          </a:prstGeom>
          <a:solidFill>
            <a:srgbClr val="F4F5F7"/>
          </a:solidFill>
          <a:ln w="12700">
            <a:solidFill>
              <a:srgbClr val="E3E6EA"/>
            </a:solidFill>
            <a:prstDash val="solid"/>
          </a:ln>
        </p:spPr>
        <p:txBody>
          <a:bodyPr/>
          <a:lstStyle/>
          <a:p>
            <a:endParaRPr lang="en-US"/>
          </a:p>
        </p:txBody>
      </p:sp>
      <p:sp>
        <p:nvSpPr>
          <p:cNvPr id="18" name="Shape 16"/>
          <p:cNvSpPr/>
          <p:nvPr/>
        </p:nvSpPr>
        <p:spPr>
          <a:xfrm>
            <a:off x="8339328" y="2377440"/>
            <a:ext cx="1417320" cy="329184"/>
          </a:xfrm>
          <a:prstGeom prst="roundRect">
            <a:avLst>
              <a:gd name="adj" fmla="val 16667"/>
            </a:avLst>
          </a:prstGeom>
          <a:solidFill>
            <a:srgbClr val="EF6C1A"/>
          </a:solidFill>
          <a:ln w="12700">
            <a:solidFill>
              <a:srgbClr val="EF6C1A"/>
            </a:solidFill>
            <a:prstDash val="solid"/>
          </a:ln>
        </p:spPr>
        <p:txBody>
          <a:bodyPr/>
          <a:lstStyle/>
          <a:p>
            <a:endParaRPr lang="en-US"/>
          </a:p>
        </p:txBody>
      </p:sp>
      <p:sp>
        <p:nvSpPr>
          <p:cNvPr id="19" name="Text 17"/>
          <p:cNvSpPr txBox="1"/>
          <p:nvPr/>
        </p:nvSpPr>
        <p:spPr>
          <a:xfrm>
            <a:off x="8339328" y="2377440"/>
            <a:ext cx="1417320"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INTERFACE</a:t>
            </a:r>
            <a:endParaRPr lang="en-US" sz="1100" dirty="0"/>
          </a:p>
        </p:txBody>
      </p:sp>
      <p:sp>
        <p:nvSpPr>
          <p:cNvPr id="20" name="Text 18"/>
          <p:cNvSpPr txBox="1"/>
          <p:nvPr/>
        </p:nvSpPr>
        <p:spPr>
          <a:xfrm>
            <a:off x="8339328" y="2816352"/>
            <a:ext cx="2935224" cy="310896"/>
          </a:xfrm>
          <a:prstGeom prst="rect">
            <a:avLst/>
          </a:prstGeom>
          <a:noFill/>
          <a:ln/>
        </p:spPr>
        <p:txBody>
          <a:bodyPr wrap="square" lIns="0" tIns="0" rIns="0" bIns="0" rtlCol="0" anchor="ctr"/>
          <a:lstStyle/>
          <a:p>
            <a:pPr marL="0" indent="0">
              <a:buNone/>
            </a:pPr>
            <a:r>
              <a:rPr lang="en-US" sz="1400" b="1" dirty="0">
                <a:solidFill>
                  <a:srgbClr val="1F2430"/>
                </a:solidFill>
                <a:latin typeface="Calibri" pitchFamily="34" charset="0"/>
                <a:ea typeface="Calibri" pitchFamily="34" charset="-122"/>
                <a:cs typeface="Calibri" pitchFamily="34" charset="-120"/>
              </a:rPr>
              <a:t>Consumers only</a:t>
            </a:r>
            <a:endParaRPr lang="en-US" sz="1400" dirty="0"/>
          </a:p>
        </p:txBody>
      </p:sp>
      <p:sp>
        <p:nvSpPr>
          <p:cNvPr id="21" name="Text 19"/>
          <p:cNvSpPr txBox="1"/>
          <p:nvPr/>
        </p:nvSpPr>
        <p:spPr>
          <a:xfrm>
            <a:off x="8339328" y="3182112"/>
            <a:ext cx="2935224" cy="868680"/>
          </a:xfrm>
          <a:prstGeom prst="rect">
            <a:avLst/>
          </a:prstGeom>
          <a:noFill/>
          <a:ln/>
        </p:spPr>
        <p:txBody>
          <a:bodyPr wrap="square" lIns="0" tIns="0" rIns="0" bIns="0" rtlCol="0" anchor="t"/>
          <a:lstStyle/>
          <a:p>
            <a:pPr marL="0" indent="0">
              <a:lnSpc>
                <a:spcPct val="115000"/>
              </a:lnSpc>
              <a:buNone/>
            </a:pPr>
            <a:r>
              <a:rPr lang="en-US" sz="1250" dirty="0">
                <a:solidFill>
                  <a:srgbClr val="3A4354"/>
                </a:solidFill>
                <a:latin typeface="Calibri" pitchFamily="34" charset="0"/>
                <a:ea typeface="Calibri" pitchFamily="34" charset="-122"/>
                <a:cs typeface="Calibri" pitchFamily="34" charset="-120"/>
              </a:rPr>
              <a:t>I do not need it, but anyone linking me does. Also how header-only / compile-flag-only targets work.</a:t>
            </a:r>
            <a:endParaRPr lang="en-US" sz="1250" dirty="0"/>
          </a:p>
        </p:txBody>
      </p:sp>
      <p:sp>
        <p:nvSpPr>
          <p:cNvPr id="22" name="Shape 20"/>
          <p:cNvSpPr/>
          <p:nvPr/>
        </p:nvSpPr>
        <p:spPr>
          <a:xfrm>
            <a:off x="640080" y="4480560"/>
            <a:ext cx="10881360" cy="933602"/>
          </a:xfrm>
          <a:prstGeom prst="roundRect">
            <a:avLst>
              <a:gd name="adj" fmla="val 7835"/>
            </a:avLst>
          </a:prstGeom>
          <a:solidFill>
            <a:srgbClr val="1F2430"/>
          </a:solidFill>
          <a:ln w="12700">
            <a:solidFill>
              <a:srgbClr val="1F2430"/>
            </a:solidFill>
            <a:prstDash val="solid"/>
          </a:ln>
        </p:spPr>
        <p:txBody>
          <a:bodyPr/>
          <a:lstStyle/>
          <a:p>
            <a:endParaRPr lang="en-US"/>
          </a:p>
        </p:txBody>
      </p:sp>
      <p:sp>
        <p:nvSpPr>
          <p:cNvPr id="23" name="Text 21"/>
          <p:cNvSpPr txBox="1"/>
          <p:nvPr/>
        </p:nvSpPr>
        <p:spPr>
          <a:xfrm>
            <a:off x="841248" y="4626864"/>
            <a:ext cx="10479024" cy="640994"/>
          </a:xfrm>
          <a:prstGeom prst="rect">
            <a:avLst/>
          </a:prstGeom>
          <a:noFill/>
          <a:ln/>
        </p:spPr>
        <p:txBody>
          <a:bodyPr wrap="square" lIns="0" tIns="0" rIns="0" bIns="0" rtlCol="0" anchor="t"/>
          <a:lstStyle/>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target_include_directories(geometry PUBLIC</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$&lt;BUILD_INTERFACE:${CMAKE_Fortran_MODULE_DIRECTORY}&gt;   </a:t>
            </a:r>
            <a:r>
              <a:rPr lang="en-US" sz="1200" i="1" dirty="0">
                <a:solidFill>
                  <a:srgbClr val="8A93A6"/>
                </a:solidFill>
                <a:latin typeface="Courier New" pitchFamily="34" charset="0"/>
                <a:ea typeface="Courier New" pitchFamily="34" charset="-122"/>
                <a:cs typeface="Courier New" pitchFamily="34" charset="-120"/>
              </a:rPr>
              <a:t># where .mod files are while building</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$&lt;INSTALL_INTERFACE:${CMAKE_INSTALL_INCLUDEDIR}&gt;)      </a:t>
            </a:r>
            <a:r>
              <a:rPr lang="en-US" sz="1200" i="1" dirty="0">
                <a:solidFill>
                  <a:srgbClr val="8A93A6"/>
                </a:solidFill>
                <a:latin typeface="Courier New" pitchFamily="34" charset="0"/>
                <a:ea typeface="Courier New" pitchFamily="34" charset="-122"/>
                <a:cs typeface="Courier New" pitchFamily="34" charset="-120"/>
              </a:rPr>
              <a:t># where they are after installing</a:t>
            </a:r>
            <a:endParaRPr lang="en-US" sz="1200" dirty="0"/>
          </a:p>
        </p:txBody>
      </p:sp>
      <p:sp>
        <p:nvSpPr>
          <p:cNvPr id="24" name="Text 22"/>
          <p:cNvSpPr txBox="1"/>
          <p:nvPr/>
        </p:nvSpPr>
        <p:spPr>
          <a:xfrm>
            <a:off x="640080" y="5532120"/>
            <a:ext cx="10881360" cy="292608"/>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$&lt;...&gt; is a generator expression - evaluated when the build files are written, not when CMake reads the line.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6327648"/>
            <a:ext cx="4572000" cy="274320"/>
          </a:xfrm>
          <a:prstGeom prst="rect">
            <a:avLst/>
          </a:prstGeom>
          <a:noFill/>
          <a:ln/>
        </p:spPr>
        <p:txBody>
          <a:bodyPr wrap="square" lIns="0" tIns="0" rIns="0" bIns="0" rtlCol="0" anchor="ctr"/>
          <a:lstStyle/>
          <a:p>
            <a:pPr marL="0" indent="0">
              <a:buNone/>
            </a:pPr>
            <a:r>
              <a:rPr lang="en-US" sz="1000" dirty="0">
                <a:solidFill>
                  <a:srgbClr val="AEB5BF"/>
                </a:solidFill>
                <a:latin typeface="Calibri" pitchFamily="34" charset="0"/>
                <a:ea typeface="Calibri" pitchFamily="34" charset="-122"/>
                <a:cs typeface="Calibri" pitchFamily="34" charset="-120"/>
              </a:rPr>
              <a:t>CMake for Fortran</a:t>
            </a:r>
            <a:endParaRPr lang="en-US" sz="1000" dirty="0"/>
          </a:p>
        </p:txBody>
      </p:sp>
      <p:sp>
        <p:nvSpPr>
          <p:cNvPr id="3" name="Text 1"/>
          <p:cNvSpPr txBox="1"/>
          <p:nvPr/>
        </p:nvSpPr>
        <p:spPr>
          <a:xfrm>
            <a:off x="10607040" y="6327648"/>
            <a:ext cx="914400" cy="274320"/>
          </a:xfrm>
          <a:prstGeom prst="rect">
            <a:avLst/>
          </a:prstGeom>
          <a:noFill/>
          <a:ln/>
        </p:spPr>
        <p:txBody>
          <a:bodyPr wrap="square" lIns="0" tIns="0" rIns="0" bIns="0" rtlCol="0" anchor="ctr"/>
          <a:lstStyle/>
          <a:p>
            <a:pPr marL="0" indent="0" algn="r">
              <a:buNone/>
            </a:pPr>
            <a:r>
              <a:rPr lang="en-US" sz="1000" dirty="0">
                <a:solidFill>
                  <a:srgbClr val="AEB5BF"/>
                </a:solidFill>
                <a:latin typeface="Calibri" pitchFamily="34" charset="0"/>
                <a:ea typeface="Calibri" pitchFamily="34" charset="-122"/>
                <a:cs typeface="Calibri" pitchFamily="34" charset="-120"/>
              </a:rPr>
              <a:t>12</a:t>
            </a:r>
            <a:endParaRPr lang="en-US" sz="1000" dirty="0"/>
          </a:p>
        </p:txBody>
      </p:sp>
      <p:sp>
        <p:nvSpPr>
          <p:cNvPr id="4" name="Text 2"/>
          <p:cNvSpPr txBox="1"/>
          <p:nvPr/>
        </p:nvSpPr>
        <p:spPr>
          <a:xfrm>
            <a:off x="640080" y="384048"/>
            <a:ext cx="10881360" cy="256032"/>
          </a:xfrm>
          <a:prstGeom prst="rect">
            <a:avLst/>
          </a:prstGeom>
          <a:noFill/>
          <a:ln/>
        </p:spPr>
        <p:txBody>
          <a:bodyPr wrap="square" lIns="0" tIns="0" rIns="0" bIns="0" rtlCol="0" anchor="ctr"/>
          <a:lstStyle/>
          <a:p>
            <a:pPr marL="0" indent="0">
              <a:buNone/>
            </a:pPr>
            <a:r>
              <a:rPr lang="en-US" sz="1100" b="1" kern="0" spc="200" dirty="0">
                <a:solidFill>
                  <a:srgbClr val="EF6C1A"/>
                </a:solidFill>
                <a:latin typeface="Calibri" pitchFamily="34" charset="0"/>
                <a:ea typeface="Calibri" pitchFamily="34" charset="-122"/>
                <a:cs typeface="Calibri" pitchFamily="34" charset="-120"/>
              </a:rPr>
              <a:t>FORTRAN</a:t>
            </a:r>
            <a:endParaRPr lang="en-US" sz="1100" dirty="0"/>
          </a:p>
        </p:txBody>
      </p:sp>
      <p:sp>
        <p:nvSpPr>
          <p:cNvPr id="5" name="Text 3"/>
          <p:cNvSpPr txBox="1"/>
          <p:nvPr/>
        </p:nvSpPr>
        <p:spPr>
          <a:xfrm>
            <a:off x="640080" y="658368"/>
            <a:ext cx="10881360" cy="658368"/>
          </a:xfrm>
          <a:prstGeom prst="rect">
            <a:avLst/>
          </a:prstGeom>
          <a:noFill/>
          <a:ln/>
        </p:spPr>
        <p:txBody>
          <a:bodyPr wrap="square" lIns="0" tIns="0" rIns="0" bIns="0" rtlCol="0" anchor="t"/>
          <a:lstStyle/>
          <a:p>
            <a:pPr marL="0" indent="0">
              <a:buNone/>
            </a:pPr>
            <a:r>
              <a:rPr lang="en-US" sz="3000" b="1" dirty="0">
                <a:solidFill>
                  <a:srgbClr val="1F2430"/>
                </a:solidFill>
                <a:latin typeface="Cambria" pitchFamily="34" charset="0"/>
                <a:ea typeface="Cambria" pitchFamily="34" charset="-122"/>
                <a:cs typeface="Cambria" pitchFamily="34" charset="-120"/>
              </a:rPr>
              <a:t>The module problem, solved</a:t>
            </a:r>
            <a:endParaRPr lang="en-US" sz="3000" dirty="0"/>
          </a:p>
        </p:txBody>
      </p:sp>
      <p:sp>
        <p:nvSpPr>
          <p:cNvPr id="6" name="Text 4"/>
          <p:cNvSpPr txBox="1"/>
          <p:nvPr/>
        </p:nvSpPr>
        <p:spPr>
          <a:xfrm>
            <a:off x="640080" y="1600200"/>
            <a:ext cx="5577840" cy="274320"/>
          </a:xfrm>
          <a:prstGeom prst="rect">
            <a:avLst/>
          </a:prstGeom>
          <a:noFill/>
          <a:ln/>
        </p:spPr>
        <p:txBody>
          <a:bodyPr wrap="square" lIns="0" tIns="0" rIns="0" bIns="0" rtlCol="0" anchor="ctr"/>
          <a:lstStyle/>
          <a:p>
            <a:pPr marL="0" indent="0">
              <a:buNone/>
            </a:pPr>
            <a:r>
              <a:rPr lang="en-US" sz="1200" b="1" kern="0" spc="100" dirty="0">
                <a:solidFill>
                  <a:srgbClr val="B23A2F"/>
                </a:solidFill>
                <a:latin typeface="Calibri" pitchFamily="34" charset="0"/>
                <a:ea typeface="Calibri" pitchFamily="34" charset="-122"/>
                <a:cs typeface="Calibri" pitchFamily="34" charset="-120"/>
              </a:rPr>
              <a:t>SOURCES LISTED IN DELIBERATELY WRONG ORDER</a:t>
            </a:r>
            <a:endParaRPr lang="en-US" sz="1200" dirty="0"/>
          </a:p>
        </p:txBody>
      </p:sp>
      <p:sp>
        <p:nvSpPr>
          <p:cNvPr id="7" name="Shape 5"/>
          <p:cNvSpPr/>
          <p:nvPr/>
        </p:nvSpPr>
        <p:spPr>
          <a:xfrm>
            <a:off x="640080" y="1920240"/>
            <a:ext cx="5577840" cy="1348740"/>
          </a:xfrm>
          <a:prstGeom prst="roundRect">
            <a:avLst>
              <a:gd name="adj" fmla="val 5424"/>
            </a:avLst>
          </a:prstGeom>
          <a:solidFill>
            <a:srgbClr val="1F2430"/>
          </a:solidFill>
          <a:ln w="12700">
            <a:solidFill>
              <a:srgbClr val="1F2430"/>
            </a:solidFill>
            <a:prstDash val="solid"/>
          </a:ln>
        </p:spPr>
        <p:txBody>
          <a:bodyPr/>
          <a:lstStyle/>
          <a:p>
            <a:endParaRPr lang="en-US"/>
          </a:p>
        </p:txBody>
      </p:sp>
      <p:sp>
        <p:nvSpPr>
          <p:cNvPr id="8" name="Text 6"/>
          <p:cNvSpPr txBox="1"/>
          <p:nvPr/>
        </p:nvSpPr>
        <p:spPr>
          <a:xfrm>
            <a:off x="841248" y="2066544"/>
            <a:ext cx="5175504" cy="1056132"/>
          </a:xfrm>
          <a:prstGeom prst="rect">
            <a:avLst/>
          </a:prstGeom>
          <a:noFill/>
          <a:ln/>
        </p:spPr>
        <p:txBody>
          <a:bodyPr wrap="square" lIns="0" tIns="0" rIns="0" bIns="0" rtlCol="0" anchor="t"/>
          <a:lstStyle/>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add_library(fortrandemo</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demo_mod.f90       </a:t>
            </a:r>
            <a:r>
              <a:rPr lang="en-US" sz="1200" i="1" dirty="0">
                <a:solidFill>
                  <a:srgbClr val="8A93A6"/>
                </a:solidFill>
                <a:latin typeface="Courier New" pitchFamily="34" charset="0"/>
                <a:ea typeface="Courier New" pitchFamily="34" charset="-122"/>
                <a:cs typeface="Courier New" pitchFamily="34" charset="-120"/>
              </a:rPr>
              <a:t># USEs geometry, stats</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stats_mod.f90      </a:t>
            </a:r>
            <a:r>
              <a:rPr lang="en-US" sz="1200" i="1" dirty="0">
                <a:solidFill>
                  <a:srgbClr val="8A93A6"/>
                </a:solidFill>
                <a:latin typeface="Courier New" pitchFamily="34" charset="0"/>
                <a:ea typeface="Courier New" pitchFamily="34" charset="-122"/>
                <a:cs typeface="Courier New" pitchFamily="34" charset="-120"/>
              </a:rPr>
              <a:t># USEs kinds</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geometry_mod.f90   </a:t>
            </a:r>
            <a:r>
              <a:rPr lang="en-US" sz="1200" i="1" dirty="0">
                <a:solidFill>
                  <a:srgbClr val="8A93A6"/>
                </a:solidFill>
                <a:latin typeface="Courier New" pitchFamily="34" charset="0"/>
                <a:ea typeface="Courier New" pitchFamily="34" charset="-122"/>
                <a:cs typeface="Courier New" pitchFamily="34" charset="-120"/>
              </a:rPr>
              <a:t># USEs kinds</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kinds_mod.f90)     </a:t>
            </a:r>
            <a:r>
              <a:rPr lang="en-US" sz="1200" i="1" dirty="0">
                <a:solidFill>
                  <a:srgbClr val="8A93A6"/>
                </a:solidFill>
                <a:latin typeface="Courier New" pitchFamily="34" charset="0"/>
                <a:ea typeface="Courier New" pitchFamily="34" charset="-122"/>
                <a:cs typeface="Courier New" pitchFamily="34" charset="-120"/>
              </a:rPr>
              <a:t># USEs nothing</a:t>
            </a:r>
            <a:endParaRPr lang="en-US" sz="1200" dirty="0"/>
          </a:p>
        </p:txBody>
      </p:sp>
      <p:sp>
        <p:nvSpPr>
          <p:cNvPr id="9" name="Text 7"/>
          <p:cNvSpPr txBox="1"/>
          <p:nvPr/>
        </p:nvSpPr>
        <p:spPr>
          <a:xfrm>
            <a:off x="6446520" y="1600200"/>
            <a:ext cx="5093208" cy="274320"/>
          </a:xfrm>
          <a:prstGeom prst="rect">
            <a:avLst/>
          </a:prstGeom>
          <a:noFill/>
          <a:ln/>
        </p:spPr>
        <p:txBody>
          <a:bodyPr wrap="square" lIns="0" tIns="0" rIns="0" bIns="0" rtlCol="0" anchor="ctr"/>
          <a:lstStyle/>
          <a:p>
            <a:pPr marL="0" indent="0">
              <a:buNone/>
            </a:pPr>
            <a:r>
              <a:rPr lang="en-US" sz="1200" b="1" kern="0" spc="100" dirty="0">
                <a:solidFill>
                  <a:srgbClr val="2E7D5B"/>
                </a:solidFill>
                <a:latin typeface="Calibri" pitchFamily="34" charset="0"/>
                <a:ea typeface="Calibri" pitchFamily="34" charset="-122"/>
                <a:cs typeface="Calibri" pitchFamily="34" charset="-120"/>
              </a:rPr>
              <a:t>WHAT CMAKE ACTUALLY BUILT</a:t>
            </a:r>
            <a:endParaRPr lang="en-US" sz="1200" dirty="0"/>
          </a:p>
        </p:txBody>
      </p:sp>
      <p:sp>
        <p:nvSpPr>
          <p:cNvPr id="10" name="Shape 8"/>
          <p:cNvSpPr/>
          <p:nvPr/>
        </p:nvSpPr>
        <p:spPr>
          <a:xfrm>
            <a:off x="6446520" y="1920240"/>
            <a:ext cx="5093208" cy="1348740"/>
          </a:xfrm>
          <a:prstGeom prst="roundRect">
            <a:avLst>
              <a:gd name="adj" fmla="val 5424"/>
            </a:avLst>
          </a:prstGeom>
          <a:solidFill>
            <a:srgbClr val="1F2430"/>
          </a:solidFill>
          <a:ln w="12700">
            <a:solidFill>
              <a:srgbClr val="1F2430"/>
            </a:solidFill>
            <a:prstDash val="solid"/>
          </a:ln>
        </p:spPr>
        <p:txBody>
          <a:bodyPr/>
          <a:lstStyle/>
          <a:p>
            <a:endParaRPr lang="en-US"/>
          </a:p>
        </p:txBody>
      </p:sp>
      <p:sp>
        <p:nvSpPr>
          <p:cNvPr id="11" name="Text 9"/>
          <p:cNvSpPr txBox="1"/>
          <p:nvPr/>
        </p:nvSpPr>
        <p:spPr>
          <a:xfrm>
            <a:off x="6647688" y="2066544"/>
            <a:ext cx="4690872" cy="1056132"/>
          </a:xfrm>
          <a:prstGeom prst="rect">
            <a:avLst/>
          </a:prstGeom>
          <a:noFill/>
          <a:ln/>
        </p:spPr>
        <p:txBody>
          <a:bodyPr wrap="square" lIns="0" tIns="0" rIns="0" bIns="0" rtlCol="0" anchor="t"/>
          <a:lstStyle/>
          <a:p>
            <a:pPr marL="0" indent="0">
              <a:lnSpc>
                <a:spcPct val="112000"/>
              </a:lnSpc>
              <a:buNone/>
            </a:pPr>
            <a:r>
              <a:rPr lang="en-US" sz="1200" dirty="0">
                <a:solidFill>
                  <a:srgbClr val="F2A65A"/>
                </a:solidFill>
                <a:latin typeface="Courier New" pitchFamily="34" charset="0"/>
                <a:ea typeface="Courier New" pitchFamily="34" charset="-122"/>
                <a:cs typeface="Courier New" pitchFamily="34" charset="-120"/>
              </a:rPr>
              <a:t>$</a:t>
            </a:r>
            <a:r>
              <a:rPr lang="en-US" sz="1200" dirty="0">
                <a:solidFill>
                  <a:srgbClr val="E6E8EC"/>
                </a:solidFill>
                <a:latin typeface="Courier New" pitchFamily="34" charset="0"/>
                <a:ea typeface="Courier New" pitchFamily="34" charset="-122"/>
                <a:cs typeface="Courier New" pitchFamily="34" charset="-120"/>
              </a:rPr>
              <a:t> cmake --build build -j 4</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9%] Building ... kinds_mod.f90.o</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[ 18%] Building ... stats_mod.f90.o</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[ 27%] Building ... geometry_mod.f90.o</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[ 36%] Building ... demo_mod.f90.o</a:t>
            </a:r>
            <a:endParaRPr lang="en-US" sz="1200" dirty="0"/>
          </a:p>
        </p:txBody>
      </p:sp>
      <p:sp>
        <p:nvSpPr>
          <p:cNvPr id="12" name="Text 10"/>
          <p:cNvSpPr txBox="1"/>
          <p:nvPr/>
        </p:nvSpPr>
        <p:spPr>
          <a:xfrm>
            <a:off x="640080" y="3520440"/>
            <a:ext cx="5577840" cy="1783080"/>
          </a:xfrm>
          <a:prstGeom prst="rect">
            <a:avLst/>
          </a:prstGeom>
          <a:noFill/>
          <a:ln/>
        </p:spPr>
        <p:txBody>
          <a:bodyPr wrap="square" lIns="0" tIns="0" rIns="0" bIns="0" rtlCol="0" anchor="t"/>
          <a:lstStyle/>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CMake scans each source for MODULE and USE statements and builds the true dependency graph.</a:t>
            </a:r>
            <a:endParaRPr lang="en-US" sz="1300" dirty="0"/>
          </a:p>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Correct with -j: parallel builds are safe, and only genuinely affected files rebuild.</a:t>
            </a:r>
            <a:endParaRPr lang="en-US" sz="1300" dirty="0"/>
          </a:p>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Add a USE line to a file - nothing to update anywhere.</a:t>
            </a:r>
          </a:p>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Caution: USE statements inside preprocessor directives (that’s a talk by itself)</a:t>
            </a:r>
            <a:endParaRPr lang="en-US" sz="1300" dirty="0"/>
          </a:p>
        </p:txBody>
      </p:sp>
      <p:sp>
        <p:nvSpPr>
          <p:cNvPr id="13" name="Text 11"/>
          <p:cNvSpPr txBox="1"/>
          <p:nvPr/>
        </p:nvSpPr>
        <p:spPr>
          <a:xfrm>
            <a:off x="6446520" y="3520440"/>
            <a:ext cx="5093208" cy="1783080"/>
          </a:xfrm>
          <a:prstGeom prst="rect">
            <a:avLst/>
          </a:prstGeom>
          <a:noFill/>
          <a:ln/>
        </p:spPr>
        <p:txBody>
          <a:bodyPr wrap="square" lIns="0" tIns="0" rIns="0" bIns="0" rtlCol="0" anchor="t"/>
          <a:lstStyle/>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Works across subdirectories and across targets, including installed dependencies.</a:t>
            </a:r>
            <a:endParaRPr lang="en-US" sz="1300" dirty="0"/>
          </a:p>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No makedepf90/</a:t>
            </a:r>
            <a:r>
              <a:rPr lang="en-US" sz="1300" dirty="0" err="1">
                <a:solidFill>
                  <a:srgbClr val="3A4354"/>
                </a:solidFill>
                <a:latin typeface="Calibri" pitchFamily="34" charset="0"/>
                <a:ea typeface="Calibri" pitchFamily="34" charset="-122"/>
                <a:cs typeface="Calibri" pitchFamily="34" charset="-120"/>
              </a:rPr>
              <a:t>sfmakedepend</a:t>
            </a:r>
            <a:r>
              <a:rPr lang="en-US" sz="1300" dirty="0">
                <a:solidFill>
                  <a:srgbClr val="3A4354"/>
                </a:solidFill>
                <a:latin typeface="Calibri" pitchFamily="34" charset="0"/>
                <a:ea typeface="Calibri" pitchFamily="34" charset="-122"/>
                <a:cs typeface="Calibri" pitchFamily="34" charset="-120"/>
              </a:rPr>
              <a:t>/make_depend.pl, no generated .d files to keep in sync.</a:t>
            </a:r>
            <a:endParaRPr lang="en-US" sz="1300" dirty="0"/>
          </a:p>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Same behaviour with gfortran, ifx, ifort, NVHPC and Cray.</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6327648"/>
            <a:ext cx="4572000" cy="274320"/>
          </a:xfrm>
          <a:prstGeom prst="rect">
            <a:avLst/>
          </a:prstGeom>
          <a:noFill/>
          <a:ln/>
        </p:spPr>
        <p:txBody>
          <a:bodyPr wrap="square" lIns="0" tIns="0" rIns="0" bIns="0" rtlCol="0" anchor="ctr"/>
          <a:lstStyle/>
          <a:p>
            <a:pPr marL="0" indent="0">
              <a:buNone/>
            </a:pPr>
            <a:r>
              <a:rPr lang="en-US" sz="1000" dirty="0">
                <a:solidFill>
                  <a:srgbClr val="AEB5BF"/>
                </a:solidFill>
                <a:latin typeface="Calibri" pitchFamily="34" charset="0"/>
                <a:ea typeface="Calibri" pitchFamily="34" charset="-122"/>
                <a:cs typeface="Calibri" pitchFamily="34" charset="-120"/>
              </a:rPr>
              <a:t>CMake for Fortran</a:t>
            </a:r>
            <a:endParaRPr lang="en-US" sz="1000" dirty="0"/>
          </a:p>
        </p:txBody>
      </p:sp>
      <p:sp>
        <p:nvSpPr>
          <p:cNvPr id="3" name="Text 1"/>
          <p:cNvSpPr txBox="1"/>
          <p:nvPr/>
        </p:nvSpPr>
        <p:spPr>
          <a:xfrm>
            <a:off x="10607040" y="6327648"/>
            <a:ext cx="914400" cy="274320"/>
          </a:xfrm>
          <a:prstGeom prst="rect">
            <a:avLst/>
          </a:prstGeom>
          <a:noFill/>
          <a:ln/>
        </p:spPr>
        <p:txBody>
          <a:bodyPr wrap="square" lIns="0" tIns="0" rIns="0" bIns="0" rtlCol="0" anchor="ctr"/>
          <a:lstStyle/>
          <a:p>
            <a:pPr marL="0" indent="0" algn="r">
              <a:buNone/>
            </a:pPr>
            <a:r>
              <a:rPr lang="en-US" sz="1000" dirty="0">
                <a:solidFill>
                  <a:srgbClr val="AEB5BF"/>
                </a:solidFill>
                <a:latin typeface="Calibri" pitchFamily="34" charset="0"/>
                <a:ea typeface="Calibri" pitchFamily="34" charset="-122"/>
                <a:cs typeface="Calibri" pitchFamily="34" charset="-120"/>
              </a:rPr>
              <a:t>13</a:t>
            </a:r>
            <a:endParaRPr lang="en-US" sz="1000" dirty="0"/>
          </a:p>
        </p:txBody>
      </p:sp>
      <p:sp>
        <p:nvSpPr>
          <p:cNvPr id="4" name="Text 2"/>
          <p:cNvSpPr txBox="1"/>
          <p:nvPr/>
        </p:nvSpPr>
        <p:spPr>
          <a:xfrm>
            <a:off x="640080" y="384048"/>
            <a:ext cx="10881360" cy="256032"/>
          </a:xfrm>
          <a:prstGeom prst="rect">
            <a:avLst/>
          </a:prstGeom>
          <a:noFill/>
          <a:ln/>
        </p:spPr>
        <p:txBody>
          <a:bodyPr wrap="square" lIns="0" tIns="0" rIns="0" bIns="0" rtlCol="0" anchor="ctr"/>
          <a:lstStyle/>
          <a:p>
            <a:pPr marL="0" indent="0">
              <a:buNone/>
            </a:pPr>
            <a:r>
              <a:rPr lang="en-US" sz="1100" b="1" kern="0" spc="200" dirty="0">
                <a:solidFill>
                  <a:srgbClr val="EF6C1A"/>
                </a:solidFill>
                <a:latin typeface="Calibri" pitchFamily="34" charset="0"/>
                <a:ea typeface="Calibri" pitchFamily="34" charset="-122"/>
                <a:cs typeface="Calibri" pitchFamily="34" charset="-120"/>
              </a:rPr>
              <a:t>FORTRAN</a:t>
            </a:r>
            <a:endParaRPr lang="en-US" sz="1100" dirty="0"/>
          </a:p>
        </p:txBody>
      </p:sp>
      <p:sp>
        <p:nvSpPr>
          <p:cNvPr id="5" name="Text 3"/>
          <p:cNvSpPr txBox="1"/>
          <p:nvPr/>
        </p:nvSpPr>
        <p:spPr>
          <a:xfrm>
            <a:off x="640080" y="658368"/>
            <a:ext cx="10881360" cy="658368"/>
          </a:xfrm>
          <a:prstGeom prst="rect">
            <a:avLst/>
          </a:prstGeom>
          <a:noFill/>
          <a:ln/>
        </p:spPr>
        <p:txBody>
          <a:bodyPr wrap="square" lIns="0" tIns="0" rIns="0" bIns="0" rtlCol="0" anchor="t"/>
          <a:lstStyle/>
          <a:p>
            <a:pPr marL="0" indent="0">
              <a:buNone/>
            </a:pPr>
            <a:r>
              <a:rPr lang="en-US" sz="3000" b="1" dirty="0">
                <a:solidFill>
                  <a:srgbClr val="1F2430"/>
                </a:solidFill>
                <a:latin typeface="Cambria" pitchFamily="34" charset="0"/>
                <a:ea typeface="Cambria" pitchFamily="34" charset="-122"/>
                <a:cs typeface="Cambria" pitchFamily="34" charset="-120"/>
              </a:rPr>
              <a:t>Where do the .mod files go?</a:t>
            </a:r>
            <a:endParaRPr lang="en-US" sz="3000" dirty="0"/>
          </a:p>
        </p:txBody>
      </p:sp>
      <p:sp>
        <p:nvSpPr>
          <p:cNvPr id="6" name="Text 4"/>
          <p:cNvSpPr txBox="1"/>
          <p:nvPr/>
        </p:nvSpPr>
        <p:spPr>
          <a:xfrm>
            <a:off x="640080" y="1572768"/>
            <a:ext cx="10881360" cy="384048"/>
          </a:xfrm>
          <a:prstGeom prst="rect">
            <a:avLst/>
          </a:prstGeom>
          <a:noFill/>
          <a:ln/>
        </p:spPr>
        <p:txBody>
          <a:bodyPr wrap="square" lIns="0" tIns="0" rIns="0" bIns="0" rtlCol="0" anchor="ctr"/>
          <a:lstStyle/>
          <a:p>
            <a:pPr marL="0" indent="0">
              <a:buNone/>
            </a:pPr>
            <a:r>
              <a:rPr lang="en-US" sz="1400" dirty="0">
                <a:solidFill>
                  <a:srgbClr val="3A4354"/>
                </a:solidFill>
                <a:latin typeface="Calibri" pitchFamily="34" charset="0"/>
                <a:ea typeface="Calibri" pitchFamily="34" charset="-122"/>
                <a:cs typeface="Calibri" pitchFamily="34" charset="-120"/>
              </a:rPr>
              <a:t>Module files are compiler output, not source. Tell CMake where to put them once, then point consumers at that directory.</a:t>
            </a:r>
            <a:endParaRPr lang="en-US" sz="1400" dirty="0"/>
          </a:p>
        </p:txBody>
      </p:sp>
      <p:sp>
        <p:nvSpPr>
          <p:cNvPr id="7" name="Shape 5"/>
          <p:cNvSpPr/>
          <p:nvPr/>
        </p:nvSpPr>
        <p:spPr>
          <a:xfrm>
            <a:off x="640080" y="2103120"/>
            <a:ext cx="6400800" cy="1556309"/>
          </a:xfrm>
          <a:prstGeom prst="roundRect">
            <a:avLst>
              <a:gd name="adj" fmla="val 4700"/>
            </a:avLst>
          </a:prstGeom>
          <a:solidFill>
            <a:srgbClr val="1F2430"/>
          </a:solidFill>
          <a:ln w="12700">
            <a:solidFill>
              <a:srgbClr val="1F2430"/>
            </a:solidFill>
            <a:prstDash val="solid"/>
          </a:ln>
        </p:spPr>
        <p:txBody>
          <a:bodyPr/>
          <a:lstStyle/>
          <a:p>
            <a:endParaRPr lang="en-US"/>
          </a:p>
        </p:txBody>
      </p:sp>
      <p:sp>
        <p:nvSpPr>
          <p:cNvPr id="8" name="Text 6"/>
          <p:cNvSpPr txBox="1"/>
          <p:nvPr/>
        </p:nvSpPr>
        <p:spPr>
          <a:xfrm>
            <a:off x="841248" y="2249424"/>
            <a:ext cx="5998464" cy="1263701"/>
          </a:xfrm>
          <a:prstGeom prst="rect">
            <a:avLst/>
          </a:prstGeom>
          <a:noFill/>
          <a:ln/>
        </p:spPr>
        <p:txBody>
          <a:bodyPr wrap="square" lIns="0" tIns="0" rIns="0" bIns="0" rtlCol="0" anchor="t"/>
          <a:lstStyle/>
          <a:p>
            <a:pPr marL="0" indent="0">
              <a:lnSpc>
                <a:spcPct val="112000"/>
              </a:lnSpc>
              <a:buNone/>
            </a:pPr>
            <a:r>
              <a:rPr lang="en-US" sz="1200" i="1" dirty="0">
                <a:solidFill>
                  <a:srgbClr val="8A93A6"/>
                </a:solidFill>
                <a:latin typeface="Courier New" pitchFamily="34" charset="0"/>
                <a:ea typeface="Courier New" pitchFamily="34" charset="-122"/>
                <a:cs typeface="Courier New" pitchFamily="34" charset="-120"/>
              </a:rPr>
              <a:t># top-level CMakeLists.txt: one place for everything</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set(CMAKE_Fortran_MODULE_DIRECTORY ${CMAKE_BINARY_DIR}/mod)</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a:t>
            </a:r>
            <a:endParaRPr lang="en-US" sz="1200" dirty="0"/>
          </a:p>
          <a:p>
            <a:pPr marL="0" indent="0">
              <a:lnSpc>
                <a:spcPct val="112000"/>
              </a:lnSpc>
              <a:buNone/>
            </a:pPr>
            <a:r>
              <a:rPr lang="en-US" sz="1200" i="1" dirty="0">
                <a:solidFill>
                  <a:srgbClr val="8A93A6"/>
                </a:solidFill>
                <a:latin typeface="Courier New" pitchFamily="34" charset="0"/>
                <a:ea typeface="Courier New" pitchFamily="34" charset="-122"/>
                <a:cs typeface="Courier New" pitchFamily="34" charset="-120"/>
              </a:rPr>
              <a:t># or per target, when you need isolation:</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set_target_properties(geometry PROPERTIES</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Fortran_MODULE_DIRECTORY ${CMAKE_BINARY_DIR}/mod/geometry)</a:t>
            </a:r>
            <a:endParaRPr lang="en-US" sz="1200" dirty="0"/>
          </a:p>
        </p:txBody>
      </p:sp>
      <p:sp>
        <p:nvSpPr>
          <p:cNvPr id="9" name="Text 7"/>
          <p:cNvSpPr txBox="1"/>
          <p:nvPr/>
        </p:nvSpPr>
        <p:spPr>
          <a:xfrm>
            <a:off x="7223760" y="2194560"/>
            <a:ext cx="4315968" cy="2194560"/>
          </a:xfrm>
          <a:prstGeom prst="rect">
            <a:avLst/>
          </a:prstGeom>
          <a:noFill/>
          <a:ln/>
        </p:spPr>
        <p:txBody>
          <a:bodyPr wrap="square" lIns="0" tIns="0" rIns="0" bIns="0" rtlCol="0" anchor="t"/>
          <a:lstStyle/>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Without this, .mod files land next to the object files, scattered across CMakeFiles/ subdirectories.</a:t>
            </a:r>
            <a:endParaRPr lang="en-US" sz="1300" dirty="0"/>
          </a:p>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Consumers find them through your target's PUBLIC include directories - not by hard-coded paths.</a:t>
            </a:r>
            <a:endParaRPr lang="en-US" sz="1300" dirty="0"/>
          </a:p>
        </p:txBody>
      </p:sp>
      <p:sp>
        <p:nvSpPr>
          <p:cNvPr id="10" name="Shape 8"/>
          <p:cNvSpPr/>
          <p:nvPr/>
        </p:nvSpPr>
        <p:spPr>
          <a:xfrm>
            <a:off x="640080" y="3977640"/>
            <a:ext cx="6400800" cy="1141171"/>
          </a:xfrm>
          <a:prstGeom prst="roundRect">
            <a:avLst>
              <a:gd name="adj" fmla="val 6410"/>
            </a:avLst>
          </a:prstGeom>
          <a:solidFill>
            <a:srgbClr val="1F2430"/>
          </a:solidFill>
          <a:ln w="12700">
            <a:solidFill>
              <a:srgbClr val="1F2430"/>
            </a:solidFill>
            <a:prstDash val="solid"/>
          </a:ln>
        </p:spPr>
        <p:txBody>
          <a:bodyPr/>
          <a:lstStyle/>
          <a:p>
            <a:endParaRPr lang="en-US"/>
          </a:p>
        </p:txBody>
      </p:sp>
      <p:sp>
        <p:nvSpPr>
          <p:cNvPr id="11" name="Text 9"/>
          <p:cNvSpPr txBox="1"/>
          <p:nvPr/>
        </p:nvSpPr>
        <p:spPr>
          <a:xfrm>
            <a:off x="841248" y="4123944"/>
            <a:ext cx="5998464" cy="848563"/>
          </a:xfrm>
          <a:prstGeom prst="rect">
            <a:avLst/>
          </a:prstGeom>
          <a:noFill/>
          <a:ln/>
        </p:spPr>
        <p:txBody>
          <a:bodyPr wrap="square" lIns="0" tIns="0" rIns="0" bIns="0" rtlCol="0" anchor="t"/>
          <a:lstStyle/>
          <a:p>
            <a:pPr marL="0" indent="0">
              <a:lnSpc>
                <a:spcPct val="112000"/>
              </a:lnSpc>
              <a:buNone/>
            </a:pPr>
            <a:r>
              <a:rPr lang="en-US" sz="1200" i="1" dirty="0">
                <a:solidFill>
                  <a:srgbClr val="8A93A6"/>
                </a:solidFill>
                <a:latin typeface="Courier New" pitchFamily="34" charset="0"/>
                <a:ea typeface="Courier New" pitchFamily="34" charset="-122"/>
                <a:cs typeface="Courier New" pitchFamily="34" charset="-120"/>
              </a:rPr>
              <a:t># .mod files are generated, so install from the build tree</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install(DIRECTORY ${CMAKE_Fortran_MODULE_DIRECTORY}/</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DESTINATION ${CMAKE_INSTALL_INCLUDEDIR}</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FILES_MATCHING PATTERN "*.mod")</a:t>
            </a:r>
            <a:endParaRPr lang="en-US" sz="1200" dirty="0"/>
          </a:p>
        </p:txBody>
      </p:sp>
      <p:sp>
        <p:nvSpPr>
          <p:cNvPr id="12" name="Shape 10"/>
          <p:cNvSpPr/>
          <p:nvPr/>
        </p:nvSpPr>
        <p:spPr>
          <a:xfrm>
            <a:off x="7223760" y="4160520"/>
            <a:ext cx="4315968" cy="1463040"/>
          </a:xfrm>
          <a:prstGeom prst="roundRect">
            <a:avLst>
              <a:gd name="adj" fmla="val 3750"/>
            </a:avLst>
          </a:prstGeom>
          <a:solidFill>
            <a:srgbClr val="FBEEE6"/>
          </a:solidFill>
          <a:ln w="12700">
            <a:solidFill>
              <a:srgbClr val="F0CDB4"/>
            </a:solidFill>
            <a:prstDash val="solid"/>
          </a:ln>
        </p:spPr>
        <p:txBody>
          <a:bodyPr/>
          <a:lstStyle/>
          <a:p>
            <a:endParaRPr lang="en-US"/>
          </a:p>
        </p:txBody>
      </p:sp>
      <p:sp>
        <p:nvSpPr>
          <p:cNvPr id="13" name="Text 11"/>
          <p:cNvSpPr txBox="1"/>
          <p:nvPr/>
        </p:nvSpPr>
        <p:spPr>
          <a:xfrm>
            <a:off x="7479792" y="4270248"/>
            <a:ext cx="3803904" cy="1243584"/>
          </a:xfrm>
          <a:prstGeom prst="rect">
            <a:avLst/>
          </a:prstGeom>
          <a:noFill/>
          <a:ln/>
        </p:spPr>
        <p:txBody>
          <a:bodyPr wrap="square" lIns="0" tIns="0" rIns="0" bIns="0" rtlCol="0" anchor="ctr"/>
          <a:lstStyle/>
          <a:p>
            <a:pPr marL="0" indent="0">
              <a:lnSpc>
                <a:spcPct val="112000"/>
              </a:lnSpc>
              <a:buNone/>
            </a:pPr>
            <a:r>
              <a:rPr lang="en-US" sz="1200" b="1" dirty="0">
                <a:solidFill>
                  <a:srgbClr val="B23A2F"/>
                </a:solidFill>
                <a:latin typeface="Calibri" pitchFamily="34" charset="0"/>
                <a:ea typeface="Calibri" pitchFamily="34" charset="-122"/>
                <a:cs typeface="Calibri" pitchFamily="34" charset="-120"/>
              </a:rPr>
              <a:t>Caveat.  </a:t>
            </a:r>
            <a:r>
              <a:rPr lang="en-US" sz="1200" dirty="0">
                <a:solidFill>
                  <a:srgbClr val="3A4354"/>
                </a:solidFill>
                <a:latin typeface="Calibri" pitchFamily="34" charset="0"/>
                <a:ea typeface="Calibri" pitchFamily="34" charset="-122"/>
                <a:cs typeface="Calibri" pitchFamily="34" charset="-120"/>
              </a:rPr>
              <a:t>.mod formats are not portable between compilers or even between major versions. Installed .mod files are only valid for the compiler that produced them - which is exactly why Spack builds a separate install per compiler.</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6327648"/>
            <a:ext cx="4572000" cy="274320"/>
          </a:xfrm>
          <a:prstGeom prst="rect">
            <a:avLst/>
          </a:prstGeom>
          <a:noFill/>
          <a:ln/>
        </p:spPr>
        <p:txBody>
          <a:bodyPr wrap="square" lIns="0" tIns="0" rIns="0" bIns="0" rtlCol="0" anchor="ctr"/>
          <a:lstStyle/>
          <a:p>
            <a:pPr marL="0" indent="0">
              <a:buNone/>
            </a:pPr>
            <a:r>
              <a:rPr lang="en-US" sz="1000" dirty="0">
                <a:solidFill>
                  <a:srgbClr val="AEB5BF"/>
                </a:solidFill>
                <a:latin typeface="Calibri" pitchFamily="34" charset="0"/>
                <a:ea typeface="Calibri" pitchFamily="34" charset="-122"/>
                <a:cs typeface="Calibri" pitchFamily="34" charset="-120"/>
              </a:rPr>
              <a:t>CMake for Fortran</a:t>
            </a:r>
            <a:endParaRPr lang="en-US" sz="1000" dirty="0"/>
          </a:p>
        </p:txBody>
      </p:sp>
      <p:sp>
        <p:nvSpPr>
          <p:cNvPr id="3" name="Text 1"/>
          <p:cNvSpPr txBox="1"/>
          <p:nvPr/>
        </p:nvSpPr>
        <p:spPr>
          <a:xfrm>
            <a:off x="10607040" y="6327648"/>
            <a:ext cx="914400" cy="274320"/>
          </a:xfrm>
          <a:prstGeom prst="rect">
            <a:avLst/>
          </a:prstGeom>
          <a:noFill/>
          <a:ln/>
        </p:spPr>
        <p:txBody>
          <a:bodyPr wrap="square" lIns="0" tIns="0" rIns="0" bIns="0" rtlCol="0" anchor="ctr"/>
          <a:lstStyle/>
          <a:p>
            <a:pPr marL="0" indent="0" algn="r">
              <a:buNone/>
            </a:pPr>
            <a:r>
              <a:rPr lang="en-US" sz="1000" dirty="0">
                <a:solidFill>
                  <a:srgbClr val="AEB5BF"/>
                </a:solidFill>
                <a:latin typeface="Calibri" pitchFamily="34" charset="0"/>
                <a:ea typeface="Calibri" pitchFamily="34" charset="-122"/>
                <a:cs typeface="Calibri" pitchFamily="34" charset="-120"/>
              </a:rPr>
              <a:t>14</a:t>
            </a:r>
            <a:endParaRPr lang="en-US" sz="1000" dirty="0"/>
          </a:p>
        </p:txBody>
      </p:sp>
      <p:sp>
        <p:nvSpPr>
          <p:cNvPr id="4" name="Text 2"/>
          <p:cNvSpPr txBox="1"/>
          <p:nvPr/>
        </p:nvSpPr>
        <p:spPr>
          <a:xfrm>
            <a:off x="640080" y="384048"/>
            <a:ext cx="10881360" cy="256032"/>
          </a:xfrm>
          <a:prstGeom prst="rect">
            <a:avLst/>
          </a:prstGeom>
          <a:noFill/>
          <a:ln/>
        </p:spPr>
        <p:txBody>
          <a:bodyPr wrap="square" lIns="0" tIns="0" rIns="0" bIns="0" rtlCol="0" anchor="ctr"/>
          <a:lstStyle/>
          <a:p>
            <a:pPr marL="0" indent="0">
              <a:buNone/>
            </a:pPr>
            <a:r>
              <a:rPr lang="en-US" sz="1100" b="1" kern="0" spc="200" dirty="0">
                <a:solidFill>
                  <a:srgbClr val="EF6C1A"/>
                </a:solidFill>
                <a:latin typeface="Calibri" pitchFamily="34" charset="0"/>
                <a:ea typeface="Calibri" pitchFamily="34" charset="-122"/>
                <a:cs typeface="Calibri" pitchFamily="34" charset="-120"/>
              </a:rPr>
              <a:t>CONFIGURATION</a:t>
            </a:r>
            <a:endParaRPr lang="en-US" sz="1100" dirty="0"/>
          </a:p>
        </p:txBody>
      </p:sp>
      <p:sp>
        <p:nvSpPr>
          <p:cNvPr id="5" name="Text 3"/>
          <p:cNvSpPr txBox="1"/>
          <p:nvPr/>
        </p:nvSpPr>
        <p:spPr>
          <a:xfrm>
            <a:off x="640080" y="658368"/>
            <a:ext cx="10881360" cy="658368"/>
          </a:xfrm>
          <a:prstGeom prst="rect">
            <a:avLst/>
          </a:prstGeom>
          <a:noFill/>
          <a:ln/>
        </p:spPr>
        <p:txBody>
          <a:bodyPr wrap="square" lIns="0" tIns="0" rIns="0" bIns="0" rtlCol="0" anchor="t"/>
          <a:lstStyle/>
          <a:p>
            <a:pPr marL="0" indent="0">
              <a:buNone/>
            </a:pPr>
            <a:r>
              <a:rPr lang="en-US" sz="3000" b="1" dirty="0">
                <a:solidFill>
                  <a:srgbClr val="1F2430"/>
                </a:solidFill>
                <a:latin typeface="Cambria" pitchFamily="34" charset="0"/>
                <a:ea typeface="Cambria" pitchFamily="34" charset="-122"/>
                <a:cs typeface="Cambria" pitchFamily="34" charset="-120"/>
              </a:rPr>
              <a:t>Build types and per-compiler flags, without the ifeq soup</a:t>
            </a:r>
            <a:endParaRPr lang="en-US" sz="3000" dirty="0"/>
          </a:p>
        </p:txBody>
      </p:sp>
      <p:sp>
        <p:nvSpPr>
          <p:cNvPr id="6" name="Shape 4"/>
          <p:cNvSpPr/>
          <p:nvPr/>
        </p:nvSpPr>
        <p:spPr>
          <a:xfrm>
            <a:off x="640080" y="1645920"/>
            <a:ext cx="5852160" cy="1141171"/>
          </a:xfrm>
          <a:prstGeom prst="roundRect">
            <a:avLst>
              <a:gd name="adj" fmla="val 6410"/>
            </a:avLst>
          </a:prstGeom>
          <a:solidFill>
            <a:srgbClr val="1F2430"/>
          </a:solidFill>
          <a:ln w="12700">
            <a:solidFill>
              <a:srgbClr val="1F2430"/>
            </a:solidFill>
            <a:prstDash val="solid"/>
          </a:ln>
        </p:spPr>
        <p:txBody>
          <a:bodyPr/>
          <a:lstStyle/>
          <a:p>
            <a:endParaRPr lang="en-US"/>
          </a:p>
        </p:txBody>
      </p:sp>
      <p:sp>
        <p:nvSpPr>
          <p:cNvPr id="7" name="Text 5"/>
          <p:cNvSpPr txBox="1"/>
          <p:nvPr/>
        </p:nvSpPr>
        <p:spPr>
          <a:xfrm>
            <a:off x="841248" y="1792224"/>
            <a:ext cx="5449824" cy="848563"/>
          </a:xfrm>
          <a:prstGeom prst="rect">
            <a:avLst/>
          </a:prstGeom>
          <a:noFill/>
          <a:ln/>
        </p:spPr>
        <p:txBody>
          <a:bodyPr wrap="square" lIns="0" tIns="0" rIns="0" bIns="0" rtlCol="0" anchor="t"/>
          <a:lstStyle/>
          <a:p>
            <a:pPr marL="0" indent="0">
              <a:lnSpc>
                <a:spcPct val="112000"/>
              </a:lnSpc>
              <a:buNone/>
            </a:pPr>
            <a:r>
              <a:rPr lang="en-US" sz="1200" dirty="0">
                <a:solidFill>
                  <a:srgbClr val="F2A65A"/>
                </a:solidFill>
                <a:latin typeface="Courier New" pitchFamily="34" charset="0"/>
                <a:ea typeface="Courier New" pitchFamily="34" charset="-122"/>
                <a:cs typeface="Courier New" pitchFamily="34" charset="-120"/>
              </a:rPr>
              <a:t>$</a:t>
            </a:r>
            <a:r>
              <a:rPr lang="en-US" sz="1200" dirty="0">
                <a:solidFill>
                  <a:srgbClr val="E6E8EC"/>
                </a:solidFill>
                <a:latin typeface="Courier New" pitchFamily="34" charset="0"/>
                <a:ea typeface="Courier New" pitchFamily="34" charset="-122"/>
                <a:cs typeface="Courier New" pitchFamily="34" charset="-120"/>
              </a:rPr>
              <a:t> cmake -S . -B build-dbg -DCMAKE_BUILD_TYPE=Debug</a:t>
            </a:r>
            <a:endParaRPr lang="en-US" sz="1200" dirty="0"/>
          </a:p>
          <a:p>
            <a:pPr marL="0" indent="0">
              <a:lnSpc>
                <a:spcPct val="112000"/>
              </a:lnSpc>
              <a:buNone/>
            </a:pPr>
            <a:r>
              <a:rPr lang="en-US" sz="1200" dirty="0">
                <a:solidFill>
                  <a:srgbClr val="F2A65A"/>
                </a:solidFill>
                <a:latin typeface="Courier New" pitchFamily="34" charset="0"/>
                <a:ea typeface="Courier New" pitchFamily="34" charset="-122"/>
                <a:cs typeface="Courier New" pitchFamily="34" charset="-120"/>
              </a:rPr>
              <a:t>$</a:t>
            </a:r>
            <a:r>
              <a:rPr lang="en-US" sz="1200" dirty="0">
                <a:solidFill>
                  <a:srgbClr val="E6E8EC"/>
                </a:solidFill>
                <a:latin typeface="Courier New" pitchFamily="34" charset="0"/>
                <a:ea typeface="Courier New" pitchFamily="34" charset="-122"/>
                <a:cs typeface="Courier New" pitchFamily="34" charset="-120"/>
              </a:rPr>
              <a:t> cmake -S . -B build-opt -DCMAKE_BUILD_TYPE=Release</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a:t>
            </a:r>
            <a:endParaRPr lang="en-US" sz="1200" dirty="0"/>
          </a:p>
          <a:p>
            <a:pPr marL="0" indent="0">
              <a:lnSpc>
                <a:spcPct val="112000"/>
              </a:lnSpc>
              <a:buNone/>
            </a:pPr>
            <a:r>
              <a:rPr lang="en-US" sz="1200" i="1" dirty="0">
                <a:solidFill>
                  <a:srgbClr val="8A93A6"/>
                </a:solidFill>
                <a:latin typeface="Courier New" pitchFamily="34" charset="0"/>
                <a:ea typeface="Courier New" pitchFamily="34" charset="-122"/>
                <a:cs typeface="Courier New" pitchFamily="34" charset="-120"/>
              </a:rPr>
              <a:t># Debug RelWithDebInfo Release MinSizeRel</a:t>
            </a:r>
            <a:endParaRPr lang="en-US" sz="1200" dirty="0"/>
          </a:p>
        </p:txBody>
      </p:sp>
      <p:sp>
        <p:nvSpPr>
          <p:cNvPr id="8" name="Text 6"/>
          <p:cNvSpPr txBox="1"/>
          <p:nvPr/>
        </p:nvSpPr>
        <p:spPr>
          <a:xfrm>
            <a:off x="6675120" y="1737360"/>
            <a:ext cx="4864608" cy="1463040"/>
          </a:xfrm>
          <a:prstGeom prst="rect">
            <a:avLst/>
          </a:prstGeom>
          <a:noFill/>
          <a:ln/>
        </p:spPr>
        <p:txBody>
          <a:bodyPr wrap="square" lIns="0" tIns="0" rIns="0" bIns="0" rtlCol="0" anchor="t"/>
          <a:lstStyle/>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Each type has sane per-compiler defaults; you rarely set -O flags yourself.</a:t>
            </a:r>
            <a:endParaRPr lang="en-US" sz="1300" dirty="0"/>
          </a:p>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Pick a default in the top-level file so a bare cmake call is never an unoptimised surprise.</a:t>
            </a:r>
            <a:endParaRPr lang="en-US" sz="1300" dirty="0"/>
          </a:p>
        </p:txBody>
      </p:sp>
      <p:sp>
        <p:nvSpPr>
          <p:cNvPr id="9" name="Text 7"/>
          <p:cNvSpPr txBox="1"/>
          <p:nvPr/>
        </p:nvSpPr>
        <p:spPr>
          <a:xfrm>
            <a:off x="640080" y="3017520"/>
            <a:ext cx="10881360" cy="274320"/>
          </a:xfrm>
          <a:prstGeom prst="rect">
            <a:avLst/>
          </a:prstGeom>
          <a:noFill/>
          <a:ln/>
        </p:spPr>
        <p:txBody>
          <a:bodyPr wrap="square" lIns="0" tIns="0" rIns="0" bIns="0" rtlCol="0" anchor="ctr"/>
          <a:lstStyle/>
          <a:p>
            <a:pPr marL="0" indent="0">
              <a:buNone/>
            </a:pPr>
            <a:r>
              <a:rPr lang="en-US" sz="1200" b="1" kern="0" spc="100" dirty="0">
                <a:solidFill>
                  <a:srgbClr val="6B7280"/>
                </a:solidFill>
                <a:latin typeface="Calibri" pitchFamily="34" charset="0"/>
                <a:ea typeface="Calibri" pitchFamily="34" charset="-122"/>
                <a:cs typeface="Calibri" pitchFamily="34" charset="-120"/>
              </a:rPr>
              <a:t>COMPILER-SPECIFIC FLAGS AS DATA, NOT AS BRANCHES – THE NEW, FANCY WAY</a:t>
            </a:r>
            <a:endParaRPr lang="en-US" sz="1200" dirty="0"/>
          </a:p>
        </p:txBody>
      </p:sp>
      <p:sp>
        <p:nvSpPr>
          <p:cNvPr id="10" name="Shape 8"/>
          <p:cNvSpPr/>
          <p:nvPr/>
        </p:nvSpPr>
        <p:spPr>
          <a:xfrm>
            <a:off x="640080" y="3337560"/>
            <a:ext cx="10881360" cy="1210361"/>
          </a:xfrm>
          <a:prstGeom prst="roundRect">
            <a:avLst>
              <a:gd name="adj" fmla="val 6044"/>
            </a:avLst>
          </a:prstGeom>
          <a:solidFill>
            <a:srgbClr val="1F2430"/>
          </a:solidFill>
          <a:ln w="12700">
            <a:solidFill>
              <a:srgbClr val="1F2430"/>
            </a:solidFill>
            <a:prstDash val="solid"/>
          </a:ln>
        </p:spPr>
        <p:txBody>
          <a:bodyPr/>
          <a:lstStyle/>
          <a:p>
            <a:endParaRPr lang="en-US"/>
          </a:p>
        </p:txBody>
      </p:sp>
      <p:sp>
        <p:nvSpPr>
          <p:cNvPr id="11" name="Text 9"/>
          <p:cNvSpPr txBox="1"/>
          <p:nvPr/>
        </p:nvSpPr>
        <p:spPr>
          <a:xfrm>
            <a:off x="841248" y="3483864"/>
            <a:ext cx="10479024" cy="917753"/>
          </a:xfrm>
          <a:prstGeom prst="rect">
            <a:avLst/>
          </a:prstGeom>
          <a:noFill/>
          <a:ln/>
        </p:spPr>
        <p:txBody>
          <a:bodyPr wrap="square" lIns="0" tIns="0" rIns="0" bIns="0" rtlCol="0" anchor="t"/>
          <a:lstStyle/>
          <a:p>
            <a:pPr marL="0" indent="0">
              <a:lnSpc>
                <a:spcPct val="112000"/>
              </a:lnSpc>
              <a:buNone/>
            </a:pPr>
            <a:r>
              <a:rPr lang="en-US" sz="1300" dirty="0">
                <a:solidFill>
                  <a:srgbClr val="E6E8EC"/>
                </a:solidFill>
                <a:latin typeface="Courier New" pitchFamily="34" charset="0"/>
                <a:ea typeface="Courier New" pitchFamily="34" charset="-122"/>
                <a:cs typeface="Courier New" pitchFamily="34" charset="-120"/>
              </a:rPr>
              <a:t>target_compile_options(fortrandemo PRIVATE</a:t>
            </a:r>
            <a:endParaRPr lang="en-US" sz="1300" dirty="0"/>
          </a:p>
          <a:p>
            <a:pPr marL="0" indent="0">
              <a:lnSpc>
                <a:spcPct val="112000"/>
              </a:lnSpc>
              <a:buNone/>
            </a:pPr>
            <a:r>
              <a:rPr lang="en-US" sz="1300" dirty="0">
                <a:solidFill>
                  <a:srgbClr val="E6E8EC"/>
                </a:solidFill>
                <a:latin typeface="Courier New" pitchFamily="34" charset="0"/>
                <a:ea typeface="Courier New" pitchFamily="34" charset="-122"/>
                <a:cs typeface="Courier New" pitchFamily="34" charset="-120"/>
              </a:rPr>
              <a:t>  $&lt;$&lt;Fortran_COMPILER_ID:GNU&gt;:-ffree-line-length-none&gt;</a:t>
            </a:r>
            <a:endParaRPr lang="en-US" sz="1300" dirty="0"/>
          </a:p>
          <a:p>
            <a:pPr marL="0" indent="0">
              <a:lnSpc>
                <a:spcPct val="112000"/>
              </a:lnSpc>
              <a:buNone/>
            </a:pPr>
            <a:r>
              <a:rPr lang="en-US" sz="1300" dirty="0">
                <a:solidFill>
                  <a:srgbClr val="E6E8EC"/>
                </a:solidFill>
                <a:latin typeface="Courier New" pitchFamily="34" charset="0"/>
                <a:ea typeface="Courier New" pitchFamily="34" charset="-122"/>
                <a:cs typeface="Courier New" pitchFamily="34" charset="-120"/>
              </a:rPr>
              <a:t>  $&lt;$&lt;AND:$&lt;Fortran_COMPILER_ID:GNU&gt;,$&lt;CONFIG:Debug&gt;&gt;:-fcheck=all;-Wall&gt;</a:t>
            </a:r>
            <a:endParaRPr lang="en-US" sz="1300" dirty="0"/>
          </a:p>
          <a:p>
            <a:pPr marL="0" indent="0">
              <a:lnSpc>
                <a:spcPct val="112000"/>
              </a:lnSpc>
              <a:buNone/>
            </a:pPr>
            <a:r>
              <a:rPr lang="en-US" sz="1300" dirty="0">
                <a:solidFill>
                  <a:srgbClr val="E6E8EC"/>
                </a:solidFill>
                <a:latin typeface="Courier New" pitchFamily="34" charset="0"/>
                <a:ea typeface="Courier New" pitchFamily="34" charset="-122"/>
                <a:cs typeface="Courier New" pitchFamily="34" charset="-120"/>
              </a:rPr>
              <a:t>  $&lt;$&lt;Fortran_COMPILER_ID:Intel,IntelLLVM&gt;:-warn;all&gt;)</a:t>
            </a:r>
            <a:endParaRPr lang="en-US" sz="1300" dirty="0"/>
          </a:p>
        </p:txBody>
      </p:sp>
      <p:sp>
        <p:nvSpPr>
          <p:cNvPr id="14" name="Text 7">
            <a:extLst>
              <a:ext uri="{FF2B5EF4-FFF2-40B4-BE49-F238E27FC236}">
                <a16:creationId xmlns:a16="http://schemas.microsoft.com/office/drawing/2014/main" id="{5A5DA616-E797-3D09-C305-5729A84C50A9}"/>
              </a:ext>
            </a:extLst>
          </p:cNvPr>
          <p:cNvSpPr txBox="1"/>
          <p:nvPr/>
        </p:nvSpPr>
        <p:spPr>
          <a:xfrm>
            <a:off x="640744" y="4702998"/>
            <a:ext cx="10881360" cy="274320"/>
          </a:xfrm>
          <a:prstGeom prst="rect">
            <a:avLst/>
          </a:prstGeom>
          <a:noFill/>
          <a:ln/>
        </p:spPr>
        <p:txBody>
          <a:bodyPr wrap="square" lIns="0" tIns="0" rIns="0" bIns="0" rtlCol="0" anchor="ctr"/>
          <a:lstStyle/>
          <a:p>
            <a:pPr marL="0" indent="0">
              <a:buNone/>
            </a:pPr>
            <a:r>
              <a:rPr lang="en-US" sz="1200" b="1" kern="0" spc="100" dirty="0">
                <a:solidFill>
                  <a:srgbClr val="6B7280"/>
                </a:solidFill>
                <a:latin typeface="Calibri" pitchFamily="34" charset="0"/>
                <a:ea typeface="Calibri" pitchFamily="34" charset="-122"/>
                <a:cs typeface="Calibri" pitchFamily="34" charset="-120"/>
              </a:rPr>
              <a:t>COMPILER-SPECIFIC FLAGS AS BRANCHES – THE OLD WAY, MORE READABLE</a:t>
            </a:r>
            <a:endParaRPr lang="en-US" sz="1200" dirty="0"/>
          </a:p>
        </p:txBody>
      </p:sp>
      <p:sp>
        <p:nvSpPr>
          <p:cNvPr id="16" name="Shape 8">
            <a:extLst>
              <a:ext uri="{FF2B5EF4-FFF2-40B4-BE49-F238E27FC236}">
                <a16:creationId xmlns:a16="http://schemas.microsoft.com/office/drawing/2014/main" id="{865D1BE2-C98A-8022-7AE0-6CC6C90AD7E6}"/>
              </a:ext>
            </a:extLst>
          </p:cNvPr>
          <p:cNvSpPr/>
          <p:nvPr/>
        </p:nvSpPr>
        <p:spPr>
          <a:xfrm>
            <a:off x="640080" y="5003734"/>
            <a:ext cx="10881360" cy="1323914"/>
          </a:xfrm>
          <a:prstGeom prst="roundRect">
            <a:avLst>
              <a:gd name="adj" fmla="val 6044"/>
            </a:avLst>
          </a:prstGeom>
          <a:solidFill>
            <a:srgbClr val="1F2430"/>
          </a:solidFill>
          <a:ln w="12700">
            <a:solidFill>
              <a:srgbClr val="1F2430"/>
            </a:solidFill>
            <a:prstDash val="solid"/>
          </a:ln>
        </p:spPr>
        <p:txBody>
          <a:bodyPr/>
          <a:lstStyle/>
          <a:p>
            <a:endParaRPr lang="en-US"/>
          </a:p>
        </p:txBody>
      </p:sp>
      <p:sp>
        <p:nvSpPr>
          <p:cNvPr id="18" name="Text 9">
            <a:extLst>
              <a:ext uri="{FF2B5EF4-FFF2-40B4-BE49-F238E27FC236}">
                <a16:creationId xmlns:a16="http://schemas.microsoft.com/office/drawing/2014/main" id="{3FACAAB8-C39D-C906-D76E-1949C067C58E}"/>
              </a:ext>
            </a:extLst>
          </p:cNvPr>
          <p:cNvSpPr txBox="1"/>
          <p:nvPr/>
        </p:nvSpPr>
        <p:spPr>
          <a:xfrm>
            <a:off x="841248" y="5135824"/>
            <a:ext cx="10479024" cy="917753"/>
          </a:xfrm>
          <a:prstGeom prst="rect">
            <a:avLst/>
          </a:prstGeom>
          <a:noFill/>
          <a:ln/>
        </p:spPr>
        <p:txBody>
          <a:bodyPr wrap="square" lIns="0" tIns="0" rIns="0" bIns="0" rtlCol="0" anchor="t"/>
          <a:lstStyle/>
          <a:p>
            <a:pPr>
              <a:lnSpc>
                <a:spcPct val="112000"/>
              </a:lnSpc>
            </a:pPr>
            <a:r>
              <a:rPr lang="en-US" sz="1300" dirty="0">
                <a:solidFill>
                  <a:srgbClr val="E6E8EC"/>
                </a:solidFill>
                <a:latin typeface="Courier New" pitchFamily="34" charset="0"/>
                <a:ea typeface="Courier New" pitchFamily="34" charset="-122"/>
                <a:cs typeface="Courier New" pitchFamily="34" charset="-120"/>
              </a:rPr>
              <a:t>if(</a:t>
            </a:r>
            <a:r>
              <a:rPr lang="en-US" sz="1300" dirty="0" err="1">
                <a:solidFill>
                  <a:srgbClr val="E6E8EC"/>
                </a:solidFill>
                <a:latin typeface="Courier New" pitchFamily="34" charset="0"/>
                <a:ea typeface="Courier New" pitchFamily="34" charset="-122"/>
                <a:cs typeface="Courier New" pitchFamily="34" charset="-120"/>
              </a:rPr>
              <a:t>CMAKE_Fortran_COMPILER_ID</a:t>
            </a:r>
            <a:r>
              <a:rPr lang="en-US" sz="1300" dirty="0">
                <a:solidFill>
                  <a:srgbClr val="E6E8EC"/>
                </a:solidFill>
                <a:latin typeface="Courier New" pitchFamily="34" charset="0"/>
                <a:ea typeface="Courier New" pitchFamily="34" charset="-122"/>
                <a:cs typeface="Courier New" pitchFamily="34" charset="-120"/>
              </a:rPr>
              <a:t> STREQUAL "GNU")</a:t>
            </a:r>
            <a:br>
              <a:rPr lang="en-US" sz="1300" dirty="0">
                <a:solidFill>
                  <a:srgbClr val="E6E8EC"/>
                </a:solidFill>
                <a:latin typeface="Courier New" pitchFamily="34" charset="0"/>
                <a:ea typeface="Courier New" pitchFamily="34" charset="-122"/>
                <a:cs typeface="Courier New" pitchFamily="34" charset="-120"/>
              </a:rPr>
            </a:br>
            <a:r>
              <a:rPr lang="en-US" sz="1300" dirty="0">
                <a:solidFill>
                  <a:srgbClr val="E6E8EC"/>
                </a:solidFill>
                <a:latin typeface="Courier New" pitchFamily="34" charset="0"/>
                <a:ea typeface="Courier New" pitchFamily="34" charset="-122"/>
                <a:cs typeface="Courier New" pitchFamily="34" charset="-120"/>
              </a:rPr>
              <a:t>  if (CMAKE_BUILD_TYPE STREQUAL "Debug")</a:t>
            </a:r>
            <a:br>
              <a:rPr lang="en-US" sz="1300" dirty="0">
                <a:solidFill>
                  <a:srgbClr val="E6E8EC"/>
                </a:solidFill>
                <a:latin typeface="Courier New" pitchFamily="34" charset="0"/>
                <a:ea typeface="Courier New" pitchFamily="34" charset="-122"/>
                <a:cs typeface="Courier New" pitchFamily="34" charset="-120"/>
              </a:rPr>
            </a:br>
            <a:r>
              <a:rPr lang="en-US" sz="1300" dirty="0">
                <a:solidFill>
                  <a:srgbClr val="E6E8EC"/>
                </a:solidFill>
                <a:latin typeface="Courier New" pitchFamily="34" charset="0"/>
                <a:ea typeface="Courier New" pitchFamily="34" charset="-122"/>
                <a:cs typeface="Courier New" pitchFamily="34" charset="-120"/>
              </a:rPr>
              <a:t>    </a:t>
            </a:r>
            <a:r>
              <a:rPr lang="en-US" sz="1300" dirty="0" err="1">
                <a:solidFill>
                  <a:srgbClr val="E6E8EC"/>
                </a:solidFill>
                <a:latin typeface="Courier New" pitchFamily="34" charset="0"/>
                <a:ea typeface="Courier New" pitchFamily="34" charset="-122"/>
                <a:cs typeface="Courier New" pitchFamily="34" charset="-120"/>
              </a:rPr>
              <a:t>target_compile_options</a:t>
            </a:r>
            <a:r>
              <a:rPr lang="en-US" sz="1300" dirty="0">
                <a:solidFill>
                  <a:srgbClr val="E6E8EC"/>
                </a:solidFill>
                <a:latin typeface="Courier New" pitchFamily="34" charset="0"/>
                <a:ea typeface="Courier New" pitchFamily="34" charset="-122"/>
                <a:cs typeface="Courier New" pitchFamily="34" charset="-120"/>
              </a:rPr>
              <a:t>(</a:t>
            </a:r>
            <a:r>
              <a:rPr lang="en-US" sz="1300" dirty="0" err="1">
                <a:solidFill>
                  <a:srgbClr val="E6E8EC"/>
                </a:solidFill>
                <a:latin typeface="Courier New" pitchFamily="34" charset="0"/>
                <a:ea typeface="Courier New" pitchFamily="34" charset="-122"/>
                <a:cs typeface="Courier New" pitchFamily="34" charset="-120"/>
              </a:rPr>
              <a:t>fortrandemo</a:t>
            </a:r>
            <a:r>
              <a:rPr lang="en-US" sz="1300" dirty="0">
                <a:solidFill>
                  <a:srgbClr val="E6E8EC"/>
                </a:solidFill>
                <a:latin typeface="Courier New" pitchFamily="34" charset="0"/>
                <a:ea typeface="Courier New" pitchFamily="34" charset="-122"/>
                <a:cs typeface="Courier New" pitchFamily="34" charset="-120"/>
              </a:rPr>
              <a:t> PRIVATE -fcheck=all;-Wall)</a:t>
            </a:r>
            <a:br>
              <a:rPr lang="en-US" sz="1300" dirty="0">
                <a:solidFill>
                  <a:srgbClr val="E6E8EC"/>
                </a:solidFill>
                <a:latin typeface="Courier New" pitchFamily="34" charset="0"/>
                <a:ea typeface="Courier New" pitchFamily="34" charset="-122"/>
                <a:cs typeface="Courier New" pitchFamily="34" charset="-120"/>
              </a:rPr>
            </a:br>
            <a:r>
              <a:rPr lang="en-US" sz="1300" dirty="0">
                <a:solidFill>
                  <a:srgbClr val="E6E8EC"/>
                </a:solidFill>
                <a:latin typeface="Courier New" pitchFamily="34" charset="0"/>
                <a:ea typeface="Courier New" pitchFamily="34" charset="-122"/>
                <a:cs typeface="Courier New" pitchFamily="34" charset="-120"/>
              </a:rPr>
              <a:t>  endif()</a:t>
            </a:r>
            <a:br>
              <a:rPr lang="en-US" sz="1300" dirty="0">
                <a:solidFill>
                  <a:srgbClr val="E6E8EC"/>
                </a:solidFill>
                <a:latin typeface="Courier New" pitchFamily="34" charset="0"/>
                <a:ea typeface="Courier New" pitchFamily="34" charset="-122"/>
                <a:cs typeface="Courier New" pitchFamily="34" charset="-120"/>
              </a:rPr>
            </a:br>
            <a:r>
              <a:rPr lang="en-US" sz="1300" dirty="0">
                <a:solidFill>
                  <a:srgbClr val="E6E8EC"/>
                </a:solidFill>
                <a:latin typeface="Courier New" pitchFamily="34" charset="0"/>
                <a:ea typeface="Courier New" pitchFamily="34" charset="-122"/>
                <a:cs typeface="Courier New" pitchFamily="34" charset="-120"/>
              </a:rPr>
              <a:t>endif()</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6327648"/>
            <a:ext cx="4572000" cy="274320"/>
          </a:xfrm>
          <a:prstGeom prst="rect">
            <a:avLst/>
          </a:prstGeom>
          <a:noFill/>
          <a:ln/>
        </p:spPr>
        <p:txBody>
          <a:bodyPr wrap="square" lIns="0" tIns="0" rIns="0" bIns="0" rtlCol="0" anchor="ctr"/>
          <a:lstStyle/>
          <a:p>
            <a:pPr marL="0" indent="0">
              <a:buNone/>
            </a:pPr>
            <a:r>
              <a:rPr lang="en-US" sz="1000" dirty="0">
                <a:solidFill>
                  <a:srgbClr val="AEB5BF"/>
                </a:solidFill>
                <a:latin typeface="Calibri" pitchFamily="34" charset="0"/>
                <a:ea typeface="Calibri" pitchFamily="34" charset="-122"/>
                <a:cs typeface="Calibri" pitchFamily="34" charset="-120"/>
              </a:rPr>
              <a:t>CMake for Fortran</a:t>
            </a:r>
            <a:endParaRPr lang="en-US" sz="1000" dirty="0"/>
          </a:p>
        </p:txBody>
      </p:sp>
      <p:sp>
        <p:nvSpPr>
          <p:cNvPr id="3" name="Text 1"/>
          <p:cNvSpPr txBox="1"/>
          <p:nvPr/>
        </p:nvSpPr>
        <p:spPr>
          <a:xfrm>
            <a:off x="10607040" y="6327648"/>
            <a:ext cx="914400" cy="274320"/>
          </a:xfrm>
          <a:prstGeom prst="rect">
            <a:avLst/>
          </a:prstGeom>
          <a:noFill/>
          <a:ln/>
        </p:spPr>
        <p:txBody>
          <a:bodyPr wrap="square" lIns="0" tIns="0" rIns="0" bIns="0" rtlCol="0" anchor="ctr"/>
          <a:lstStyle/>
          <a:p>
            <a:pPr marL="0" indent="0" algn="r">
              <a:buNone/>
            </a:pPr>
            <a:r>
              <a:rPr lang="en-US" sz="1000" dirty="0">
                <a:solidFill>
                  <a:srgbClr val="AEB5BF"/>
                </a:solidFill>
                <a:latin typeface="Calibri" pitchFamily="34" charset="0"/>
                <a:ea typeface="Calibri" pitchFamily="34" charset="-122"/>
                <a:cs typeface="Calibri" pitchFamily="34" charset="-120"/>
              </a:rPr>
              <a:t>15</a:t>
            </a:r>
            <a:endParaRPr lang="en-US" sz="1000" dirty="0"/>
          </a:p>
        </p:txBody>
      </p:sp>
      <p:sp>
        <p:nvSpPr>
          <p:cNvPr id="4" name="Text 2"/>
          <p:cNvSpPr txBox="1"/>
          <p:nvPr/>
        </p:nvSpPr>
        <p:spPr>
          <a:xfrm>
            <a:off x="640080" y="384048"/>
            <a:ext cx="10881360" cy="256032"/>
          </a:xfrm>
          <a:prstGeom prst="rect">
            <a:avLst/>
          </a:prstGeom>
          <a:noFill/>
          <a:ln/>
        </p:spPr>
        <p:txBody>
          <a:bodyPr wrap="square" lIns="0" tIns="0" rIns="0" bIns="0" rtlCol="0" anchor="ctr"/>
          <a:lstStyle/>
          <a:p>
            <a:pPr marL="0" indent="0">
              <a:buNone/>
            </a:pPr>
            <a:r>
              <a:rPr lang="en-US" sz="1100" b="1" kern="0" spc="200" dirty="0">
                <a:solidFill>
                  <a:srgbClr val="EF6C1A"/>
                </a:solidFill>
                <a:latin typeface="Calibri" pitchFamily="34" charset="0"/>
                <a:ea typeface="Calibri" pitchFamily="34" charset="-122"/>
                <a:cs typeface="Calibri" pitchFamily="34" charset="-120"/>
              </a:rPr>
              <a:t>CONFIGURATION</a:t>
            </a:r>
            <a:endParaRPr lang="en-US" sz="1100" dirty="0"/>
          </a:p>
        </p:txBody>
      </p:sp>
      <p:sp>
        <p:nvSpPr>
          <p:cNvPr id="5" name="Text 3"/>
          <p:cNvSpPr txBox="1"/>
          <p:nvPr/>
        </p:nvSpPr>
        <p:spPr>
          <a:xfrm>
            <a:off x="640080" y="658368"/>
            <a:ext cx="10881360" cy="658368"/>
          </a:xfrm>
          <a:prstGeom prst="rect">
            <a:avLst/>
          </a:prstGeom>
          <a:noFill/>
          <a:ln/>
        </p:spPr>
        <p:txBody>
          <a:bodyPr wrap="square" lIns="0" tIns="0" rIns="0" bIns="0" rtlCol="0" anchor="t"/>
          <a:lstStyle/>
          <a:p>
            <a:pPr marL="0" indent="0">
              <a:buNone/>
            </a:pPr>
            <a:r>
              <a:rPr lang="en-US" sz="3000" b="1" dirty="0">
                <a:solidFill>
                  <a:srgbClr val="1F2430"/>
                </a:solidFill>
                <a:latin typeface="Cambria" pitchFamily="34" charset="0"/>
                <a:ea typeface="Cambria" pitchFamily="34" charset="-122"/>
                <a:cs typeface="Cambria" pitchFamily="34" charset="-120"/>
              </a:rPr>
              <a:t>Options and the cache: switches for your users</a:t>
            </a:r>
            <a:endParaRPr lang="en-US" sz="3000" dirty="0"/>
          </a:p>
        </p:txBody>
      </p:sp>
      <p:sp>
        <p:nvSpPr>
          <p:cNvPr id="6" name="Shape 4"/>
          <p:cNvSpPr/>
          <p:nvPr/>
        </p:nvSpPr>
        <p:spPr>
          <a:xfrm>
            <a:off x="640080" y="1645920"/>
            <a:ext cx="6035040" cy="1763878"/>
          </a:xfrm>
          <a:prstGeom prst="roundRect">
            <a:avLst>
              <a:gd name="adj" fmla="val 4147"/>
            </a:avLst>
          </a:prstGeom>
          <a:solidFill>
            <a:srgbClr val="1F2430"/>
          </a:solidFill>
          <a:ln w="12700">
            <a:solidFill>
              <a:srgbClr val="1F2430"/>
            </a:solidFill>
            <a:prstDash val="solid"/>
          </a:ln>
        </p:spPr>
        <p:txBody>
          <a:bodyPr/>
          <a:lstStyle/>
          <a:p>
            <a:endParaRPr lang="en-US"/>
          </a:p>
        </p:txBody>
      </p:sp>
      <p:sp>
        <p:nvSpPr>
          <p:cNvPr id="7" name="Text 5"/>
          <p:cNvSpPr txBox="1"/>
          <p:nvPr/>
        </p:nvSpPr>
        <p:spPr>
          <a:xfrm>
            <a:off x="841248" y="1792224"/>
            <a:ext cx="5632704" cy="1471270"/>
          </a:xfrm>
          <a:prstGeom prst="rect">
            <a:avLst/>
          </a:prstGeom>
          <a:noFill/>
          <a:ln/>
        </p:spPr>
        <p:txBody>
          <a:bodyPr wrap="square" lIns="0" tIns="0" rIns="0" bIns="0" rtlCol="0" anchor="t"/>
          <a:lstStyle/>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option(ENABLE_MPI    "Build with MPI"    OFF)</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option(ENABLE_OPENMP "Build with OpenMP" OFF)</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if(ENABLE_MPI)</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find_package(MPI REQUIRED COMPONENTS Fortran)</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target_link_libraries(demo PUBLIC MPI::MPI_Fortran)</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endif()</a:t>
            </a:r>
            <a:endParaRPr lang="en-US" sz="1200" dirty="0"/>
          </a:p>
        </p:txBody>
      </p:sp>
      <p:sp>
        <p:nvSpPr>
          <p:cNvPr id="10" name="Text 8"/>
          <p:cNvSpPr txBox="1"/>
          <p:nvPr/>
        </p:nvSpPr>
        <p:spPr>
          <a:xfrm>
            <a:off x="640080" y="3703320"/>
            <a:ext cx="6035040" cy="2194560"/>
          </a:xfrm>
          <a:prstGeom prst="rect">
            <a:avLst/>
          </a:prstGeom>
          <a:noFill/>
          <a:ln/>
        </p:spPr>
        <p:txBody>
          <a:bodyPr wrap="square" lIns="0" tIns="0" rIns="0" bIns="0" rtlCol="0" anchor="t"/>
          <a:lstStyle/>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Values live in build/CMakeCache.txt and persist across re-runs - set an option once, not on every command.</a:t>
            </a:r>
            <a:endParaRPr lang="en-US" sz="1300" dirty="0"/>
          </a:p>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option() is self-documenting: -LAH prints every switch with its help text, so users can discover them.</a:t>
            </a:r>
            <a:endParaRPr lang="en-US" sz="1300" dirty="0"/>
          </a:p>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Anything a user might want to change should be an option, never an edit to a build file.</a:t>
            </a:r>
          </a:p>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Options are cached unless the build directory is removed or </a:t>
            </a:r>
            <a:r>
              <a:rPr lang="en-US" sz="1300" dirty="0" err="1">
                <a:solidFill>
                  <a:srgbClr val="3A4354"/>
                </a:solidFill>
                <a:latin typeface="Calibri" pitchFamily="34" charset="0"/>
                <a:ea typeface="Calibri" pitchFamily="34" charset="-122"/>
                <a:cs typeface="Calibri" pitchFamily="34" charset="-120"/>
              </a:rPr>
              <a:t>cmake</a:t>
            </a:r>
            <a:r>
              <a:rPr lang="en-US" sz="1300" dirty="0">
                <a:solidFill>
                  <a:srgbClr val="3A4354"/>
                </a:solidFill>
                <a:latin typeface="Calibri" pitchFamily="34" charset="0"/>
                <a:ea typeface="Calibri" pitchFamily="34" charset="-122"/>
                <a:cs typeface="Calibri" pitchFamily="34" charset="-120"/>
              </a:rPr>
              <a:t> is invoked with</a:t>
            </a:r>
            <a:br>
              <a:rPr lang="en-US" sz="1300" dirty="0">
                <a:solidFill>
                  <a:srgbClr val="3A4354"/>
                </a:solidFill>
                <a:latin typeface="Calibri" pitchFamily="34" charset="0"/>
                <a:ea typeface="Calibri" pitchFamily="34" charset="-122"/>
                <a:cs typeface="Calibri" pitchFamily="34" charset="-120"/>
              </a:rPr>
            </a:br>
            <a:r>
              <a:rPr lang="en-US" sz="1300" dirty="0">
                <a:solidFill>
                  <a:srgbClr val="3A4354"/>
                </a:solidFill>
                <a:latin typeface="Calibri" pitchFamily="34" charset="0"/>
                <a:ea typeface="Calibri" pitchFamily="34" charset="-122"/>
                <a:cs typeface="Calibri" pitchFamily="34" charset="-120"/>
              </a:rPr>
              <a:t>“--fresh”</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6327648"/>
            <a:ext cx="4572000" cy="274320"/>
          </a:xfrm>
          <a:prstGeom prst="rect">
            <a:avLst/>
          </a:prstGeom>
          <a:noFill/>
          <a:ln/>
        </p:spPr>
        <p:txBody>
          <a:bodyPr wrap="square" lIns="0" tIns="0" rIns="0" bIns="0" rtlCol="0" anchor="ctr"/>
          <a:lstStyle/>
          <a:p>
            <a:pPr marL="0" indent="0">
              <a:buNone/>
            </a:pPr>
            <a:r>
              <a:rPr lang="en-US" sz="1000" dirty="0">
                <a:solidFill>
                  <a:srgbClr val="AEB5BF"/>
                </a:solidFill>
                <a:latin typeface="Calibri" pitchFamily="34" charset="0"/>
                <a:ea typeface="Calibri" pitchFamily="34" charset="-122"/>
                <a:cs typeface="Calibri" pitchFamily="34" charset="-120"/>
              </a:rPr>
              <a:t>CMake for Fortran</a:t>
            </a:r>
            <a:endParaRPr lang="en-US" sz="1000" dirty="0"/>
          </a:p>
        </p:txBody>
      </p:sp>
      <p:sp>
        <p:nvSpPr>
          <p:cNvPr id="3" name="Text 1"/>
          <p:cNvSpPr txBox="1"/>
          <p:nvPr/>
        </p:nvSpPr>
        <p:spPr>
          <a:xfrm>
            <a:off x="10607040" y="6327648"/>
            <a:ext cx="914400" cy="274320"/>
          </a:xfrm>
          <a:prstGeom prst="rect">
            <a:avLst/>
          </a:prstGeom>
          <a:noFill/>
          <a:ln/>
        </p:spPr>
        <p:txBody>
          <a:bodyPr wrap="square" lIns="0" tIns="0" rIns="0" bIns="0" rtlCol="0" anchor="ctr"/>
          <a:lstStyle/>
          <a:p>
            <a:pPr marL="0" indent="0" algn="r">
              <a:buNone/>
            </a:pPr>
            <a:r>
              <a:rPr lang="en-US" sz="1000" dirty="0">
                <a:solidFill>
                  <a:srgbClr val="AEB5BF"/>
                </a:solidFill>
                <a:latin typeface="Calibri" pitchFamily="34" charset="0"/>
                <a:ea typeface="Calibri" pitchFamily="34" charset="-122"/>
                <a:cs typeface="Calibri" pitchFamily="34" charset="-120"/>
              </a:rPr>
              <a:t>16</a:t>
            </a:r>
            <a:endParaRPr lang="en-US" sz="1000" dirty="0"/>
          </a:p>
        </p:txBody>
      </p:sp>
      <p:sp>
        <p:nvSpPr>
          <p:cNvPr id="4" name="Text 2"/>
          <p:cNvSpPr txBox="1"/>
          <p:nvPr/>
        </p:nvSpPr>
        <p:spPr>
          <a:xfrm>
            <a:off x="640080" y="384048"/>
            <a:ext cx="10881360" cy="256032"/>
          </a:xfrm>
          <a:prstGeom prst="rect">
            <a:avLst/>
          </a:prstGeom>
          <a:noFill/>
          <a:ln/>
        </p:spPr>
        <p:txBody>
          <a:bodyPr wrap="square" lIns="0" tIns="0" rIns="0" bIns="0" rtlCol="0" anchor="ctr"/>
          <a:lstStyle/>
          <a:p>
            <a:pPr marL="0" indent="0">
              <a:buNone/>
            </a:pPr>
            <a:r>
              <a:rPr lang="en-US" sz="1100" b="1" kern="0" spc="200" dirty="0">
                <a:solidFill>
                  <a:srgbClr val="EF6C1A"/>
                </a:solidFill>
                <a:latin typeface="Calibri" pitchFamily="34" charset="0"/>
                <a:ea typeface="Calibri" pitchFamily="34" charset="-122"/>
                <a:cs typeface="Calibri" pitchFamily="34" charset="-120"/>
              </a:rPr>
              <a:t>DEPENDENCIES</a:t>
            </a:r>
            <a:endParaRPr lang="en-US" sz="1100" dirty="0"/>
          </a:p>
        </p:txBody>
      </p:sp>
      <p:sp>
        <p:nvSpPr>
          <p:cNvPr id="5" name="Text 3"/>
          <p:cNvSpPr txBox="1"/>
          <p:nvPr/>
        </p:nvSpPr>
        <p:spPr>
          <a:xfrm>
            <a:off x="640080" y="658368"/>
            <a:ext cx="10881360" cy="658368"/>
          </a:xfrm>
          <a:prstGeom prst="rect">
            <a:avLst/>
          </a:prstGeom>
          <a:noFill/>
          <a:ln/>
        </p:spPr>
        <p:txBody>
          <a:bodyPr wrap="square" lIns="0" tIns="0" rIns="0" bIns="0" rtlCol="0" anchor="t"/>
          <a:lstStyle/>
          <a:p>
            <a:pPr marL="0" indent="0">
              <a:buNone/>
            </a:pPr>
            <a:r>
              <a:rPr lang="en-US" sz="3000" b="1" dirty="0">
                <a:solidFill>
                  <a:srgbClr val="1F2430"/>
                </a:solidFill>
                <a:latin typeface="Cambria" pitchFamily="34" charset="0"/>
                <a:ea typeface="Cambria" pitchFamily="34" charset="-122"/>
                <a:cs typeface="Cambria" pitchFamily="34" charset="-120"/>
              </a:rPr>
              <a:t>find_package: stop hard-coding paths</a:t>
            </a:r>
            <a:endParaRPr lang="en-US" sz="3000" dirty="0"/>
          </a:p>
        </p:txBody>
      </p:sp>
      <p:sp>
        <p:nvSpPr>
          <p:cNvPr id="6" name="Shape 4"/>
          <p:cNvSpPr/>
          <p:nvPr/>
        </p:nvSpPr>
        <p:spPr>
          <a:xfrm>
            <a:off x="640080" y="1645919"/>
            <a:ext cx="6583680" cy="2335415"/>
          </a:xfrm>
          <a:prstGeom prst="roundRect">
            <a:avLst>
              <a:gd name="adj" fmla="val 4700"/>
            </a:avLst>
          </a:prstGeom>
          <a:solidFill>
            <a:srgbClr val="1F2430"/>
          </a:solidFill>
          <a:ln w="12700">
            <a:solidFill>
              <a:srgbClr val="1F2430"/>
            </a:solidFill>
            <a:prstDash val="solid"/>
          </a:ln>
        </p:spPr>
        <p:txBody>
          <a:bodyPr/>
          <a:lstStyle/>
          <a:p>
            <a:endParaRPr lang="en-US"/>
          </a:p>
        </p:txBody>
      </p:sp>
      <p:sp>
        <p:nvSpPr>
          <p:cNvPr id="7" name="Text 5"/>
          <p:cNvSpPr txBox="1"/>
          <p:nvPr/>
        </p:nvSpPr>
        <p:spPr>
          <a:xfrm>
            <a:off x="841248" y="1792224"/>
            <a:ext cx="6181344" cy="1263701"/>
          </a:xfrm>
          <a:prstGeom prst="rect">
            <a:avLst/>
          </a:prstGeom>
          <a:noFill/>
          <a:ln/>
        </p:spPr>
        <p:txBody>
          <a:bodyPr wrap="square" lIns="0" tIns="0" rIns="0" bIns="0" rtlCol="0" anchor="t"/>
          <a:lstStyle/>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find_package(MPI     REQUIRED COMPONENTS Fortran)</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find_package(OpenMP  REQUIRED COMPONENTS Fortran)</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find_package(NetCDF  REQUIRED COMPONENTS Fortran)</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target_link_libraries(demo PUBLIC</a:t>
            </a:r>
            <a:endParaRPr lang="en-US" sz="1200" dirty="0"/>
          </a:p>
          <a:p>
            <a:pPr>
              <a:lnSpc>
                <a:spcPct val="112000"/>
              </a:lnSpc>
            </a:pPr>
            <a:r>
              <a:rPr lang="en-US" sz="1200" dirty="0">
                <a:solidFill>
                  <a:srgbClr val="E6E8EC"/>
                </a:solidFill>
                <a:latin typeface="Courier New" pitchFamily="34" charset="0"/>
                <a:ea typeface="Courier New" pitchFamily="34" charset="-122"/>
                <a:cs typeface="Courier New" pitchFamily="34" charset="-120"/>
              </a:rPr>
              <a:t>  MPI::MPI_Fortran OpenMP::OpenMP_Fortran NetCDF::</a:t>
            </a:r>
            <a:r>
              <a:rPr lang="en-US" sz="1200" dirty="0" err="1">
                <a:solidFill>
                  <a:srgbClr val="E6E8EC"/>
                </a:solidFill>
                <a:latin typeface="Courier New" pitchFamily="34" charset="0"/>
                <a:ea typeface="Courier New" pitchFamily="34" charset="-122"/>
                <a:cs typeface="Courier New" pitchFamily="34" charset="-120"/>
              </a:rPr>
              <a:t>NetCDF_Fortran</a:t>
            </a:r>
            <a:r>
              <a:rPr lang="en-US" sz="1200" dirty="0">
                <a:solidFill>
                  <a:srgbClr val="E6E8EC"/>
                </a:solidFill>
                <a:latin typeface="Courier New" pitchFamily="34" charset="0"/>
                <a:ea typeface="Courier New" pitchFamily="34" charset="-122"/>
                <a:cs typeface="Courier New" pitchFamily="34" charset="-120"/>
              </a:rPr>
              <a:t>)</a:t>
            </a:r>
            <a:br>
              <a:rPr lang="en-US" sz="1200" dirty="0">
                <a:solidFill>
                  <a:srgbClr val="E6E8EC"/>
                </a:solidFill>
                <a:latin typeface="Courier New" pitchFamily="34" charset="0"/>
                <a:ea typeface="Courier New" pitchFamily="34" charset="-122"/>
                <a:cs typeface="Courier New" pitchFamily="34" charset="-120"/>
              </a:rPr>
            </a:br>
            <a:br>
              <a:rPr lang="en-US" sz="1200" dirty="0">
                <a:solidFill>
                  <a:srgbClr val="E6E8EC"/>
                </a:solidFill>
                <a:latin typeface="Courier New" pitchFamily="34" charset="0"/>
                <a:ea typeface="Courier New" pitchFamily="34" charset="-122"/>
                <a:cs typeface="Courier New" pitchFamily="34" charset="-120"/>
              </a:rPr>
            </a:br>
            <a:r>
              <a:rPr lang="en-US" sz="1200" dirty="0">
                <a:solidFill>
                  <a:srgbClr val="E6E8EC"/>
                </a:solidFill>
                <a:latin typeface="Courier New" pitchFamily="34" charset="0"/>
                <a:ea typeface="Courier New" pitchFamily="34" charset="-122"/>
                <a:cs typeface="Courier New" pitchFamily="34" charset="-120"/>
              </a:rPr>
              <a:t># find packages with pkg-config</a:t>
            </a:r>
            <a:br>
              <a:rPr lang="en-US" sz="1200" dirty="0">
                <a:solidFill>
                  <a:srgbClr val="E6E8EC"/>
                </a:solidFill>
                <a:latin typeface="Courier New" pitchFamily="34" charset="0"/>
                <a:ea typeface="Courier New" pitchFamily="34" charset="-122"/>
                <a:cs typeface="Courier New" pitchFamily="34" charset="-120"/>
              </a:rPr>
            </a:br>
            <a:r>
              <a:rPr lang="en-US" sz="1200" dirty="0" err="1">
                <a:solidFill>
                  <a:srgbClr val="E6E8EC"/>
                </a:solidFill>
                <a:latin typeface="Courier New" pitchFamily="34" charset="0"/>
                <a:ea typeface="Courier New" pitchFamily="34" charset="-122"/>
                <a:cs typeface="Courier New" pitchFamily="34" charset="-120"/>
              </a:rPr>
              <a:t>find_package</a:t>
            </a:r>
            <a:r>
              <a:rPr lang="en-US" sz="1200" dirty="0">
                <a:solidFill>
                  <a:srgbClr val="E6E8EC"/>
                </a:solidFill>
                <a:latin typeface="Courier New" pitchFamily="34" charset="0"/>
                <a:ea typeface="Courier New" pitchFamily="34" charset="-122"/>
                <a:cs typeface="Courier New" pitchFamily="34" charset="-120"/>
              </a:rPr>
              <a:t>(</a:t>
            </a:r>
            <a:r>
              <a:rPr lang="en-US" sz="1200" dirty="0" err="1">
                <a:solidFill>
                  <a:srgbClr val="E6E8EC"/>
                </a:solidFill>
                <a:latin typeface="Courier New" pitchFamily="34" charset="0"/>
                <a:ea typeface="Courier New" pitchFamily="34" charset="-122"/>
                <a:cs typeface="Courier New" pitchFamily="34" charset="-120"/>
              </a:rPr>
              <a:t>PkgConfig</a:t>
            </a:r>
            <a:r>
              <a:rPr lang="en-US" sz="1200" dirty="0">
                <a:solidFill>
                  <a:srgbClr val="E6E8EC"/>
                </a:solidFill>
                <a:latin typeface="Courier New" pitchFamily="34" charset="0"/>
                <a:ea typeface="Courier New" pitchFamily="34" charset="-122"/>
                <a:cs typeface="Courier New" pitchFamily="34" charset="-120"/>
              </a:rPr>
              <a:t> REQUIRED)</a:t>
            </a:r>
            <a:br>
              <a:rPr lang="en-US" sz="1200" dirty="0">
                <a:solidFill>
                  <a:srgbClr val="E6E8EC"/>
                </a:solidFill>
                <a:latin typeface="Courier New" pitchFamily="34" charset="0"/>
                <a:ea typeface="Courier New" pitchFamily="34" charset="-122"/>
                <a:cs typeface="Courier New" pitchFamily="34" charset="-120"/>
              </a:rPr>
            </a:br>
            <a:r>
              <a:rPr lang="en-US" sz="1200" dirty="0" err="1">
                <a:solidFill>
                  <a:srgbClr val="E6E8EC"/>
                </a:solidFill>
                <a:latin typeface="Courier New" pitchFamily="34" charset="0"/>
                <a:ea typeface="Courier New" pitchFamily="34" charset="-122"/>
                <a:cs typeface="Courier New" pitchFamily="34" charset="-120"/>
              </a:rPr>
              <a:t>pkg_check_modules</a:t>
            </a:r>
            <a:r>
              <a:rPr lang="en-US" sz="1200" dirty="0">
                <a:solidFill>
                  <a:srgbClr val="E6E8EC"/>
                </a:solidFill>
                <a:latin typeface="Courier New" pitchFamily="34" charset="0"/>
                <a:ea typeface="Courier New" pitchFamily="34" charset="-122"/>
                <a:cs typeface="Courier New" pitchFamily="34" charset="-120"/>
              </a:rPr>
              <a:t>(</a:t>
            </a:r>
            <a:r>
              <a:rPr lang="en-US" sz="1200" dirty="0" err="1">
                <a:solidFill>
                  <a:srgbClr val="E6E8EC"/>
                </a:solidFill>
                <a:latin typeface="Courier New" pitchFamily="34" charset="0"/>
                <a:ea typeface="Courier New" pitchFamily="34" charset="-122"/>
                <a:cs typeface="Courier New" pitchFamily="34" charset="-120"/>
              </a:rPr>
              <a:t>yaml</a:t>
            </a:r>
            <a:r>
              <a:rPr lang="en-US" sz="1200" dirty="0">
                <a:solidFill>
                  <a:srgbClr val="E6E8EC"/>
                </a:solidFill>
                <a:latin typeface="Courier New" pitchFamily="34" charset="0"/>
                <a:ea typeface="Courier New" pitchFamily="34" charset="-122"/>
                <a:cs typeface="Courier New" pitchFamily="34" charset="-120"/>
              </a:rPr>
              <a:t> REQUIRED IMPORTED_TARGET yaml-0.1)</a:t>
            </a:r>
            <a:endParaRPr lang="en-US" sz="1200" dirty="0"/>
          </a:p>
        </p:txBody>
      </p:sp>
      <p:sp>
        <p:nvSpPr>
          <p:cNvPr id="8" name="Text 6"/>
          <p:cNvSpPr txBox="1"/>
          <p:nvPr/>
        </p:nvSpPr>
        <p:spPr>
          <a:xfrm>
            <a:off x="7406640" y="1737360"/>
            <a:ext cx="4133088" cy="2057400"/>
          </a:xfrm>
          <a:prstGeom prst="rect">
            <a:avLst/>
          </a:prstGeom>
          <a:noFill/>
          <a:ln/>
        </p:spPr>
        <p:txBody>
          <a:bodyPr wrap="square" lIns="0" tIns="0" rIns="0" bIns="0" rtlCol="0" anchor="t"/>
          <a:lstStyle/>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You get an imported target that carries include dirs, link libraries and the required flags.</a:t>
            </a:r>
            <a:endParaRPr lang="en-US" sz="1300" dirty="0"/>
          </a:p>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No -I, no -L, no -l anywhere in your build files.</a:t>
            </a:r>
          </a:p>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Caution: Some MPI installations and other packages require “finding” the C component as well, even though only Fortran is used by the project</a:t>
            </a:r>
            <a:endParaRPr lang="en-US" sz="1300" dirty="0"/>
          </a:p>
        </p:txBody>
      </p:sp>
      <p:sp>
        <p:nvSpPr>
          <p:cNvPr id="9" name="Shape 7"/>
          <p:cNvSpPr/>
          <p:nvPr/>
        </p:nvSpPr>
        <p:spPr>
          <a:xfrm>
            <a:off x="640080" y="4156731"/>
            <a:ext cx="3447288" cy="2011680"/>
          </a:xfrm>
          <a:prstGeom prst="roundRect">
            <a:avLst>
              <a:gd name="adj" fmla="val 2727"/>
            </a:avLst>
          </a:prstGeom>
          <a:solidFill>
            <a:srgbClr val="F4F5F7"/>
          </a:solidFill>
          <a:ln w="12700">
            <a:solidFill>
              <a:srgbClr val="E3E6EA"/>
            </a:solidFill>
            <a:prstDash val="solid"/>
          </a:ln>
        </p:spPr>
        <p:txBody>
          <a:bodyPr/>
          <a:lstStyle/>
          <a:p>
            <a:endParaRPr lang="en-US"/>
          </a:p>
        </p:txBody>
      </p:sp>
      <p:sp>
        <p:nvSpPr>
          <p:cNvPr id="10" name="Shape 8"/>
          <p:cNvSpPr/>
          <p:nvPr/>
        </p:nvSpPr>
        <p:spPr>
          <a:xfrm>
            <a:off x="877824" y="4376187"/>
            <a:ext cx="384048" cy="384048"/>
          </a:xfrm>
          <a:prstGeom prst="ellipse">
            <a:avLst/>
          </a:prstGeom>
          <a:solidFill>
            <a:srgbClr val="EF6C1A"/>
          </a:solidFill>
          <a:ln w="12700">
            <a:solidFill>
              <a:srgbClr val="EF6C1A"/>
            </a:solidFill>
            <a:prstDash val="solid"/>
          </a:ln>
        </p:spPr>
        <p:txBody>
          <a:bodyPr/>
          <a:lstStyle/>
          <a:p>
            <a:endParaRPr lang="en-US"/>
          </a:p>
        </p:txBody>
      </p:sp>
      <p:sp>
        <p:nvSpPr>
          <p:cNvPr id="11" name="Text 9"/>
          <p:cNvSpPr txBox="1"/>
          <p:nvPr/>
        </p:nvSpPr>
        <p:spPr>
          <a:xfrm>
            <a:off x="877824" y="4376187"/>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2" name="Text 10"/>
          <p:cNvSpPr txBox="1"/>
          <p:nvPr/>
        </p:nvSpPr>
        <p:spPr>
          <a:xfrm>
            <a:off x="1389888" y="4394475"/>
            <a:ext cx="2459736" cy="347472"/>
          </a:xfrm>
          <a:prstGeom prst="rect">
            <a:avLst/>
          </a:prstGeom>
          <a:noFill/>
          <a:ln/>
        </p:spPr>
        <p:txBody>
          <a:bodyPr wrap="square" lIns="0" tIns="0" rIns="0" bIns="0" rtlCol="0" anchor="ctr"/>
          <a:lstStyle/>
          <a:p>
            <a:pPr marL="0" indent="0">
              <a:buNone/>
            </a:pPr>
            <a:r>
              <a:rPr lang="en-US" sz="1500" b="1" dirty="0">
                <a:solidFill>
                  <a:srgbClr val="1F2430"/>
                </a:solidFill>
                <a:latin typeface="Calibri" pitchFamily="34" charset="0"/>
                <a:ea typeface="Calibri" pitchFamily="34" charset="-122"/>
                <a:cs typeface="Calibri" pitchFamily="34" charset="-120"/>
              </a:rPr>
              <a:t>Module mode</a:t>
            </a:r>
            <a:endParaRPr lang="en-US" sz="1500" dirty="0"/>
          </a:p>
        </p:txBody>
      </p:sp>
      <p:sp>
        <p:nvSpPr>
          <p:cNvPr id="13" name="Text 11"/>
          <p:cNvSpPr txBox="1"/>
          <p:nvPr/>
        </p:nvSpPr>
        <p:spPr>
          <a:xfrm>
            <a:off x="896112" y="4815099"/>
            <a:ext cx="2935224" cy="1225296"/>
          </a:xfrm>
          <a:prstGeom prst="rect">
            <a:avLst/>
          </a:prstGeom>
          <a:noFill/>
          <a:ln/>
        </p:spPr>
        <p:txBody>
          <a:bodyPr wrap="square" lIns="0" tIns="0" rIns="0" bIns="0" rtlCol="0" anchor="t"/>
          <a:lstStyle/>
          <a:p>
            <a:pPr marL="0" indent="0">
              <a:lnSpc>
                <a:spcPct val="115000"/>
              </a:lnSpc>
              <a:buNone/>
            </a:pPr>
            <a:r>
              <a:rPr lang="en-US" sz="1300" dirty="0">
                <a:solidFill>
                  <a:srgbClr val="3A4354"/>
                </a:solidFill>
                <a:latin typeface="Calibri" pitchFamily="34" charset="0"/>
                <a:ea typeface="Calibri" pitchFamily="34" charset="-122"/>
                <a:cs typeface="Calibri" pitchFamily="34" charset="-120"/>
              </a:rPr>
              <a:t>CMake ships FindXxx.cmake for MPI, OpenMP, LAPACK, Threads, Python and dozens more. Nothing to install.</a:t>
            </a:r>
            <a:br>
              <a:rPr lang="en-US" sz="1300" dirty="0">
                <a:solidFill>
                  <a:srgbClr val="3A4354"/>
                </a:solidFill>
                <a:latin typeface="Calibri" pitchFamily="34" charset="0"/>
                <a:ea typeface="Calibri" pitchFamily="34" charset="-122"/>
                <a:cs typeface="Calibri" pitchFamily="34" charset="-120"/>
              </a:rPr>
            </a:br>
            <a:r>
              <a:rPr lang="en-US" sz="1300" dirty="0">
                <a:solidFill>
                  <a:srgbClr val="3A4354"/>
                </a:solidFill>
                <a:latin typeface="Calibri" pitchFamily="34" charset="0"/>
                <a:ea typeface="Calibri" pitchFamily="34" charset="-122"/>
                <a:cs typeface="Calibri" pitchFamily="34" charset="-120"/>
              </a:rPr>
              <a:t>Packages can ship their own </a:t>
            </a:r>
            <a:r>
              <a:rPr lang="en-US" sz="1300" dirty="0" err="1">
                <a:solidFill>
                  <a:srgbClr val="3A4354"/>
                </a:solidFill>
                <a:latin typeface="Calibri" pitchFamily="34" charset="0"/>
                <a:ea typeface="Calibri" pitchFamily="34" charset="-122"/>
                <a:cs typeface="Calibri" pitchFamily="34" charset="-120"/>
              </a:rPr>
              <a:t>FindXxx.cmake</a:t>
            </a:r>
            <a:r>
              <a:rPr lang="en-US" sz="1300" dirty="0">
                <a:solidFill>
                  <a:srgbClr val="3A4354"/>
                </a:solidFill>
                <a:latin typeface="Calibri" pitchFamily="34" charset="0"/>
                <a:ea typeface="Calibri" pitchFamily="34" charset="-122"/>
                <a:cs typeface="Calibri" pitchFamily="34" charset="-120"/>
              </a:rPr>
              <a:t> (e.g. ESMF), just point </a:t>
            </a:r>
            <a:r>
              <a:rPr lang="en-US" sz="1300" dirty="0" err="1">
                <a:solidFill>
                  <a:srgbClr val="3A4354"/>
                </a:solidFill>
                <a:latin typeface="Calibri" pitchFamily="34" charset="0"/>
                <a:ea typeface="Calibri" pitchFamily="34" charset="-122"/>
                <a:cs typeface="Calibri" pitchFamily="34" charset="-120"/>
              </a:rPr>
              <a:t>CMake</a:t>
            </a:r>
            <a:r>
              <a:rPr lang="en-US" sz="1300" dirty="0">
                <a:solidFill>
                  <a:srgbClr val="3A4354"/>
                </a:solidFill>
                <a:latin typeface="Calibri" pitchFamily="34" charset="0"/>
                <a:ea typeface="Calibri" pitchFamily="34" charset="-122"/>
                <a:cs typeface="Calibri" pitchFamily="34" charset="-120"/>
              </a:rPr>
              <a:t> to it.</a:t>
            </a:r>
            <a:endParaRPr lang="en-US" sz="1300" dirty="0"/>
          </a:p>
        </p:txBody>
      </p:sp>
      <p:sp>
        <p:nvSpPr>
          <p:cNvPr id="14" name="Shape 12"/>
          <p:cNvSpPr/>
          <p:nvPr/>
        </p:nvSpPr>
        <p:spPr>
          <a:xfrm>
            <a:off x="4361688" y="4156731"/>
            <a:ext cx="3447288" cy="2011680"/>
          </a:xfrm>
          <a:prstGeom prst="roundRect">
            <a:avLst>
              <a:gd name="adj" fmla="val 2727"/>
            </a:avLst>
          </a:prstGeom>
          <a:solidFill>
            <a:srgbClr val="F4F5F7"/>
          </a:solidFill>
          <a:ln w="12700">
            <a:solidFill>
              <a:srgbClr val="E3E6EA"/>
            </a:solidFill>
            <a:prstDash val="solid"/>
          </a:ln>
        </p:spPr>
        <p:txBody>
          <a:bodyPr/>
          <a:lstStyle/>
          <a:p>
            <a:endParaRPr lang="en-US"/>
          </a:p>
        </p:txBody>
      </p:sp>
      <p:sp>
        <p:nvSpPr>
          <p:cNvPr id="15" name="Shape 13"/>
          <p:cNvSpPr/>
          <p:nvPr/>
        </p:nvSpPr>
        <p:spPr>
          <a:xfrm>
            <a:off x="4599432" y="4376187"/>
            <a:ext cx="384048" cy="384048"/>
          </a:xfrm>
          <a:prstGeom prst="ellipse">
            <a:avLst/>
          </a:prstGeom>
          <a:solidFill>
            <a:srgbClr val="2E7D5B"/>
          </a:solidFill>
          <a:ln w="12700">
            <a:solidFill>
              <a:srgbClr val="2E7D5B"/>
            </a:solidFill>
            <a:prstDash val="solid"/>
          </a:ln>
        </p:spPr>
        <p:txBody>
          <a:bodyPr/>
          <a:lstStyle/>
          <a:p>
            <a:endParaRPr lang="en-US"/>
          </a:p>
        </p:txBody>
      </p:sp>
      <p:sp>
        <p:nvSpPr>
          <p:cNvPr id="16" name="Text 14"/>
          <p:cNvSpPr txBox="1"/>
          <p:nvPr/>
        </p:nvSpPr>
        <p:spPr>
          <a:xfrm>
            <a:off x="4599432" y="4376187"/>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5"/>
          <p:cNvSpPr txBox="1"/>
          <p:nvPr/>
        </p:nvSpPr>
        <p:spPr>
          <a:xfrm>
            <a:off x="5111496" y="4394475"/>
            <a:ext cx="2459736" cy="347472"/>
          </a:xfrm>
          <a:prstGeom prst="rect">
            <a:avLst/>
          </a:prstGeom>
          <a:noFill/>
          <a:ln/>
        </p:spPr>
        <p:txBody>
          <a:bodyPr wrap="square" lIns="0" tIns="0" rIns="0" bIns="0" rtlCol="0" anchor="ctr"/>
          <a:lstStyle/>
          <a:p>
            <a:pPr marL="0" indent="0">
              <a:buNone/>
            </a:pPr>
            <a:r>
              <a:rPr lang="en-US" sz="1500" b="1" dirty="0">
                <a:solidFill>
                  <a:srgbClr val="1F2430"/>
                </a:solidFill>
                <a:latin typeface="Calibri" pitchFamily="34" charset="0"/>
                <a:ea typeface="Calibri" pitchFamily="34" charset="-122"/>
                <a:cs typeface="Calibri" pitchFamily="34" charset="-120"/>
              </a:rPr>
              <a:t>Config mode</a:t>
            </a:r>
            <a:endParaRPr lang="en-US" sz="1500" dirty="0"/>
          </a:p>
        </p:txBody>
      </p:sp>
      <p:sp>
        <p:nvSpPr>
          <p:cNvPr id="18" name="Text 16"/>
          <p:cNvSpPr txBox="1"/>
          <p:nvPr/>
        </p:nvSpPr>
        <p:spPr>
          <a:xfrm>
            <a:off x="4617720" y="4815099"/>
            <a:ext cx="2935224" cy="1225296"/>
          </a:xfrm>
          <a:prstGeom prst="rect">
            <a:avLst/>
          </a:prstGeom>
          <a:noFill/>
          <a:ln/>
        </p:spPr>
        <p:txBody>
          <a:bodyPr wrap="square" lIns="0" tIns="0" rIns="0" bIns="0" rtlCol="0" anchor="t"/>
          <a:lstStyle/>
          <a:p>
            <a:pPr marL="0" indent="0">
              <a:lnSpc>
                <a:spcPct val="115000"/>
              </a:lnSpc>
              <a:buNone/>
            </a:pPr>
            <a:r>
              <a:rPr lang="en-US" sz="1300" dirty="0">
                <a:solidFill>
                  <a:srgbClr val="3A4354"/>
                </a:solidFill>
                <a:latin typeface="Calibri" pitchFamily="34" charset="0"/>
                <a:ea typeface="Calibri" pitchFamily="34" charset="-122"/>
                <a:cs typeface="Calibri" pitchFamily="34" charset="-120"/>
              </a:rPr>
              <a:t>The dependency was itself built with CMake and installed an XxxConfig.cmake. Exact, versioned, no guessing. This is what you should aim to provide.</a:t>
            </a:r>
            <a:endParaRPr lang="en-US" sz="1300" dirty="0"/>
          </a:p>
        </p:txBody>
      </p:sp>
      <p:sp>
        <p:nvSpPr>
          <p:cNvPr id="19" name="Shape 17"/>
          <p:cNvSpPr/>
          <p:nvPr/>
        </p:nvSpPr>
        <p:spPr>
          <a:xfrm>
            <a:off x="8083296" y="4156731"/>
            <a:ext cx="3447288" cy="2011680"/>
          </a:xfrm>
          <a:prstGeom prst="roundRect">
            <a:avLst>
              <a:gd name="adj" fmla="val 2727"/>
            </a:avLst>
          </a:prstGeom>
          <a:solidFill>
            <a:srgbClr val="F4F5F7"/>
          </a:solidFill>
          <a:ln w="12700">
            <a:solidFill>
              <a:srgbClr val="E3E6EA"/>
            </a:solidFill>
            <a:prstDash val="solid"/>
          </a:ln>
        </p:spPr>
        <p:txBody>
          <a:bodyPr/>
          <a:lstStyle/>
          <a:p>
            <a:endParaRPr lang="en-US"/>
          </a:p>
        </p:txBody>
      </p:sp>
      <p:sp>
        <p:nvSpPr>
          <p:cNvPr id="20" name="Shape 18"/>
          <p:cNvSpPr/>
          <p:nvPr/>
        </p:nvSpPr>
        <p:spPr>
          <a:xfrm>
            <a:off x="8321040" y="4376187"/>
            <a:ext cx="384048" cy="384048"/>
          </a:xfrm>
          <a:prstGeom prst="ellipse">
            <a:avLst/>
          </a:prstGeom>
          <a:solidFill>
            <a:srgbClr val="EF6C1A"/>
          </a:solidFill>
          <a:ln w="12700">
            <a:solidFill>
              <a:srgbClr val="EF6C1A"/>
            </a:solidFill>
            <a:prstDash val="solid"/>
          </a:ln>
        </p:spPr>
        <p:txBody>
          <a:bodyPr/>
          <a:lstStyle/>
          <a:p>
            <a:endParaRPr lang="en-US"/>
          </a:p>
        </p:txBody>
      </p:sp>
      <p:sp>
        <p:nvSpPr>
          <p:cNvPr id="21" name="Text 19"/>
          <p:cNvSpPr txBox="1"/>
          <p:nvPr/>
        </p:nvSpPr>
        <p:spPr>
          <a:xfrm>
            <a:off x="8321040" y="4376187"/>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20"/>
          <p:cNvSpPr txBox="1"/>
          <p:nvPr/>
        </p:nvSpPr>
        <p:spPr>
          <a:xfrm>
            <a:off x="8833104" y="4394475"/>
            <a:ext cx="2459736" cy="347472"/>
          </a:xfrm>
          <a:prstGeom prst="rect">
            <a:avLst/>
          </a:prstGeom>
          <a:noFill/>
          <a:ln/>
        </p:spPr>
        <p:txBody>
          <a:bodyPr wrap="square" lIns="0" tIns="0" rIns="0" bIns="0" rtlCol="0" anchor="ctr"/>
          <a:lstStyle/>
          <a:p>
            <a:pPr marL="0" indent="0">
              <a:buNone/>
            </a:pPr>
            <a:r>
              <a:rPr lang="en-US" sz="1500" b="1" dirty="0">
                <a:solidFill>
                  <a:srgbClr val="1F2430"/>
                </a:solidFill>
                <a:latin typeface="Calibri" pitchFamily="34" charset="0"/>
                <a:ea typeface="Calibri" pitchFamily="34" charset="-122"/>
                <a:cs typeface="Calibri" pitchFamily="34" charset="-120"/>
              </a:rPr>
              <a:t>Pointing it at things</a:t>
            </a:r>
            <a:endParaRPr lang="en-US" sz="1500" dirty="0"/>
          </a:p>
        </p:txBody>
      </p:sp>
      <p:sp>
        <p:nvSpPr>
          <p:cNvPr id="23" name="Text 21"/>
          <p:cNvSpPr txBox="1"/>
          <p:nvPr/>
        </p:nvSpPr>
        <p:spPr>
          <a:xfrm>
            <a:off x="8339328" y="4815099"/>
            <a:ext cx="2935224" cy="1225296"/>
          </a:xfrm>
          <a:prstGeom prst="rect">
            <a:avLst/>
          </a:prstGeom>
          <a:noFill/>
          <a:ln/>
        </p:spPr>
        <p:txBody>
          <a:bodyPr wrap="square" lIns="0" tIns="0" rIns="0" bIns="0" rtlCol="0" anchor="t"/>
          <a:lstStyle/>
          <a:p>
            <a:pPr marL="0" indent="0">
              <a:lnSpc>
                <a:spcPct val="115000"/>
              </a:lnSpc>
              <a:buNone/>
            </a:pPr>
            <a:r>
              <a:rPr lang="en-US" sz="1300" dirty="0">
                <a:solidFill>
                  <a:srgbClr val="3A4354"/>
                </a:solidFill>
                <a:latin typeface="Calibri" pitchFamily="34" charset="0"/>
                <a:ea typeface="Calibri" pitchFamily="34" charset="-122"/>
                <a:cs typeface="Calibri" pitchFamily="34" charset="-120"/>
              </a:rPr>
              <a:t>CMAKE_PREFIX_PATH is the search root – additional HINTS (paths) can be provided.</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6327648"/>
            <a:ext cx="4572000" cy="274320"/>
          </a:xfrm>
          <a:prstGeom prst="rect">
            <a:avLst/>
          </a:prstGeom>
          <a:noFill/>
          <a:ln/>
        </p:spPr>
        <p:txBody>
          <a:bodyPr wrap="square" lIns="0" tIns="0" rIns="0" bIns="0" rtlCol="0" anchor="ctr"/>
          <a:lstStyle/>
          <a:p>
            <a:pPr marL="0" indent="0">
              <a:buNone/>
            </a:pPr>
            <a:r>
              <a:rPr lang="en-US" sz="1000" dirty="0">
                <a:solidFill>
                  <a:srgbClr val="AEB5BF"/>
                </a:solidFill>
                <a:latin typeface="Calibri" pitchFamily="34" charset="0"/>
                <a:ea typeface="Calibri" pitchFamily="34" charset="-122"/>
                <a:cs typeface="Calibri" pitchFamily="34" charset="-120"/>
              </a:rPr>
              <a:t>CMake for Fortran</a:t>
            </a:r>
            <a:endParaRPr lang="en-US" sz="1000" dirty="0"/>
          </a:p>
        </p:txBody>
      </p:sp>
      <p:sp>
        <p:nvSpPr>
          <p:cNvPr id="3" name="Text 1"/>
          <p:cNvSpPr txBox="1"/>
          <p:nvPr/>
        </p:nvSpPr>
        <p:spPr>
          <a:xfrm>
            <a:off x="10607040" y="6327648"/>
            <a:ext cx="914400" cy="274320"/>
          </a:xfrm>
          <a:prstGeom prst="rect">
            <a:avLst/>
          </a:prstGeom>
          <a:noFill/>
          <a:ln/>
        </p:spPr>
        <p:txBody>
          <a:bodyPr wrap="square" lIns="0" tIns="0" rIns="0" bIns="0" rtlCol="0" anchor="ctr"/>
          <a:lstStyle/>
          <a:p>
            <a:pPr marL="0" indent="0" algn="r">
              <a:buNone/>
            </a:pPr>
            <a:r>
              <a:rPr lang="en-US" sz="1000" dirty="0">
                <a:solidFill>
                  <a:srgbClr val="AEB5BF"/>
                </a:solidFill>
                <a:latin typeface="Calibri" pitchFamily="34" charset="0"/>
                <a:ea typeface="Calibri" pitchFamily="34" charset="-122"/>
                <a:cs typeface="Calibri" pitchFamily="34" charset="-120"/>
              </a:rPr>
              <a:t>17</a:t>
            </a:r>
            <a:endParaRPr lang="en-US" sz="1000" dirty="0"/>
          </a:p>
        </p:txBody>
      </p:sp>
      <p:sp>
        <p:nvSpPr>
          <p:cNvPr id="4" name="Text 2"/>
          <p:cNvSpPr txBox="1"/>
          <p:nvPr/>
        </p:nvSpPr>
        <p:spPr>
          <a:xfrm>
            <a:off x="640080" y="384048"/>
            <a:ext cx="10881360" cy="256032"/>
          </a:xfrm>
          <a:prstGeom prst="rect">
            <a:avLst/>
          </a:prstGeom>
          <a:noFill/>
          <a:ln/>
        </p:spPr>
        <p:txBody>
          <a:bodyPr wrap="square" lIns="0" tIns="0" rIns="0" bIns="0" rtlCol="0" anchor="ctr"/>
          <a:lstStyle/>
          <a:p>
            <a:pPr marL="0" indent="0">
              <a:buNone/>
            </a:pPr>
            <a:r>
              <a:rPr lang="en-US" sz="1100" b="1" kern="0" spc="200" dirty="0">
                <a:solidFill>
                  <a:srgbClr val="EF6C1A"/>
                </a:solidFill>
                <a:latin typeface="Calibri" pitchFamily="34" charset="0"/>
                <a:ea typeface="Calibri" pitchFamily="34" charset="-122"/>
                <a:cs typeface="Calibri" pitchFamily="34" charset="-120"/>
              </a:rPr>
              <a:t>TESTING</a:t>
            </a:r>
            <a:endParaRPr lang="en-US" sz="1100" dirty="0"/>
          </a:p>
        </p:txBody>
      </p:sp>
      <p:sp>
        <p:nvSpPr>
          <p:cNvPr id="5" name="Text 3"/>
          <p:cNvSpPr txBox="1"/>
          <p:nvPr/>
        </p:nvSpPr>
        <p:spPr>
          <a:xfrm>
            <a:off x="640080" y="658368"/>
            <a:ext cx="10881360" cy="658368"/>
          </a:xfrm>
          <a:prstGeom prst="rect">
            <a:avLst/>
          </a:prstGeom>
          <a:noFill/>
          <a:ln/>
        </p:spPr>
        <p:txBody>
          <a:bodyPr wrap="square" lIns="0" tIns="0" rIns="0" bIns="0" rtlCol="0" anchor="t"/>
          <a:lstStyle/>
          <a:p>
            <a:pPr marL="0" indent="0">
              <a:buNone/>
            </a:pPr>
            <a:r>
              <a:rPr lang="en-US" sz="3000" b="1" dirty="0">
                <a:solidFill>
                  <a:srgbClr val="1F2430"/>
                </a:solidFill>
                <a:latin typeface="Cambria" pitchFamily="34" charset="0"/>
                <a:ea typeface="Cambria" pitchFamily="34" charset="-122"/>
                <a:cs typeface="Cambria" pitchFamily="34" charset="-120"/>
              </a:rPr>
              <a:t>CTest: a test suite for the price of three lines</a:t>
            </a:r>
            <a:endParaRPr lang="en-US" sz="3000" dirty="0"/>
          </a:p>
        </p:txBody>
      </p:sp>
      <p:sp>
        <p:nvSpPr>
          <p:cNvPr id="6" name="Shape 4"/>
          <p:cNvSpPr/>
          <p:nvPr/>
        </p:nvSpPr>
        <p:spPr>
          <a:xfrm>
            <a:off x="640080" y="1645920"/>
            <a:ext cx="6583680" cy="1556309"/>
          </a:xfrm>
          <a:prstGeom prst="roundRect">
            <a:avLst>
              <a:gd name="adj" fmla="val 4700"/>
            </a:avLst>
          </a:prstGeom>
          <a:solidFill>
            <a:srgbClr val="1F2430"/>
          </a:solidFill>
          <a:ln w="12700">
            <a:solidFill>
              <a:srgbClr val="1F2430"/>
            </a:solidFill>
            <a:prstDash val="solid"/>
          </a:ln>
        </p:spPr>
        <p:txBody>
          <a:bodyPr/>
          <a:lstStyle/>
          <a:p>
            <a:endParaRPr lang="en-US"/>
          </a:p>
        </p:txBody>
      </p:sp>
      <p:sp>
        <p:nvSpPr>
          <p:cNvPr id="7" name="Text 5"/>
          <p:cNvSpPr txBox="1"/>
          <p:nvPr/>
        </p:nvSpPr>
        <p:spPr>
          <a:xfrm>
            <a:off x="841248" y="1792224"/>
            <a:ext cx="6181344" cy="1263701"/>
          </a:xfrm>
          <a:prstGeom prst="rect">
            <a:avLst/>
          </a:prstGeom>
          <a:noFill/>
          <a:ln/>
        </p:spPr>
        <p:txBody>
          <a:bodyPr wrap="square" lIns="0" tIns="0" rIns="0" bIns="0" rtlCol="0" anchor="t"/>
          <a:lstStyle/>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enable_testing()                    </a:t>
            </a:r>
            <a:r>
              <a:rPr lang="en-US" sz="1200" i="1" dirty="0">
                <a:solidFill>
                  <a:srgbClr val="8A93A6"/>
                </a:solidFill>
                <a:latin typeface="Courier New" pitchFamily="34" charset="0"/>
                <a:ea typeface="Courier New" pitchFamily="34" charset="-122"/>
                <a:cs typeface="Courier New" pitchFamily="34" charset="-120"/>
              </a:rPr>
              <a:t># top-level file only</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add_executable(test_geometry test_geometry.f90)</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target_link_libraries(test_geometry PRIVATE fortrandemo)</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add_test(NAME test_geometry COMMAND test_geometry)</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set_tests_properties(test_geometry PROPERTIES LABELS "unit")</a:t>
            </a:r>
            <a:endParaRPr lang="en-US" sz="1200" dirty="0"/>
          </a:p>
        </p:txBody>
      </p:sp>
      <p:sp>
        <p:nvSpPr>
          <p:cNvPr id="8" name="Text 6"/>
          <p:cNvSpPr txBox="1"/>
          <p:nvPr/>
        </p:nvSpPr>
        <p:spPr>
          <a:xfrm>
            <a:off x="7406640" y="1737360"/>
            <a:ext cx="4133088" cy="2240280"/>
          </a:xfrm>
          <a:prstGeom prst="rect">
            <a:avLst/>
          </a:prstGeom>
          <a:noFill/>
          <a:ln/>
        </p:spPr>
        <p:txBody>
          <a:bodyPr wrap="square" lIns="0" tIns="0" rIns="0" bIns="0" rtlCol="0" anchor="t"/>
          <a:lstStyle/>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A test is any command with an exit code. Fortran's error stop is enough - no framework required.</a:t>
            </a:r>
            <a:endParaRPr lang="en-US" sz="1300" dirty="0"/>
          </a:p>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Add pFUnit or a bespoke driver later if you want; CTest does not care.</a:t>
            </a:r>
            <a:endParaRPr lang="en-US" sz="1300" dirty="0"/>
          </a:p>
        </p:txBody>
      </p:sp>
      <p:sp>
        <p:nvSpPr>
          <p:cNvPr id="9" name="Shape 7"/>
          <p:cNvSpPr/>
          <p:nvPr/>
        </p:nvSpPr>
        <p:spPr>
          <a:xfrm>
            <a:off x="640080" y="3794760"/>
            <a:ext cx="6583680" cy="1348740"/>
          </a:xfrm>
          <a:prstGeom prst="roundRect">
            <a:avLst>
              <a:gd name="adj" fmla="val 5424"/>
            </a:avLst>
          </a:prstGeom>
          <a:solidFill>
            <a:srgbClr val="1F2430"/>
          </a:solidFill>
          <a:ln w="12700">
            <a:solidFill>
              <a:srgbClr val="1F2430"/>
            </a:solidFill>
            <a:prstDash val="solid"/>
          </a:ln>
        </p:spPr>
        <p:txBody>
          <a:bodyPr/>
          <a:lstStyle/>
          <a:p>
            <a:endParaRPr lang="en-US"/>
          </a:p>
        </p:txBody>
      </p:sp>
      <p:sp>
        <p:nvSpPr>
          <p:cNvPr id="10" name="Text 8"/>
          <p:cNvSpPr txBox="1"/>
          <p:nvPr/>
        </p:nvSpPr>
        <p:spPr>
          <a:xfrm>
            <a:off x="841248" y="3941064"/>
            <a:ext cx="6181344" cy="1056132"/>
          </a:xfrm>
          <a:prstGeom prst="rect">
            <a:avLst/>
          </a:prstGeom>
          <a:noFill/>
          <a:ln/>
        </p:spPr>
        <p:txBody>
          <a:bodyPr wrap="square" lIns="0" tIns="0" rIns="0" bIns="0" rtlCol="0" anchor="t"/>
          <a:lstStyle/>
          <a:p>
            <a:pPr marL="0" indent="0">
              <a:lnSpc>
                <a:spcPct val="112000"/>
              </a:lnSpc>
              <a:buNone/>
            </a:pPr>
            <a:r>
              <a:rPr lang="en-US" sz="1200" dirty="0">
                <a:solidFill>
                  <a:srgbClr val="F2A65A"/>
                </a:solidFill>
                <a:latin typeface="Courier New" pitchFamily="34" charset="0"/>
                <a:ea typeface="Courier New" pitchFamily="34" charset="-122"/>
                <a:cs typeface="Courier New" pitchFamily="34" charset="-120"/>
              </a:rPr>
              <a:t>$</a:t>
            </a:r>
            <a:r>
              <a:rPr lang="en-US" sz="1200" dirty="0">
                <a:solidFill>
                  <a:srgbClr val="E6E8EC"/>
                </a:solidFill>
                <a:latin typeface="Courier New" pitchFamily="34" charset="0"/>
                <a:ea typeface="Courier New" pitchFamily="34" charset="-122"/>
                <a:cs typeface="Courier New" pitchFamily="34" charset="-120"/>
              </a:rPr>
              <a:t> ctest --test-dir build --output-on-failure</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1/3 Test #1: test_geometry ....   Passed  0.01 sec</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2/3 Test #2: test_stats .......   Passed  0.00 sec</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3/3 Test #3: demo_runs ........   Passed  0.00 sec</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100% tests passed, 0 tests failed out of 3</a:t>
            </a:r>
            <a:endParaRPr lang="en-US" sz="1200" dirty="0"/>
          </a:p>
        </p:txBody>
      </p:sp>
      <p:sp>
        <p:nvSpPr>
          <p:cNvPr id="11" name="Text 9"/>
          <p:cNvSpPr txBox="1"/>
          <p:nvPr/>
        </p:nvSpPr>
        <p:spPr>
          <a:xfrm>
            <a:off x="7406640" y="3794760"/>
            <a:ext cx="4133088" cy="1828800"/>
          </a:xfrm>
          <a:prstGeom prst="rect">
            <a:avLst/>
          </a:prstGeom>
          <a:noFill/>
          <a:ln/>
        </p:spPr>
        <p:txBody>
          <a:bodyPr wrap="square" lIns="0" tIns="0" rIns="0" bIns="0" rtlCol="0" anchor="t"/>
          <a:lstStyle/>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-L unit runs a subset; -j 8 runs tests in parallel; --rerun-failed does what it says.</a:t>
            </a:r>
            <a:endParaRPr lang="en-US" sz="1300" dirty="0"/>
          </a:p>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PASS_REGULAR_EXPRESSION turns 'run it and check the output' into a real regression test.</a:t>
            </a:r>
            <a:endParaRPr lang="en-US" sz="1300" dirty="0"/>
          </a:p>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Non-zero exit means CI fails. Nothing else to wire up.</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6327648"/>
            <a:ext cx="4572000" cy="274320"/>
          </a:xfrm>
          <a:prstGeom prst="rect">
            <a:avLst/>
          </a:prstGeom>
          <a:noFill/>
          <a:ln/>
        </p:spPr>
        <p:txBody>
          <a:bodyPr wrap="square" lIns="0" tIns="0" rIns="0" bIns="0" rtlCol="0" anchor="ctr"/>
          <a:lstStyle/>
          <a:p>
            <a:pPr marL="0" indent="0">
              <a:buNone/>
            </a:pPr>
            <a:r>
              <a:rPr lang="en-US" sz="1000" dirty="0">
                <a:solidFill>
                  <a:srgbClr val="AEB5BF"/>
                </a:solidFill>
                <a:latin typeface="Calibri" pitchFamily="34" charset="0"/>
                <a:ea typeface="Calibri" pitchFamily="34" charset="-122"/>
                <a:cs typeface="Calibri" pitchFamily="34" charset="-120"/>
              </a:rPr>
              <a:t>CMake for Fortran</a:t>
            </a:r>
            <a:endParaRPr lang="en-US" sz="1000" dirty="0"/>
          </a:p>
        </p:txBody>
      </p:sp>
      <p:sp>
        <p:nvSpPr>
          <p:cNvPr id="3" name="Text 1"/>
          <p:cNvSpPr txBox="1"/>
          <p:nvPr/>
        </p:nvSpPr>
        <p:spPr>
          <a:xfrm>
            <a:off x="10607040" y="6327648"/>
            <a:ext cx="914400" cy="274320"/>
          </a:xfrm>
          <a:prstGeom prst="rect">
            <a:avLst/>
          </a:prstGeom>
          <a:noFill/>
          <a:ln/>
        </p:spPr>
        <p:txBody>
          <a:bodyPr wrap="square" lIns="0" tIns="0" rIns="0" bIns="0" rtlCol="0" anchor="ctr"/>
          <a:lstStyle/>
          <a:p>
            <a:pPr marL="0" indent="0" algn="r">
              <a:buNone/>
            </a:pPr>
            <a:r>
              <a:rPr lang="en-US" sz="1000" dirty="0">
                <a:solidFill>
                  <a:srgbClr val="AEB5BF"/>
                </a:solidFill>
                <a:latin typeface="Calibri" pitchFamily="34" charset="0"/>
                <a:ea typeface="Calibri" pitchFamily="34" charset="-122"/>
                <a:cs typeface="Calibri" pitchFamily="34" charset="-120"/>
              </a:rPr>
              <a:t>18</a:t>
            </a:r>
            <a:endParaRPr lang="en-US" sz="1000" dirty="0"/>
          </a:p>
        </p:txBody>
      </p:sp>
      <p:sp>
        <p:nvSpPr>
          <p:cNvPr id="4" name="Text 2"/>
          <p:cNvSpPr txBox="1"/>
          <p:nvPr/>
        </p:nvSpPr>
        <p:spPr>
          <a:xfrm>
            <a:off x="640080" y="384048"/>
            <a:ext cx="10881360" cy="256032"/>
          </a:xfrm>
          <a:prstGeom prst="rect">
            <a:avLst/>
          </a:prstGeom>
          <a:noFill/>
          <a:ln/>
        </p:spPr>
        <p:txBody>
          <a:bodyPr wrap="square" lIns="0" tIns="0" rIns="0" bIns="0" rtlCol="0" anchor="ctr"/>
          <a:lstStyle/>
          <a:p>
            <a:pPr marL="0" indent="0">
              <a:buNone/>
            </a:pPr>
            <a:r>
              <a:rPr lang="en-US" sz="1100" b="1" kern="0" spc="200" dirty="0">
                <a:solidFill>
                  <a:srgbClr val="EF6C1A"/>
                </a:solidFill>
                <a:latin typeface="Calibri" pitchFamily="34" charset="0"/>
                <a:ea typeface="Calibri" pitchFamily="34" charset="-122"/>
                <a:cs typeface="Calibri" pitchFamily="34" charset="-120"/>
              </a:rPr>
              <a:t>TESTING</a:t>
            </a:r>
            <a:endParaRPr lang="en-US" sz="1100" dirty="0"/>
          </a:p>
        </p:txBody>
      </p:sp>
      <p:sp>
        <p:nvSpPr>
          <p:cNvPr id="5" name="Text 3"/>
          <p:cNvSpPr txBox="1"/>
          <p:nvPr/>
        </p:nvSpPr>
        <p:spPr>
          <a:xfrm>
            <a:off x="640080" y="658368"/>
            <a:ext cx="10881360" cy="658368"/>
          </a:xfrm>
          <a:prstGeom prst="rect">
            <a:avLst/>
          </a:prstGeom>
          <a:noFill/>
          <a:ln/>
        </p:spPr>
        <p:txBody>
          <a:bodyPr wrap="square" lIns="0" tIns="0" rIns="0" bIns="0" rtlCol="0" anchor="t"/>
          <a:lstStyle/>
          <a:p>
            <a:pPr marL="0" indent="0">
              <a:buNone/>
            </a:pPr>
            <a:r>
              <a:rPr lang="en-US" sz="3000" b="1" dirty="0">
                <a:solidFill>
                  <a:srgbClr val="1F2430"/>
                </a:solidFill>
                <a:latin typeface="Cambria" pitchFamily="34" charset="0"/>
                <a:ea typeface="Cambria" pitchFamily="34" charset="-122"/>
                <a:cs typeface="Cambria" pitchFamily="34" charset="-120"/>
              </a:rPr>
              <a:t>Which makes continuous integration nearly free</a:t>
            </a:r>
            <a:endParaRPr lang="en-US" sz="3000" dirty="0"/>
          </a:p>
        </p:txBody>
      </p:sp>
      <p:sp>
        <p:nvSpPr>
          <p:cNvPr id="6" name="Shape 4"/>
          <p:cNvSpPr/>
          <p:nvPr/>
        </p:nvSpPr>
        <p:spPr>
          <a:xfrm>
            <a:off x="640080" y="1645920"/>
            <a:ext cx="6583680" cy="3009290"/>
          </a:xfrm>
          <a:prstGeom prst="roundRect">
            <a:avLst>
              <a:gd name="adj" fmla="val 2431"/>
            </a:avLst>
          </a:prstGeom>
          <a:solidFill>
            <a:srgbClr val="1F2430"/>
          </a:solidFill>
          <a:ln w="12700">
            <a:solidFill>
              <a:srgbClr val="1F2430"/>
            </a:solidFill>
            <a:prstDash val="solid"/>
          </a:ln>
        </p:spPr>
        <p:txBody>
          <a:bodyPr/>
          <a:lstStyle/>
          <a:p>
            <a:endParaRPr lang="en-US"/>
          </a:p>
        </p:txBody>
      </p:sp>
      <p:sp>
        <p:nvSpPr>
          <p:cNvPr id="7" name="Text 5"/>
          <p:cNvSpPr txBox="1"/>
          <p:nvPr/>
        </p:nvSpPr>
        <p:spPr>
          <a:xfrm>
            <a:off x="841248" y="1792224"/>
            <a:ext cx="6181344" cy="2716682"/>
          </a:xfrm>
          <a:prstGeom prst="rect">
            <a:avLst/>
          </a:prstGeom>
          <a:noFill/>
          <a:ln/>
        </p:spPr>
        <p:txBody>
          <a:bodyPr wrap="square" lIns="0" tIns="0" rIns="0" bIns="0" rtlCol="0" anchor="t"/>
          <a:lstStyle/>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jobs:</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build:</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runs-on: ubuntu-latest</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strategy:</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matrix:</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build_type: [Debug, RelWithDebInfo]</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steps:</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 uses: actions/checkout@v4</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 run: sudo apt-get install -y gfortran</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 run: cmake -S . -B build \</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-DCMAKE_BUILD_TYPE=${{ matrix.build_type }}</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 run: cmake --build build --parallel 2</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 run: ctest --test-dir build --output-on-failure</a:t>
            </a:r>
            <a:endParaRPr lang="en-US" sz="1200" dirty="0"/>
          </a:p>
        </p:txBody>
      </p:sp>
      <p:sp>
        <p:nvSpPr>
          <p:cNvPr id="8" name="Text 6"/>
          <p:cNvSpPr txBox="1"/>
          <p:nvPr/>
        </p:nvSpPr>
        <p:spPr>
          <a:xfrm>
            <a:off x="7406640" y="1737360"/>
            <a:ext cx="4133088" cy="3703320"/>
          </a:xfrm>
          <a:prstGeom prst="rect">
            <a:avLst/>
          </a:prstGeom>
          <a:noFill/>
          <a:ln/>
        </p:spPr>
        <p:txBody>
          <a:bodyPr wrap="square" lIns="0" tIns="0" rIns="0" bIns="0" rtlCol="0" anchor="t"/>
          <a:lstStyle/>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The same four commands you type locally - no CI-specific build script to drift out of date.</a:t>
            </a:r>
            <a:endParaRPr lang="en-US" sz="1300" dirty="0"/>
          </a:p>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A matrix over compilers and build types is a few lines, because the build is already parameterised.</a:t>
            </a:r>
            <a:endParaRPr lang="en-US" sz="1300" dirty="0"/>
          </a:p>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Debug builds with -fcheck=all in CI catch out-of-bounds errors long before they reach a forecast.</a:t>
            </a:r>
            <a:endParaRPr lang="en-US" sz="1300" dirty="0"/>
          </a:p>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Works the same in GitLab CI, Jenkins or a cron job on the HPC system.</a:t>
            </a:r>
            <a:endParaRPr lang="en-US" sz="1300" dirty="0"/>
          </a:p>
        </p:txBody>
      </p:sp>
      <p:sp>
        <p:nvSpPr>
          <p:cNvPr id="9" name="Text 7"/>
          <p:cNvSpPr txBox="1"/>
          <p:nvPr/>
        </p:nvSpPr>
        <p:spPr>
          <a:xfrm>
            <a:off x="640080" y="5623560"/>
            <a:ext cx="10881360" cy="292608"/>
          </a:xfrm>
          <a:prstGeom prst="rect">
            <a:avLst/>
          </a:prstGeom>
          <a:noFill/>
          <a:ln/>
        </p:spPr>
        <p:txBody>
          <a:bodyPr wrap="square" lIns="0" tIns="0" rIns="0" bIns="0" rtlCol="0" anchor="ctr"/>
          <a:lstStyle/>
          <a:p>
            <a:pPr marL="0" indent="0">
              <a:buNone/>
            </a:pPr>
            <a:r>
              <a:rPr lang="en-US" sz="1200" i="1" dirty="0">
                <a:solidFill>
                  <a:srgbClr val="EF6C1A"/>
                </a:solidFill>
                <a:latin typeface="Calibri" pitchFamily="34" charset="0"/>
                <a:ea typeface="Calibri" pitchFamily="34" charset="-122"/>
                <a:cs typeface="Calibri" pitchFamily="34" charset="-120"/>
              </a:rPr>
              <a:t>Point worth making: it is not that CMake has CI features. It is that a project with a standard configure/build/test interface is trivially automatable.</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6327648"/>
            <a:ext cx="4572000" cy="274320"/>
          </a:xfrm>
          <a:prstGeom prst="rect">
            <a:avLst/>
          </a:prstGeom>
          <a:noFill/>
          <a:ln/>
        </p:spPr>
        <p:txBody>
          <a:bodyPr wrap="square" lIns="0" tIns="0" rIns="0" bIns="0" rtlCol="0" anchor="ctr"/>
          <a:lstStyle/>
          <a:p>
            <a:pPr marL="0" indent="0">
              <a:buNone/>
            </a:pPr>
            <a:r>
              <a:rPr lang="en-US" sz="1000" dirty="0">
                <a:solidFill>
                  <a:srgbClr val="AEB5BF"/>
                </a:solidFill>
                <a:latin typeface="Calibri" pitchFamily="34" charset="0"/>
                <a:ea typeface="Calibri" pitchFamily="34" charset="-122"/>
                <a:cs typeface="Calibri" pitchFamily="34" charset="-120"/>
              </a:rPr>
              <a:t>CMake for Fortran</a:t>
            </a:r>
            <a:endParaRPr lang="en-US" sz="1000" dirty="0"/>
          </a:p>
        </p:txBody>
      </p:sp>
      <p:sp>
        <p:nvSpPr>
          <p:cNvPr id="3" name="Text 1"/>
          <p:cNvSpPr txBox="1"/>
          <p:nvPr/>
        </p:nvSpPr>
        <p:spPr>
          <a:xfrm>
            <a:off x="10607040" y="6327648"/>
            <a:ext cx="914400" cy="274320"/>
          </a:xfrm>
          <a:prstGeom prst="rect">
            <a:avLst/>
          </a:prstGeom>
          <a:noFill/>
          <a:ln/>
        </p:spPr>
        <p:txBody>
          <a:bodyPr wrap="square" lIns="0" tIns="0" rIns="0" bIns="0" rtlCol="0" anchor="ctr"/>
          <a:lstStyle/>
          <a:p>
            <a:pPr marL="0" indent="0" algn="r">
              <a:buNone/>
            </a:pPr>
            <a:r>
              <a:rPr lang="en-US" sz="1000" dirty="0">
                <a:solidFill>
                  <a:srgbClr val="AEB5BF"/>
                </a:solidFill>
                <a:latin typeface="Calibri" pitchFamily="34" charset="0"/>
                <a:ea typeface="Calibri" pitchFamily="34" charset="-122"/>
                <a:cs typeface="Calibri" pitchFamily="34" charset="-120"/>
              </a:rPr>
              <a:t>19</a:t>
            </a:r>
            <a:endParaRPr lang="en-US" sz="1000" dirty="0"/>
          </a:p>
        </p:txBody>
      </p:sp>
      <p:sp>
        <p:nvSpPr>
          <p:cNvPr id="4" name="Text 2"/>
          <p:cNvSpPr txBox="1"/>
          <p:nvPr/>
        </p:nvSpPr>
        <p:spPr>
          <a:xfrm>
            <a:off x="640080" y="384048"/>
            <a:ext cx="10881360" cy="256032"/>
          </a:xfrm>
          <a:prstGeom prst="rect">
            <a:avLst/>
          </a:prstGeom>
          <a:noFill/>
          <a:ln/>
        </p:spPr>
        <p:txBody>
          <a:bodyPr wrap="square" lIns="0" tIns="0" rIns="0" bIns="0" rtlCol="0" anchor="ctr"/>
          <a:lstStyle/>
          <a:p>
            <a:pPr marL="0" indent="0">
              <a:buNone/>
            </a:pPr>
            <a:r>
              <a:rPr lang="en-US" sz="1100" b="1" kern="0" spc="200" dirty="0">
                <a:solidFill>
                  <a:srgbClr val="EF6C1A"/>
                </a:solidFill>
                <a:latin typeface="Calibri" pitchFamily="34" charset="0"/>
                <a:ea typeface="Calibri" pitchFamily="34" charset="-122"/>
                <a:cs typeface="Calibri" pitchFamily="34" charset="-120"/>
              </a:rPr>
              <a:t>SHARING</a:t>
            </a:r>
            <a:endParaRPr lang="en-US" sz="1100" dirty="0"/>
          </a:p>
        </p:txBody>
      </p:sp>
      <p:sp>
        <p:nvSpPr>
          <p:cNvPr id="5" name="Text 3"/>
          <p:cNvSpPr txBox="1"/>
          <p:nvPr/>
        </p:nvSpPr>
        <p:spPr>
          <a:xfrm>
            <a:off x="640080" y="658368"/>
            <a:ext cx="10881360" cy="658368"/>
          </a:xfrm>
          <a:prstGeom prst="rect">
            <a:avLst/>
          </a:prstGeom>
          <a:noFill/>
          <a:ln/>
        </p:spPr>
        <p:txBody>
          <a:bodyPr wrap="square" lIns="0" tIns="0" rIns="0" bIns="0" rtlCol="0" anchor="t"/>
          <a:lstStyle/>
          <a:p>
            <a:pPr marL="0" indent="0">
              <a:buNone/>
            </a:pPr>
            <a:r>
              <a:rPr lang="en-US" sz="3000" b="1" dirty="0">
                <a:solidFill>
                  <a:srgbClr val="1F2430"/>
                </a:solidFill>
                <a:latin typeface="Cambria" pitchFamily="34" charset="0"/>
                <a:ea typeface="Cambria" pitchFamily="34" charset="-122"/>
                <a:cs typeface="Cambria" pitchFamily="34" charset="-120"/>
              </a:rPr>
              <a:t>Installing so that other projects can find you</a:t>
            </a:r>
            <a:endParaRPr lang="en-US" sz="3000" dirty="0"/>
          </a:p>
        </p:txBody>
      </p:sp>
      <p:sp>
        <p:nvSpPr>
          <p:cNvPr id="6" name="Shape 4"/>
          <p:cNvSpPr/>
          <p:nvPr/>
        </p:nvSpPr>
        <p:spPr>
          <a:xfrm>
            <a:off x="640080" y="1645920"/>
            <a:ext cx="6766560" cy="2801722"/>
          </a:xfrm>
          <a:prstGeom prst="roundRect">
            <a:avLst>
              <a:gd name="adj" fmla="val 2611"/>
            </a:avLst>
          </a:prstGeom>
          <a:solidFill>
            <a:srgbClr val="1F2430"/>
          </a:solidFill>
          <a:ln w="12700">
            <a:solidFill>
              <a:srgbClr val="1F2430"/>
            </a:solidFill>
            <a:prstDash val="solid"/>
          </a:ln>
        </p:spPr>
        <p:txBody>
          <a:bodyPr/>
          <a:lstStyle/>
          <a:p>
            <a:endParaRPr lang="en-US"/>
          </a:p>
        </p:txBody>
      </p:sp>
      <p:sp>
        <p:nvSpPr>
          <p:cNvPr id="7" name="Text 5"/>
          <p:cNvSpPr txBox="1"/>
          <p:nvPr/>
        </p:nvSpPr>
        <p:spPr>
          <a:xfrm>
            <a:off x="841248" y="1792224"/>
            <a:ext cx="6364224" cy="2509114"/>
          </a:xfrm>
          <a:prstGeom prst="rect">
            <a:avLst/>
          </a:prstGeom>
          <a:noFill/>
          <a:ln/>
        </p:spPr>
        <p:txBody>
          <a:bodyPr wrap="square" lIns="0" tIns="0" rIns="0" bIns="0" rtlCol="0" anchor="t"/>
          <a:lstStyle/>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include(GNUInstallDirs)</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install(TARGETS fortrandemo</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EXPORT  fortrandemoTargets</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ARCHIVE DESTINATION ${CMAKE_INSTALL_LIBDIR}</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LIBRARY DESTINATION ${CMAKE_INSTALL_LIBDIR}</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RUNTIME DESTINATION ${CMAKE_INSTALL_BINDIR})</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install(EXPORT fortrandemoTargets</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FILE      fortrandemoTargets.cmake</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NAMESPACE fortrandemo::</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DESTINATION ${CMAKE_INSTALL_LIBDIR}/cmake/fortrandemo)</a:t>
            </a:r>
            <a:endParaRPr lang="en-US" sz="1200" dirty="0"/>
          </a:p>
        </p:txBody>
      </p:sp>
      <p:sp>
        <p:nvSpPr>
          <p:cNvPr id="8" name="Text 6"/>
          <p:cNvSpPr txBox="1"/>
          <p:nvPr/>
        </p:nvSpPr>
        <p:spPr>
          <a:xfrm>
            <a:off x="7589520" y="1737360"/>
            <a:ext cx="3950208" cy="2880360"/>
          </a:xfrm>
          <a:prstGeom prst="rect">
            <a:avLst/>
          </a:prstGeom>
          <a:noFill/>
          <a:ln/>
        </p:spPr>
        <p:txBody>
          <a:bodyPr wrap="square" lIns="0" tIns="0" rIns="0" bIns="0" rtlCol="0" anchor="t"/>
          <a:lstStyle/>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GNUInstallDirs gets lib vs. lib64, bin and include right on every distribution.</a:t>
            </a:r>
            <a:endParaRPr lang="en-US" sz="1300" dirty="0"/>
          </a:p>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install(EXPORT ...) writes a CMake file describing your targets - their .mod directory, their dependencies, their flags.</a:t>
            </a:r>
            <a:endParaRPr lang="en-US" sz="1300" dirty="0"/>
          </a:p>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Add a small Config.cmake.in template and your project is find_package-able.</a:t>
            </a:r>
            <a:endParaRPr lang="en-US" sz="1300" dirty="0"/>
          </a:p>
        </p:txBody>
      </p:sp>
      <p:sp>
        <p:nvSpPr>
          <p:cNvPr id="9" name="Shape 7"/>
          <p:cNvSpPr/>
          <p:nvPr/>
        </p:nvSpPr>
        <p:spPr>
          <a:xfrm>
            <a:off x="640080" y="4846320"/>
            <a:ext cx="10881360" cy="1014368"/>
          </a:xfrm>
          <a:prstGeom prst="roundRect">
            <a:avLst>
              <a:gd name="adj" fmla="val 8297"/>
            </a:avLst>
          </a:prstGeom>
          <a:solidFill>
            <a:srgbClr val="1F2430"/>
          </a:solidFill>
          <a:ln w="12700">
            <a:solidFill>
              <a:srgbClr val="1F2430"/>
            </a:solidFill>
            <a:prstDash val="solid"/>
          </a:ln>
        </p:spPr>
        <p:txBody>
          <a:bodyPr/>
          <a:lstStyle/>
          <a:p>
            <a:endParaRPr lang="en-US"/>
          </a:p>
        </p:txBody>
      </p:sp>
      <p:sp>
        <p:nvSpPr>
          <p:cNvPr id="10" name="Text 8"/>
          <p:cNvSpPr txBox="1"/>
          <p:nvPr/>
        </p:nvSpPr>
        <p:spPr>
          <a:xfrm>
            <a:off x="841248" y="4992624"/>
            <a:ext cx="10479024" cy="589102"/>
          </a:xfrm>
          <a:prstGeom prst="rect">
            <a:avLst/>
          </a:prstGeom>
          <a:noFill/>
          <a:ln/>
        </p:spPr>
        <p:txBody>
          <a:bodyPr wrap="square" lIns="0" tIns="0" rIns="0" bIns="0" rtlCol="0" anchor="t"/>
          <a:lstStyle/>
          <a:p>
            <a:pPr marL="0" indent="0">
              <a:lnSpc>
                <a:spcPct val="112000"/>
              </a:lnSpc>
              <a:buNone/>
            </a:pPr>
            <a:r>
              <a:rPr lang="en-US" sz="1100" dirty="0">
                <a:solidFill>
                  <a:srgbClr val="F2A65A"/>
                </a:solidFill>
                <a:latin typeface="Courier New" pitchFamily="34" charset="0"/>
                <a:ea typeface="Courier New" pitchFamily="34" charset="-122"/>
                <a:cs typeface="Courier New" pitchFamily="34" charset="-120"/>
              </a:rPr>
              <a:t>$</a:t>
            </a:r>
            <a:r>
              <a:rPr lang="en-US" sz="1100" dirty="0">
                <a:solidFill>
                  <a:srgbClr val="E6E8EC"/>
                </a:solidFill>
                <a:latin typeface="Courier New" pitchFamily="34" charset="0"/>
                <a:ea typeface="Courier New" pitchFamily="34" charset="-122"/>
                <a:cs typeface="Courier New" pitchFamily="34" charset="-120"/>
              </a:rPr>
              <a:t> cmake --install build --prefix /opt/fortrandemo</a:t>
            </a:r>
            <a:endParaRPr lang="en-US" sz="1100" dirty="0"/>
          </a:p>
          <a:p>
            <a:pPr marL="0" indent="0">
              <a:lnSpc>
                <a:spcPct val="112000"/>
              </a:lnSpc>
              <a:buNone/>
            </a:pPr>
            <a:r>
              <a:rPr lang="en-US" sz="1100" dirty="0">
                <a:solidFill>
                  <a:srgbClr val="E6E8EC"/>
                </a:solidFill>
                <a:latin typeface="Courier New" pitchFamily="34" charset="0"/>
                <a:ea typeface="Courier New" pitchFamily="34" charset="-122"/>
                <a:cs typeface="Courier New" pitchFamily="34" charset="-120"/>
              </a:rPr>
              <a:t>-- Installing: /opt/fortrandemo/lib/</a:t>
            </a:r>
            <a:r>
              <a:rPr lang="en-US" sz="1100" dirty="0" err="1">
                <a:solidFill>
                  <a:srgbClr val="E6E8EC"/>
                </a:solidFill>
                <a:latin typeface="Courier New" pitchFamily="34" charset="0"/>
                <a:ea typeface="Courier New" pitchFamily="34" charset="-122"/>
                <a:cs typeface="Courier New" pitchFamily="34" charset="-120"/>
              </a:rPr>
              <a:t>libfortrandemo.a</a:t>
            </a:r>
            <a:br>
              <a:rPr lang="en-US" sz="1100" dirty="0">
                <a:solidFill>
                  <a:srgbClr val="E6E8EC"/>
                </a:solidFill>
                <a:latin typeface="Courier New" pitchFamily="34" charset="0"/>
                <a:ea typeface="Courier New" pitchFamily="34" charset="-122"/>
                <a:cs typeface="Courier New" pitchFamily="34" charset="-120"/>
              </a:rPr>
            </a:br>
            <a:r>
              <a:rPr lang="en-US" sz="1100" dirty="0">
                <a:solidFill>
                  <a:srgbClr val="E6E8EC"/>
                </a:solidFill>
                <a:latin typeface="Courier New" pitchFamily="34" charset="0"/>
                <a:ea typeface="Courier New" pitchFamily="34" charset="-122"/>
                <a:cs typeface="Courier New" pitchFamily="34" charset="-120"/>
              </a:rPr>
              <a:t>-- Installing: /opt/fortrandemo/include/geometry_mod.mod</a:t>
            </a:r>
            <a:endParaRPr lang="en-US" sz="1100" dirty="0"/>
          </a:p>
          <a:p>
            <a:pPr marL="0" indent="0">
              <a:lnSpc>
                <a:spcPct val="112000"/>
              </a:lnSpc>
              <a:buNone/>
            </a:pPr>
            <a:r>
              <a:rPr lang="en-US" sz="1100" dirty="0">
                <a:solidFill>
                  <a:srgbClr val="E6E8EC"/>
                </a:solidFill>
                <a:latin typeface="Courier New" pitchFamily="34" charset="0"/>
                <a:ea typeface="Courier New" pitchFamily="34" charset="-122"/>
                <a:cs typeface="Courier New" pitchFamily="34" charset="-120"/>
              </a:rPr>
              <a:t>-- Installing: /opt/fortrandemo/lib/cmake/fortrandemo/fortrandemoConfig.cmake</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6327648"/>
            <a:ext cx="4572000" cy="274320"/>
          </a:xfrm>
          <a:prstGeom prst="rect">
            <a:avLst/>
          </a:prstGeom>
          <a:noFill/>
          <a:ln/>
        </p:spPr>
        <p:txBody>
          <a:bodyPr wrap="square" lIns="0" tIns="0" rIns="0" bIns="0" rtlCol="0" anchor="ctr"/>
          <a:lstStyle/>
          <a:p>
            <a:pPr marL="0" indent="0">
              <a:buNone/>
            </a:pPr>
            <a:r>
              <a:rPr lang="en-US" sz="1000" dirty="0">
                <a:solidFill>
                  <a:srgbClr val="AEB5BF"/>
                </a:solidFill>
                <a:latin typeface="Calibri" pitchFamily="34" charset="0"/>
                <a:ea typeface="Calibri" pitchFamily="34" charset="-122"/>
                <a:cs typeface="Calibri" pitchFamily="34" charset="-120"/>
              </a:rPr>
              <a:t>CMake for Fortran</a:t>
            </a:r>
            <a:endParaRPr lang="en-US" sz="1000" dirty="0"/>
          </a:p>
        </p:txBody>
      </p:sp>
      <p:sp>
        <p:nvSpPr>
          <p:cNvPr id="3" name="Text 1"/>
          <p:cNvSpPr txBox="1"/>
          <p:nvPr/>
        </p:nvSpPr>
        <p:spPr>
          <a:xfrm>
            <a:off x="10607040" y="6327648"/>
            <a:ext cx="914400" cy="274320"/>
          </a:xfrm>
          <a:prstGeom prst="rect">
            <a:avLst/>
          </a:prstGeom>
          <a:noFill/>
          <a:ln/>
        </p:spPr>
        <p:txBody>
          <a:bodyPr wrap="square" lIns="0" tIns="0" rIns="0" bIns="0" rtlCol="0" anchor="ctr"/>
          <a:lstStyle/>
          <a:p>
            <a:pPr marL="0" indent="0" algn="r">
              <a:buNone/>
            </a:pPr>
            <a:r>
              <a:rPr lang="en-US" sz="1000" dirty="0">
                <a:solidFill>
                  <a:srgbClr val="AEB5BF"/>
                </a:solidFill>
                <a:latin typeface="Calibri" pitchFamily="34" charset="0"/>
                <a:ea typeface="Calibri" pitchFamily="34" charset="-122"/>
                <a:cs typeface="Calibri" pitchFamily="34" charset="-120"/>
              </a:rPr>
              <a:t>20</a:t>
            </a:r>
            <a:endParaRPr lang="en-US" sz="1000" dirty="0"/>
          </a:p>
        </p:txBody>
      </p:sp>
      <p:sp>
        <p:nvSpPr>
          <p:cNvPr id="4" name="Text 2"/>
          <p:cNvSpPr txBox="1"/>
          <p:nvPr/>
        </p:nvSpPr>
        <p:spPr>
          <a:xfrm>
            <a:off x="640080" y="384048"/>
            <a:ext cx="10881360" cy="256032"/>
          </a:xfrm>
          <a:prstGeom prst="rect">
            <a:avLst/>
          </a:prstGeom>
          <a:noFill/>
          <a:ln/>
        </p:spPr>
        <p:txBody>
          <a:bodyPr wrap="square" lIns="0" tIns="0" rIns="0" bIns="0" rtlCol="0" anchor="ctr"/>
          <a:lstStyle/>
          <a:p>
            <a:pPr marL="0" indent="0">
              <a:buNone/>
            </a:pPr>
            <a:r>
              <a:rPr lang="en-US" sz="1100" b="1" kern="0" spc="200" dirty="0">
                <a:solidFill>
                  <a:srgbClr val="EF6C1A"/>
                </a:solidFill>
                <a:latin typeface="Calibri" pitchFamily="34" charset="0"/>
                <a:ea typeface="Calibri" pitchFamily="34" charset="-122"/>
                <a:cs typeface="Calibri" pitchFamily="34" charset="-120"/>
              </a:rPr>
              <a:t>SHARING</a:t>
            </a:r>
            <a:endParaRPr lang="en-US" sz="1100" dirty="0"/>
          </a:p>
        </p:txBody>
      </p:sp>
      <p:sp>
        <p:nvSpPr>
          <p:cNvPr id="5" name="Text 3"/>
          <p:cNvSpPr txBox="1"/>
          <p:nvPr/>
        </p:nvSpPr>
        <p:spPr>
          <a:xfrm>
            <a:off x="640080" y="658368"/>
            <a:ext cx="10881360" cy="658368"/>
          </a:xfrm>
          <a:prstGeom prst="rect">
            <a:avLst/>
          </a:prstGeom>
          <a:noFill/>
          <a:ln/>
        </p:spPr>
        <p:txBody>
          <a:bodyPr wrap="square" lIns="0" tIns="0" rIns="0" bIns="0" rtlCol="0" anchor="t"/>
          <a:lstStyle/>
          <a:p>
            <a:pPr marL="0" indent="0">
              <a:buNone/>
            </a:pPr>
            <a:r>
              <a:rPr lang="en-US" sz="3000" b="1" dirty="0">
                <a:solidFill>
                  <a:srgbClr val="1F2430"/>
                </a:solidFill>
                <a:latin typeface="Cambria" pitchFamily="34" charset="0"/>
                <a:ea typeface="Cambria" pitchFamily="34" charset="-122"/>
                <a:cs typeface="Cambria" pitchFamily="34" charset="-120"/>
              </a:rPr>
              <a:t>What the next project has to write</a:t>
            </a:r>
            <a:endParaRPr lang="en-US" sz="3000" dirty="0"/>
          </a:p>
        </p:txBody>
      </p:sp>
      <p:sp>
        <p:nvSpPr>
          <p:cNvPr id="6" name="Shape 4"/>
          <p:cNvSpPr/>
          <p:nvPr/>
        </p:nvSpPr>
        <p:spPr>
          <a:xfrm>
            <a:off x="640080" y="1691640"/>
            <a:ext cx="10881360" cy="1348740"/>
          </a:xfrm>
          <a:prstGeom prst="roundRect">
            <a:avLst>
              <a:gd name="adj" fmla="val 5424"/>
            </a:avLst>
          </a:prstGeom>
          <a:solidFill>
            <a:srgbClr val="1F2430"/>
          </a:solidFill>
          <a:ln w="12700">
            <a:solidFill>
              <a:srgbClr val="1F2430"/>
            </a:solidFill>
            <a:prstDash val="solid"/>
          </a:ln>
        </p:spPr>
        <p:txBody>
          <a:bodyPr/>
          <a:lstStyle/>
          <a:p>
            <a:endParaRPr lang="en-US"/>
          </a:p>
        </p:txBody>
      </p:sp>
      <p:sp>
        <p:nvSpPr>
          <p:cNvPr id="7" name="Text 5"/>
          <p:cNvSpPr txBox="1"/>
          <p:nvPr/>
        </p:nvSpPr>
        <p:spPr>
          <a:xfrm>
            <a:off x="841248" y="1837944"/>
            <a:ext cx="10479024" cy="1056132"/>
          </a:xfrm>
          <a:prstGeom prst="rect">
            <a:avLst/>
          </a:prstGeom>
          <a:noFill/>
          <a:ln/>
        </p:spPr>
        <p:txBody>
          <a:bodyPr wrap="square" lIns="0" tIns="0" rIns="0" bIns="0" rtlCol="0" anchor="t"/>
          <a:lstStyle/>
          <a:p>
            <a:pPr marL="0" indent="0">
              <a:lnSpc>
                <a:spcPct val="112000"/>
              </a:lnSpc>
              <a:buNone/>
            </a:pPr>
            <a:r>
              <a:rPr lang="en-US" sz="1500" dirty="0">
                <a:solidFill>
                  <a:srgbClr val="E6E8EC"/>
                </a:solidFill>
                <a:latin typeface="Courier New" pitchFamily="34" charset="0"/>
                <a:ea typeface="Courier New" pitchFamily="34" charset="-122"/>
                <a:cs typeface="Courier New" pitchFamily="34" charset="-120"/>
              </a:rPr>
              <a:t>find_package(fortrandemo 0.1 REQUIRED)</a:t>
            </a:r>
            <a:endParaRPr lang="en-US" sz="1500" dirty="0"/>
          </a:p>
          <a:p>
            <a:pPr marL="0" indent="0">
              <a:lnSpc>
                <a:spcPct val="112000"/>
              </a:lnSpc>
              <a:buNone/>
            </a:pPr>
            <a:r>
              <a:rPr lang="en-US" sz="1500" dirty="0">
                <a:solidFill>
                  <a:srgbClr val="E6E8EC"/>
                </a:solidFill>
                <a:latin typeface="Courier New" pitchFamily="34" charset="0"/>
                <a:ea typeface="Courier New" pitchFamily="34" charset="-122"/>
                <a:cs typeface="Courier New" pitchFamily="34" charset="-120"/>
              </a:rPr>
              <a:t> </a:t>
            </a:r>
            <a:endParaRPr lang="en-US" sz="1500" dirty="0"/>
          </a:p>
          <a:p>
            <a:pPr marL="0" indent="0">
              <a:lnSpc>
                <a:spcPct val="112000"/>
              </a:lnSpc>
              <a:buNone/>
            </a:pPr>
            <a:r>
              <a:rPr lang="en-US" sz="1500" dirty="0">
                <a:solidFill>
                  <a:srgbClr val="E6E8EC"/>
                </a:solidFill>
                <a:latin typeface="Courier New" pitchFamily="34" charset="0"/>
                <a:ea typeface="Courier New" pitchFamily="34" charset="-122"/>
                <a:cs typeface="Courier New" pitchFamily="34" charset="-120"/>
              </a:rPr>
              <a:t>add_executable(myapp main.f90)</a:t>
            </a:r>
            <a:endParaRPr lang="en-US" sz="1500" dirty="0"/>
          </a:p>
          <a:p>
            <a:pPr marL="0" indent="0">
              <a:lnSpc>
                <a:spcPct val="112000"/>
              </a:lnSpc>
              <a:buNone/>
            </a:pPr>
            <a:r>
              <a:rPr lang="en-US" sz="1500" dirty="0">
                <a:solidFill>
                  <a:srgbClr val="E6E8EC"/>
                </a:solidFill>
                <a:latin typeface="Courier New" pitchFamily="34" charset="0"/>
                <a:ea typeface="Courier New" pitchFamily="34" charset="-122"/>
                <a:cs typeface="Courier New" pitchFamily="34" charset="-120"/>
              </a:rPr>
              <a:t>target_link_libraries(myapp PRIVATE fortrandemo::fortrandemo)</a:t>
            </a:r>
            <a:endParaRPr lang="en-US" sz="1500" dirty="0"/>
          </a:p>
        </p:txBody>
      </p:sp>
      <p:sp>
        <p:nvSpPr>
          <p:cNvPr id="8" name="Text 6"/>
          <p:cNvSpPr txBox="1"/>
          <p:nvPr/>
        </p:nvSpPr>
        <p:spPr>
          <a:xfrm>
            <a:off x="640080" y="3291840"/>
            <a:ext cx="6035040" cy="731520"/>
          </a:xfrm>
          <a:prstGeom prst="rect">
            <a:avLst/>
          </a:prstGeom>
          <a:noFill/>
          <a:ln/>
        </p:spPr>
        <p:txBody>
          <a:bodyPr wrap="square" lIns="0" tIns="0" rIns="0" bIns="0" rtlCol="0" anchor="ctr"/>
          <a:lstStyle/>
          <a:p>
            <a:pPr marL="0" indent="0">
              <a:lnSpc>
                <a:spcPct val="120000"/>
              </a:lnSpc>
              <a:buNone/>
            </a:pPr>
            <a:r>
              <a:rPr lang="en-US" sz="1400" dirty="0">
                <a:solidFill>
                  <a:srgbClr val="3A4354"/>
                </a:solidFill>
                <a:latin typeface="Calibri" pitchFamily="34" charset="0"/>
                <a:ea typeface="Calibri" pitchFamily="34" charset="-122"/>
                <a:cs typeface="Calibri" pitchFamily="34" charset="-120"/>
              </a:rPr>
              <a:t>That is the entire integration. Module paths, link libraries, transitive MPI and OpenMP requirements and the version check all come from the installed package config.</a:t>
            </a:r>
            <a:endParaRPr lang="en-US" sz="1400" dirty="0"/>
          </a:p>
        </p:txBody>
      </p:sp>
      <p:sp>
        <p:nvSpPr>
          <p:cNvPr id="9" name="Shape 7"/>
          <p:cNvSpPr/>
          <p:nvPr/>
        </p:nvSpPr>
        <p:spPr>
          <a:xfrm>
            <a:off x="640080" y="4206240"/>
            <a:ext cx="6035040" cy="933602"/>
          </a:xfrm>
          <a:prstGeom prst="roundRect">
            <a:avLst>
              <a:gd name="adj" fmla="val 7835"/>
            </a:avLst>
          </a:prstGeom>
          <a:solidFill>
            <a:srgbClr val="1F2430"/>
          </a:solidFill>
          <a:ln w="12700">
            <a:solidFill>
              <a:srgbClr val="1F2430"/>
            </a:solidFill>
            <a:prstDash val="solid"/>
          </a:ln>
        </p:spPr>
        <p:txBody>
          <a:bodyPr/>
          <a:lstStyle/>
          <a:p>
            <a:endParaRPr lang="en-US"/>
          </a:p>
        </p:txBody>
      </p:sp>
      <p:sp>
        <p:nvSpPr>
          <p:cNvPr id="10" name="Text 8"/>
          <p:cNvSpPr txBox="1"/>
          <p:nvPr/>
        </p:nvSpPr>
        <p:spPr>
          <a:xfrm>
            <a:off x="841248" y="4352544"/>
            <a:ext cx="5632704" cy="640994"/>
          </a:xfrm>
          <a:prstGeom prst="rect">
            <a:avLst/>
          </a:prstGeom>
          <a:noFill/>
          <a:ln/>
        </p:spPr>
        <p:txBody>
          <a:bodyPr wrap="square" lIns="0" tIns="0" rIns="0" bIns="0" rtlCol="0" anchor="t"/>
          <a:lstStyle/>
          <a:p>
            <a:pPr marL="0" indent="0">
              <a:lnSpc>
                <a:spcPct val="112000"/>
              </a:lnSpc>
              <a:buNone/>
            </a:pPr>
            <a:r>
              <a:rPr lang="en-US" sz="1200" dirty="0">
                <a:solidFill>
                  <a:srgbClr val="F2A65A"/>
                </a:solidFill>
                <a:latin typeface="Courier New" pitchFamily="34" charset="0"/>
                <a:ea typeface="Courier New" pitchFamily="34" charset="-122"/>
                <a:cs typeface="Courier New" pitchFamily="34" charset="-120"/>
              </a:rPr>
              <a:t>$</a:t>
            </a:r>
            <a:r>
              <a:rPr lang="en-US" sz="1200" dirty="0">
                <a:solidFill>
                  <a:srgbClr val="E6E8EC"/>
                </a:solidFill>
                <a:latin typeface="Courier New" pitchFamily="34" charset="0"/>
                <a:ea typeface="Courier New" pitchFamily="34" charset="-122"/>
                <a:cs typeface="Courier New" pitchFamily="34" charset="-120"/>
              </a:rPr>
              <a:t> cmake -S . -B build \</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-DCMAKE_PREFIX_PATH=/opt/fortrandemo</a:t>
            </a:r>
            <a:endParaRPr lang="en-US" sz="1200" dirty="0"/>
          </a:p>
          <a:p>
            <a:pPr marL="0" indent="0">
              <a:lnSpc>
                <a:spcPct val="112000"/>
              </a:lnSpc>
              <a:buNone/>
            </a:pPr>
            <a:r>
              <a:rPr lang="en-US" sz="1200" dirty="0">
                <a:solidFill>
                  <a:srgbClr val="F2A65A"/>
                </a:solidFill>
                <a:latin typeface="Courier New" pitchFamily="34" charset="0"/>
                <a:ea typeface="Courier New" pitchFamily="34" charset="-122"/>
                <a:cs typeface="Courier New" pitchFamily="34" charset="-120"/>
              </a:rPr>
              <a:t>$</a:t>
            </a:r>
            <a:r>
              <a:rPr lang="en-US" sz="1200" dirty="0">
                <a:solidFill>
                  <a:srgbClr val="E6E8EC"/>
                </a:solidFill>
                <a:latin typeface="Courier New" pitchFamily="34" charset="0"/>
                <a:ea typeface="Courier New" pitchFamily="34" charset="-122"/>
                <a:cs typeface="Courier New" pitchFamily="34" charset="-120"/>
              </a:rPr>
              <a:t> cmake --build build</a:t>
            </a:r>
            <a:endParaRPr lang="en-US" sz="1200" dirty="0"/>
          </a:p>
        </p:txBody>
      </p:sp>
      <p:sp>
        <p:nvSpPr>
          <p:cNvPr id="11" name="Text 9"/>
          <p:cNvSpPr txBox="1"/>
          <p:nvPr/>
        </p:nvSpPr>
        <p:spPr>
          <a:xfrm>
            <a:off x="6858000" y="3291840"/>
            <a:ext cx="4681728" cy="2240280"/>
          </a:xfrm>
          <a:prstGeom prst="rect">
            <a:avLst/>
          </a:prstGeom>
          <a:noFill/>
          <a:ln/>
        </p:spPr>
        <p:txBody>
          <a:bodyPr wrap="square" lIns="0" tIns="0" rIns="0" bIns="0" rtlCol="0" anchor="t"/>
          <a:lstStyle/>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The namespaced name fortrandemo::fortrandemo is unmistakably an imported target - typo it and you get an error at configure time, not a mysterious link failure.</a:t>
            </a:r>
            <a:endParaRPr lang="en-US" sz="1300" dirty="0"/>
          </a:p>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Version compatibility is enforced by the ConfigVersion file you generated.</a:t>
            </a:r>
            <a:endParaRPr lang="en-US" sz="1300" dirty="0"/>
          </a:p>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Compare this with the alternative: a README paragraph telling people which -I and -L flags to add, maintained by hand.</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6327648"/>
            <a:ext cx="4572000" cy="274320"/>
          </a:xfrm>
          <a:prstGeom prst="rect">
            <a:avLst/>
          </a:prstGeom>
          <a:noFill/>
          <a:ln/>
        </p:spPr>
        <p:txBody>
          <a:bodyPr wrap="square" lIns="0" tIns="0" rIns="0" bIns="0" rtlCol="0" anchor="ctr"/>
          <a:lstStyle/>
          <a:p>
            <a:pPr marL="0" indent="0">
              <a:buNone/>
            </a:pPr>
            <a:r>
              <a:rPr lang="en-US" sz="1000" dirty="0">
                <a:solidFill>
                  <a:srgbClr val="AEB5BF"/>
                </a:solidFill>
                <a:latin typeface="Calibri" pitchFamily="34" charset="0"/>
                <a:ea typeface="Calibri" pitchFamily="34" charset="-122"/>
                <a:cs typeface="Calibri" pitchFamily="34" charset="-120"/>
              </a:rPr>
              <a:t>CMake for Fortran</a:t>
            </a:r>
            <a:endParaRPr lang="en-US" sz="1000" dirty="0"/>
          </a:p>
        </p:txBody>
      </p:sp>
      <p:sp>
        <p:nvSpPr>
          <p:cNvPr id="3" name="Text 1"/>
          <p:cNvSpPr txBox="1"/>
          <p:nvPr/>
        </p:nvSpPr>
        <p:spPr>
          <a:xfrm>
            <a:off x="10607040" y="6327648"/>
            <a:ext cx="914400" cy="274320"/>
          </a:xfrm>
          <a:prstGeom prst="rect">
            <a:avLst/>
          </a:prstGeom>
          <a:noFill/>
          <a:ln/>
        </p:spPr>
        <p:txBody>
          <a:bodyPr wrap="square" lIns="0" tIns="0" rIns="0" bIns="0" rtlCol="0" anchor="ctr"/>
          <a:lstStyle/>
          <a:p>
            <a:pPr marL="0" indent="0" algn="r">
              <a:buNone/>
            </a:pPr>
            <a:r>
              <a:rPr lang="en-US" sz="1000" dirty="0">
                <a:solidFill>
                  <a:srgbClr val="AEB5BF"/>
                </a:solidFill>
                <a:latin typeface="Calibri" pitchFamily="34" charset="0"/>
                <a:ea typeface="Calibri" pitchFamily="34" charset="-122"/>
                <a:cs typeface="Calibri" pitchFamily="34" charset="-120"/>
              </a:rPr>
              <a:t>21</a:t>
            </a:r>
            <a:endParaRPr lang="en-US" sz="1000" dirty="0"/>
          </a:p>
        </p:txBody>
      </p:sp>
      <p:sp>
        <p:nvSpPr>
          <p:cNvPr id="4" name="Text 2"/>
          <p:cNvSpPr txBox="1"/>
          <p:nvPr/>
        </p:nvSpPr>
        <p:spPr>
          <a:xfrm>
            <a:off x="640080" y="384048"/>
            <a:ext cx="10881360" cy="256032"/>
          </a:xfrm>
          <a:prstGeom prst="rect">
            <a:avLst/>
          </a:prstGeom>
          <a:noFill/>
          <a:ln/>
        </p:spPr>
        <p:txBody>
          <a:bodyPr wrap="square" lIns="0" tIns="0" rIns="0" bIns="0" rtlCol="0" anchor="ctr"/>
          <a:lstStyle/>
          <a:p>
            <a:pPr marL="0" indent="0">
              <a:buNone/>
            </a:pPr>
            <a:r>
              <a:rPr lang="en-US" sz="1100" b="1" kern="0" spc="200" dirty="0">
                <a:solidFill>
                  <a:srgbClr val="EF6C1A"/>
                </a:solidFill>
                <a:latin typeface="Calibri" pitchFamily="34" charset="0"/>
                <a:ea typeface="Calibri" pitchFamily="34" charset="-122"/>
                <a:cs typeface="Calibri" pitchFamily="34" charset="-120"/>
              </a:rPr>
              <a:t>SHARING</a:t>
            </a:r>
            <a:endParaRPr lang="en-US" sz="1100" dirty="0"/>
          </a:p>
        </p:txBody>
      </p:sp>
      <p:sp>
        <p:nvSpPr>
          <p:cNvPr id="5" name="Text 3"/>
          <p:cNvSpPr txBox="1"/>
          <p:nvPr/>
        </p:nvSpPr>
        <p:spPr>
          <a:xfrm>
            <a:off x="640080" y="658368"/>
            <a:ext cx="10881360" cy="658368"/>
          </a:xfrm>
          <a:prstGeom prst="rect">
            <a:avLst/>
          </a:prstGeom>
          <a:noFill/>
          <a:ln/>
        </p:spPr>
        <p:txBody>
          <a:bodyPr wrap="square" lIns="0" tIns="0" rIns="0" bIns="0" rtlCol="0" anchor="t"/>
          <a:lstStyle/>
          <a:p>
            <a:pPr marL="0" indent="0">
              <a:buNone/>
            </a:pPr>
            <a:r>
              <a:rPr lang="en-US" sz="3000" b="1" dirty="0">
                <a:solidFill>
                  <a:srgbClr val="1F2430"/>
                </a:solidFill>
                <a:latin typeface="Cambria" pitchFamily="34" charset="0"/>
                <a:ea typeface="Cambria" pitchFamily="34" charset="-122"/>
                <a:cs typeface="Cambria" pitchFamily="34" charset="-120"/>
              </a:rPr>
              <a:t>Package managers speak CMake natively</a:t>
            </a:r>
            <a:endParaRPr lang="en-US" sz="3000" dirty="0"/>
          </a:p>
        </p:txBody>
      </p:sp>
      <p:sp>
        <p:nvSpPr>
          <p:cNvPr id="6" name="Shape 4"/>
          <p:cNvSpPr/>
          <p:nvPr/>
        </p:nvSpPr>
        <p:spPr>
          <a:xfrm>
            <a:off x="640080" y="1645920"/>
            <a:ext cx="5943600" cy="2179015"/>
          </a:xfrm>
          <a:prstGeom prst="roundRect">
            <a:avLst>
              <a:gd name="adj" fmla="val 3357"/>
            </a:avLst>
          </a:prstGeom>
          <a:solidFill>
            <a:srgbClr val="1F2430"/>
          </a:solidFill>
          <a:ln w="12700">
            <a:solidFill>
              <a:srgbClr val="1F2430"/>
            </a:solidFill>
            <a:prstDash val="solid"/>
          </a:ln>
        </p:spPr>
        <p:txBody>
          <a:bodyPr/>
          <a:lstStyle/>
          <a:p>
            <a:endParaRPr lang="en-US"/>
          </a:p>
        </p:txBody>
      </p:sp>
      <p:sp>
        <p:nvSpPr>
          <p:cNvPr id="7" name="Text 5"/>
          <p:cNvSpPr txBox="1"/>
          <p:nvPr/>
        </p:nvSpPr>
        <p:spPr>
          <a:xfrm>
            <a:off x="841248" y="1792224"/>
            <a:ext cx="5541264" cy="1886407"/>
          </a:xfrm>
          <a:prstGeom prst="rect">
            <a:avLst/>
          </a:prstGeom>
          <a:noFill/>
          <a:ln/>
        </p:spPr>
        <p:txBody>
          <a:bodyPr wrap="square" lIns="0" tIns="0" rIns="0" bIns="0" rtlCol="0" anchor="t"/>
          <a:lstStyle/>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class Fortrandemo(CMakePackage):</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depends_on("cmake@3.16:", type="build")</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variant("openmp", default=False)</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def cmake_args(self):</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return [</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self.define_from_variant(</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"ENABLE_OPENMP", "openmp"),</a:t>
            </a:r>
            <a:endParaRPr lang="en-US" sz="1200" dirty="0"/>
          </a:p>
          <a:p>
            <a:pPr marL="0" indent="0">
              <a:lnSpc>
                <a:spcPct val="112000"/>
              </a:lnSpc>
              <a:buNone/>
            </a:pPr>
            <a:r>
              <a:rPr lang="en-US" sz="1200" dirty="0">
                <a:solidFill>
                  <a:srgbClr val="E6E8EC"/>
                </a:solidFill>
                <a:latin typeface="Courier New" pitchFamily="34" charset="0"/>
                <a:ea typeface="Courier New" pitchFamily="34" charset="-122"/>
                <a:cs typeface="Courier New" pitchFamily="34" charset="-120"/>
              </a:rPr>
              <a:t>        ]</a:t>
            </a:r>
            <a:endParaRPr lang="en-US" sz="1200" dirty="0"/>
          </a:p>
        </p:txBody>
      </p:sp>
      <p:sp>
        <p:nvSpPr>
          <p:cNvPr id="8" name="Text 6"/>
          <p:cNvSpPr txBox="1"/>
          <p:nvPr/>
        </p:nvSpPr>
        <p:spPr>
          <a:xfrm>
            <a:off x="640080" y="3931920"/>
            <a:ext cx="5943600" cy="292608"/>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A complete Spack recipe. CMakePackage already knows configure, build, test and install.</a:t>
            </a:r>
            <a:endParaRPr lang="en-US" sz="1200" dirty="0"/>
          </a:p>
        </p:txBody>
      </p:sp>
      <p:sp>
        <p:nvSpPr>
          <p:cNvPr id="9" name="Text 7"/>
          <p:cNvSpPr txBox="1"/>
          <p:nvPr/>
        </p:nvSpPr>
        <p:spPr>
          <a:xfrm>
            <a:off x="6766560" y="1737360"/>
            <a:ext cx="4773168" cy="2834640"/>
          </a:xfrm>
          <a:prstGeom prst="rect">
            <a:avLst/>
          </a:prstGeom>
          <a:noFill/>
          <a:ln/>
        </p:spPr>
        <p:txBody>
          <a:bodyPr wrap="square" lIns="0" tIns="0" rIns="0" bIns="0" rtlCol="0" anchor="t"/>
          <a:lstStyle/>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Spack, EasyBuild and conda-forge all have first-class CMake support. A custom Makefile means a custom, hand-maintained recipe.</a:t>
            </a:r>
            <a:endParaRPr lang="en-US" sz="1300" dirty="0"/>
          </a:p>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Variants map one-to-one onto option() switches - which is exactly why your switches should be options.</a:t>
            </a:r>
            <a:endParaRPr lang="en-US" sz="1300" dirty="0"/>
          </a:p>
          <a:p>
            <a:pPr marL="342900" indent="-342900">
              <a:lnSpc>
                <a:spcPct val="110000"/>
              </a:lnSpc>
              <a:spcAft>
                <a:spcPts val="800"/>
              </a:spcAft>
              <a:buSzPct val="100000"/>
              <a:buChar char="•"/>
            </a:pPr>
            <a:r>
              <a:rPr lang="en-US" sz="1300" dirty="0">
                <a:solidFill>
                  <a:srgbClr val="3A4354"/>
                </a:solidFill>
                <a:latin typeface="Calibri" pitchFamily="34" charset="0"/>
                <a:ea typeface="Calibri" pitchFamily="34" charset="-122"/>
                <a:cs typeface="Calibri" pitchFamily="34" charset="-120"/>
              </a:rPr>
              <a:t>CMAKE_PREFIX_PATH is how the package manager hands you its dependency tree; nothing site-specific ends up in your repository.</a:t>
            </a:r>
            <a:br>
              <a:rPr lang="en-US" sz="1300" dirty="0">
                <a:solidFill>
                  <a:srgbClr val="3A4354"/>
                </a:solidFill>
                <a:latin typeface="Calibri" pitchFamily="34" charset="0"/>
                <a:ea typeface="Calibri" pitchFamily="34" charset="-122"/>
                <a:cs typeface="Calibri" pitchFamily="34" charset="-120"/>
              </a:rPr>
            </a:br>
            <a:br>
              <a:rPr lang="en-US" sz="1300" dirty="0">
                <a:solidFill>
                  <a:srgbClr val="3A4354"/>
                </a:solidFill>
                <a:latin typeface="Calibri" pitchFamily="34" charset="0"/>
                <a:ea typeface="Calibri" pitchFamily="34" charset="-122"/>
                <a:cs typeface="Calibri" pitchFamily="34" charset="-120"/>
              </a:rPr>
            </a:br>
            <a:br>
              <a:rPr lang="en-US" sz="1300" dirty="0">
                <a:solidFill>
                  <a:srgbClr val="3A4354"/>
                </a:solidFill>
                <a:latin typeface="Calibri" pitchFamily="34" charset="0"/>
                <a:ea typeface="Calibri" pitchFamily="34" charset="-122"/>
                <a:cs typeface="Calibri" pitchFamily="34" charset="-120"/>
              </a:rPr>
            </a:br>
            <a:br>
              <a:rPr lang="en-US" sz="1300" dirty="0">
                <a:solidFill>
                  <a:srgbClr val="3A4354"/>
                </a:solidFill>
                <a:latin typeface="Calibri" pitchFamily="34" charset="0"/>
                <a:ea typeface="Calibri" pitchFamily="34" charset="-122"/>
                <a:cs typeface="Calibri" pitchFamily="34" charset="-120"/>
              </a:rPr>
            </a:br>
            <a:br>
              <a:rPr lang="en-US" sz="1300" dirty="0">
                <a:solidFill>
                  <a:srgbClr val="3A4354"/>
                </a:solidFill>
                <a:latin typeface="Calibri" pitchFamily="34" charset="0"/>
                <a:ea typeface="Calibri" pitchFamily="34" charset="-122"/>
                <a:cs typeface="Calibri" pitchFamily="34" charset="-120"/>
              </a:rPr>
            </a:br>
            <a:br>
              <a:rPr lang="en-US" sz="1300" dirty="0">
                <a:solidFill>
                  <a:srgbClr val="3A4354"/>
                </a:solidFill>
                <a:latin typeface="Calibri" pitchFamily="34" charset="0"/>
                <a:ea typeface="Calibri" pitchFamily="34" charset="-122"/>
                <a:cs typeface="Calibri" pitchFamily="34" charset="-120"/>
              </a:rPr>
            </a:br>
            <a:endParaRPr lang="en-US" sz="1300" dirty="0">
              <a:solidFill>
                <a:srgbClr val="3A4354"/>
              </a:solidFill>
              <a:latin typeface="Calibri" pitchFamily="34" charset="0"/>
              <a:ea typeface="Calibri" pitchFamily="34" charset="-122"/>
              <a:cs typeface="Calibri" pitchFamily="34" charset="-120"/>
            </a:endParaRPr>
          </a:p>
          <a:p>
            <a:pPr marL="342900" indent="-342900">
              <a:lnSpc>
                <a:spcPct val="110000"/>
              </a:lnSpc>
              <a:spcAft>
                <a:spcPts val="800"/>
              </a:spcAft>
              <a:buSzPct val="100000"/>
              <a:buChar char="•"/>
            </a:pPr>
            <a:r>
              <a:rPr lang="en-US" sz="1300" dirty="0" err="1">
                <a:solidFill>
                  <a:srgbClr val="3A4354"/>
                </a:solidFill>
                <a:latin typeface="Calibri" pitchFamily="34" charset="0"/>
                <a:ea typeface="Calibri" pitchFamily="34" charset="-122"/>
                <a:cs typeface="Calibri" pitchFamily="34" charset="-120"/>
              </a:rPr>
              <a:t>spack</a:t>
            </a:r>
            <a:r>
              <a:rPr lang="en-US" sz="1300" dirty="0">
                <a:solidFill>
                  <a:srgbClr val="3A4354"/>
                </a:solidFill>
                <a:latin typeface="Calibri" pitchFamily="34" charset="0"/>
                <a:ea typeface="Calibri" pitchFamily="34" charset="-122"/>
                <a:cs typeface="Calibri" pitchFamily="34" charset="-120"/>
              </a:rPr>
              <a:t>-stack generates modules for </a:t>
            </a:r>
            <a:r>
              <a:rPr lang="en-US" sz="1300" dirty="0" err="1">
                <a:solidFill>
                  <a:srgbClr val="3A4354"/>
                </a:solidFill>
                <a:latin typeface="Calibri" pitchFamily="34" charset="0"/>
                <a:ea typeface="Calibri" pitchFamily="34" charset="-122"/>
                <a:cs typeface="Calibri" pitchFamily="34" charset="-120"/>
              </a:rPr>
              <a:t>CMake</a:t>
            </a:r>
            <a:r>
              <a:rPr lang="en-US" sz="1300" dirty="0">
                <a:solidFill>
                  <a:srgbClr val="3A4354"/>
                </a:solidFill>
                <a:latin typeface="Calibri" pitchFamily="34" charset="0"/>
                <a:ea typeface="Calibri" pitchFamily="34" charset="-122"/>
                <a:cs typeface="Calibri" pitchFamily="34" charset="-120"/>
              </a:rPr>
              <a:t> packages that set a standard &lt;package-name&gt;_ROOT environment variable; </a:t>
            </a:r>
            <a:r>
              <a:rPr lang="en-US" sz="1300" dirty="0" err="1">
                <a:solidFill>
                  <a:srgbClr val="3A4354"/>
                </a:solidFill>
                <a:latin typeface="Calibri" pitchFamily="34" charset="0"/>
                <a:ea typeface="Calibri" pitchFamily="34" charset="-122"/>
                <a:cs typeface="Calibri" pitchFamily="34" charset="-120"/>
              </a:rPr>
              <a:t>Cmake</a:t>
            </a:r>
            <a:r>
              <a:rPr lang="en-US" sz="1300" dirty="0">
                <a:solidFill>
                  <a:srgbClr val="3A4354"/>
                </a:solidFill>
                <a:latin typeface="Calibri" pitchFamily="34" charset="0"/>
                <a:ea typeface="Calibri" pitchFamily="34" charset="-122"/>
                <a:cs typeface="Calibri" pitchFamily="34" charset="-120"/>
              </a:rPr>
              <a:t> by default uses these as HINTs to find packages in downstream </a:t>
            </a:r>
            <a:r>
              <a:rPr lang="en-US" sz="1300" dirty="0" err="1">
                <a:solidFill>
                  <a:srgbClr val="3A4354"/>
                </a:solidFill>
                <a:latin typeface="Calibri" pitchFamily="34" charset="0"/>
                <a:ea typeface="Calibri" pitchFamily="34" charset="-122"/>
                <a:cs typeface="Calibri" pitchFamily="34" charset="-120"/>
              </a:rPr>
              <a:t>CMake</a:t>
            </a:r>
            <a:r>
              <a:rPr lang="en-US" sz="1300" dirty="0">
                <a:solidFill>
                  <a:srgbClr val="3A4354"/>
                </a:solidFill>
                <a:latin typeface="Calibri" pitchFamily="34" charset="0"/>
                <a:ea typeface="Calibri" pitchFamily="34" charset="-122"/>
                <a:cs typeface="Calibri" pitchFamily="34" charset="-120"/>
              </a:rPr>
              <a:t> projects</a:t>
            </a:r>
            <a:endParaRPr lang="en-US" sz="1300" dirty="0"/>
          </a:p>
        </p:txBody>
      </p:sp>
      <p:sp>
        <p:nvSpPr>
          <p:cNvPr id="10" name="Shape 8"/>
          <p:cNvSpPr/>
          <p:nvPr/>
        </p:nvSpPr>
        <p:spPr>
          <a:xfrm>
            <a:off x="1251733" y="4572000"/>
            <a:ext cx="4773168" cy="1417320"/>
          </a:xfrm>
          <a:prstGeom prst="roundRect">
            <a:avLst>
              <a:gd name="adj" fmla="val 3871"/>
            </a:avLst>
          </a:prstGeom>
          <a:solidFill>
            <a:srgbClr val="F4F5F7"/>
          </a:solidFill>
          <a:ln w="12700">
            <a:solidFill>
              <a:srgbClr val="E3E6EA"/>
            </a:solidFill>
            <a:prstDash val="solid"/>
          </a:ln>
        </p:spPr>
        <p:txBody>
          <a:bodyPr/>
          <a:lstStyle/>
          <a:p>
            <a:endParaRPr lang="en-US"/>
          </a:p>
        </p:txBody>
      </p:sp>
      <p:sp>
        <p:nvSpPr>
          <p:cNvPr id="11" name="Text 9"/>
          <p:cNvSpPr txBox="1"/>
          <p:nvPr/>
        </p:nvSpPr>
        <p:spPr>
          <a:xfrm>
            <a:off x="1507765" y="4681728"/>
            <a:ext cx="4261104" cy="1197864"/>
          </a:xfrm>
          <a:prstGeom prst="rect">
            <a:avLst/>
          </a:prstGeom>
          <a:noFill/>
          <a:ln/>
        </p:spPr>
        <p:txBody>
          <a:bodyPr wrap="square" lIns="0" tIns="0" rIns="0" bIns="0" rtlCol="0" anchor="ctr"/>
          <a:lstStyle/>
          <a:p>
            <a:pPr marL="0" indent="0">
              <a:lnSpc>
                <a:spcPct val="112000"/>
              </a:lnSpc>
              <a:buNone/>
            </a:pPr>
            <a:r>
              <a:rPr lang="en-US" sz="1250" b="1" dirty="0">
                <a:solidFill>
                  <a:srgbClr val="1F2430"/>
                </a:solidFill>
                <a:latin typeface="Calibri" pitchFamily="34" charset="0"/>
                <a:ea typeface="Calibri" pitchFamily="34" charset="-122"/>
                <a:cs typeface="Calibri" pitchFamily="34" charset="-120"/>
              </a:rPr>
              <a:t>Relevant to us:  </a:t>
            </a:r>
            <a:r>
              <a:rPr lang="en-US" sz="1250" dirty="0">
                <a:solidFill>
                  <a:srgbClr val="3A4354"/>
                </a:solidFill>
                <a:latin typeface="Calibri" pitchFamily="34" charset="0"/>
                <a:ea typeface="Calibri" pitchFamily="34" charset="-122"/>
                <a:cs typeface="Calibri" pitchFamily="34" charset="-120"/>
              </a:rPr>
              <a:t>spack-stack builds the whole NWP/JEDI dependency tree this way. Projects that expose a clean CMake install drop straight in; the ones that do not need a bespoke package and break at every release.</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6327648"/>
            <a:ext cx="4572000" cy="274320"/>
          </a:xfrm>
          <a:prstGeom prst="rect">
            <a:avLst/>
          </a:prstGeom>
          <a:noFill/>
          <a:ln/>
        </p:spPr>
        <p:txBody>
          <a:bodyPr wrap="square" lIns="0" tIns="0" rIns="0" bIns="0" rtlCol="0" anchor="ctr"/>
          <a:lstStyle/>
          <a:p>
            <a:pPr marL="0" indent="0">
              <a:buNone/>
            </a:pPr>
            <a:r>
              <a:rPr lang="en-US" sz="1000" dirty="0">
                <a:solidFill>
                  <a:srgbClr val="AEB5BF"/>
                </a:solidFill>
                <a:latin typeface="Calibri" pitchFamily="34" charset="0"/>
                <a:ea typeface="Calibri" pitchFamily="34" charset="-122"/>
                <a:cs typeface="Calibri" pitchFamily="34" charset="-120"/>
              </a:rPr>
              <a:t>CMake for Fortran</a:t>
            </a:r>
            <a:endParaRPr lang="en-US" sz="1000" dirty="0"/>
          </a:p>
        </p:txBody>
      </p:sp>
      <p:sp>
        <p:nvSpPr>
          <p:cNvPr id="3" name="Text 1"/>
          <p:cNvSpPr txBox="1"/>
          <p:nvPr/>
        </p:nvSpPr>
        <p:spPr>
          <a:xfrm>
            <a:off x="10607040" y="6327648"/>
            <a:ext cx="914400" cy="274320"/>
          </a:xfrm>
          <a:prstGeom prst="rect">
            <a:avLst/>
          </a:prstGeom>
          <a:noFill/>
          <a:ln/>
        </p:spPr>
        <p:txBody>
          <a:bodyPr wrap="square" lIns="0" tIns="0" rIns="0" bIns="0" rtlCol="0" anchor="ctr"/>
          <a:lstStyle/>
          <a:p>
            <a:pPr marL="0" indent="0" algn="r">
              <a:buNone/>
            </a:pPr>
            <a:r>
              <a:rPr lang="en-US" sz="1000" dirty="0">
                <a:solidFill>
                  <a:srgbClr val="AEB5BF"/>
                </a:solidFill>
                <a:latin typeface="Calibri" pitchFamily="34" charset="0"/>
                <a:ea typeface="Calibri" pitchFamily="34" charset="-122"/>
                <a:cs typeface="Calibri" pitchFamily="34" charset="-120"/>
              </a:rPr>
              <a:t>22</a:t>
            </a:r>
            <a:endParaRPr lang="en-US" sz="1000" dirty="0"/>
          </a:p>
        </p:txBody>
      </p:sp>
      <p:sp>
        <p:nvSpPr>
          <p:cNvPr id="4" name="Text 2"/>
          <p:cNvSpPr txBox="1"/>
          <p:nvPr/>
        </p:nvSpPr>
        <p:spPr>
          <a:xfrm>
            <a:off x="640080" y="384048"/>
            <a:ext cx="10881360" cy="256032"/>
          </a:xfrm>
          <a:prstGeom prst="rect">
            <a:avLst/>
          </a:prstGeom>
          <a:noFill/>
          <a:ln/>
        </p:spPr>
        <p:txBody>
          <a:bodyPr wrap="square" lIns="0" tIns="0" rIns="0" bIns="0" rtlCol="0" anchor="ctr"/>
          <a:lstStyle/>
          <a:p>
            <a:pPr marL="0" indent="0">
              <a:buNone/>
            </a:pPr>
            <a:r>
              <a:rPr lang="en-US" sz="1100" b="1" kern="0" spc="200" dirty="0">
                <a:solidFill>
                  <a:srgbClr val="EF6C1A"/>
                </a:solidFill>
                <a:latin typeface="Calibri" pitchFamily="34" charset="0"/>
                <a:ea typeface="Calibri" pitchFamily="34" charset="-122"/>
                <a:cs typeface="Calibri" pitchFamily="34" charset="-120"/>
              </a:rPr>
              <a:t>THE ARGUMENT</a:t>
            </a:r>
            <a:endParaRPr lang="en-US" sz="1100" dirty="0"/>
          </a:p>
        </p:txBody>
      </p:sp>
      <p:sp>
        <p:nvSpPr>
          <p:cNvPr id="5" name="Text 3"/>
          <p:cNvSpPr txBox="1"/>
          <p:nvPr/>
        </p:nvSpPr>
        <p:spPr>
          <a:xfrm>
            <a:off x="640080" y="658368"/>
            <a:ext cx="10881360" cy="658368"/>
          </a:xfrm>
          <a:prstGeom prst="rect">
            <a:avLst/>
          </a:prstGeom>
          <a:noFill/>
          <a:ln/>
        </p:spPr>
        <p:txBody>
          <a:bodyPr wrap="square" lIns="0" tIns="0" rIns="0" bIns="0" rtlCol="0" anchor="t"/>
          <a:lstStyle/>
          <a:p>
            <a:pPr marL="0" indent="0">
              <a:buNone/>
            </a:pPr>
            <a:r>
              <a:rPr lang="en-US" sz="3000" b="1" dirty="0">
                <a:solidFill>
                  <a:srgbClr val="1F2430"/>
                </a:solidFill>
                <a:latin typeface="Cambria" pitchFamily="34" charset="0"/>
                <a:ea typeface="Cambria" pitchFamily="34" charset="-122"/>
                <a:cs typeface="Cambria" pitchFamily="34" charset="-120"/>
              </a:rPr>
              <a:t>CMake vs. hand-written Make vs. Autotools</a:t>
            </a:r>
            <a:endParaRPr lang="en-US" sz="3000" dirty="0"/>
          </a:p>
        </p:txBody>
      </p:sp>
      <p:graphicFrame>
        <p:nvGraphicFramePr>
          <p:cNvPr id="23" name="Table 0"/>
          <p:cNvGraphicFramePr>
            <a:graphicFrameLocks noGrp="1"/>
          </p:cNvGraphicFramePr>
          <p:nvPr>
            <p:extLst>
              <p:ext uri="{D42A27DB-BD31-4B8C-83A1-F6EECF244321}">
                <p14:modId xmlns:p14="http://schemas.microsoft.com/office/powerpoint/2010/main" val="1967953667"/>
              </p:ext>
            </p:extLst>
          </p:nvPr>
        </p:nvGraphicFramePr>
        <p:xfrm>
          <a:off x="640080" y="1600200"/>
          <a:ext cx="10881360" cy="4023360"/>
        </p:xfrm>
        <a:graphic>
          <a:graphicData uri="http://schemas.openxmlformats.org/drawingml/2006/table">
            <a:tbl>
              <a:tblPr/>
              <a:tblGrid>
                <a:gridCol w="29718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60604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402336">
                <a:tc>
                  <a:txBody>
                    <a:bodyPr/>
                    <a:lstStyle/>
                    <a:p>
                      <a:pPr marL="0" indent="0">
                        <a:buNone/>
                      </a:pPr>
                      <a:r>
                        <a:rPr lang="en-US" sz="1200" b="1" dirty="0">
                          <a:solidFill>
                            <a:srgbClr val="3A4354"/>
                          </a:solidFill>
                          <a:latin typeface="Calibri" pitchFamily="34" charset="0"/>
                          <a:ea typeface="Calibri" pitchFamily="34" charset="-122"/>
                          <a:cs typeface="Calibri" pitchFamily="34" charset="-120"/>
                        </a:rPr>
                        <a:t>Requirement</a:t>
                      </a:r>
                      <a:endParaRPr lang="en-US" sz="1200" dirty="0">
                        <a:latin typeface="Calibri" charset="0"/>
                        <a:ea typeface="Calibri" charset="0"/>
                        <a:cs typeface="Calibri" charset="0"/>
                      </a:endParaRPr>
                    </a:p>
                  </a:txBody>
                  <a:tcPr marL="76200" marR="76200" marT="38100" marB="38100" anchor="ctr">
                    <a:lnL w="12700" cap="flat" cmpd="sng" algn="ctr">
                      <a:solidFill>
                        <a:srgbClr val="E3E6EA"/>
                      </a:solidFill>
                      <a:prstDash val="solid"/>
                      <a:round/>
                      <a:headEnd type="none" w="med" len="med"/>
                      <a:tailEnd type="none" w="med" len="med"/>
                    </a:lnL>
                    <a:lnR w="12700" cap="flat" cmpd="sng" algn="ctr">
                      <a:solidFill>
                        <a:srgbClr val="E3E6EA"/>
                      </a:solidFill>
                      <a:prstDash val="solid"/>
                      <a:round/>
                      <a:headEnd type="none" w="med" len="med"/>
                      <a:tailEnd type="none" w="med" len="med"/>
                    </a:lnR>
                    <a:lnT w="12700" cap="flat" cmpd="sng" algn="ctr">
                      <a:solidFill>
                        <a:srgbClr val="E3E6EA"/>
                      </a:solidFill>
                      <a:prstDash val="solid"/>
                      <a:round/>
                      <a:headEnd type="none" w="med" len="med"/>
                      <a:tailEnd type="none" w="med" len="med"/>
                    </a:lnT>
                    <a:lnB w="12700" cap="flat" cmpd="sng" algn="ctr">
                      <a:solidFill>
                        <a:srgbClr val="E3E6EA"/>
                      </a:solidFill>
                      <a:prstDash val="solid"/>
                      <a:round/>
                      <a:headEnd type="none" w="med" len="med"/>
                      <a:tailEnd type="none" w="med" len="med"/>
                    </a:lnB>
                    <a:solidFill>
                      <a:srgbClr val="FFFFFF"/>
                    </a:solidFill>
                  </a:tcPr>
                </a:tc>
                <a:tc>
                  <a:txBody>
                    <a:bodyPr/>
                    <a:lstStyle/>
                    <a:p>
                      <a:pPr marL="0" indent="0">
                        <a:buNone/>
                      </a:pPr>
                      <a:r>
                        <a:rPr lang="en-US" sz="1200" b="1" dirty="0">
                          <a:solidFill>
                            <a:srgbClr val="3A4354"/>
                          </a:solidFill>
                          <a:latin typeface="Calibri" pitchFamily="34" charset="0"/>
                          <a:ea typeface="Calibri" pitchFamily="34" charset="-122"/>
                          <a:cs typeface="Calibri" pitchFamily="34" charset="-120"/>
                        </a:rPr>
                        <a:t>Hand-written Make</a:t>
                      </a:r>
                      <a:endParaRPr lang="en-US" sz="1200" dirty="0">
                        <a:latin typeface="Calibri" charset="0"/>
                        <a:ea typeface="Calibri" charset="0"/>
                        <a:cs typeface="Calibri" charset="0"/>
                      </a:endParaRPr>
                    </a:p>
                  </a:txBody>
                  <a:tcPr marL="76200" marR="76200" marT="38100" marB="38100" anchor="ctr">
                    <a:lnL w="12700" cap="flat" cmpd="sng" algn="ctr">
                      <a:solidFill>
                        <a:srgbClr val="E3E6EA"/>
                      </a:solidFill>
                      <a:prstDash val="solid"/>
                      <a:round/>
                      <a:headEnd type="none" w="med" len="med"/>
                      <a:tailEnd type="none" w="med" len="med"/>
                    </a:lnL>
                    <a:lnR w="12700" cap="flat" cmpd="sng" algn="ctr">
                      <a:solidFill>
                        <a:srgbClr val="E3E6EA"/>
                      </a:solidFill>
                      <a:prstDash val="solid"/>
                      <a:round/>
                      <a:headEnd type="none" w="med" len="med"/>
                      <a:tailEnd type="none" w="med" len="med"/>
                    </a:lnR>
                    <a:lnT w="12700" cap="flat" cmpd="sng" algn="ctr">
                      <a:solidFill>
                        <a:srgbClr val="E3E6EA"/>
                      </a:solidFill>
                      <a:prstDash val="solid"/>
                      <a:round/>
                      <a:headEnd type="none" w="med" len="med"/>
                      <a:tailEnd type="none" w="med" len="med"/>
                    </a:lnT>
                    <a:lnB w="12700" cap="flat" cmpd="sng" algn="ctr">
                      <a:solidFill>
                        <a:srgbClr val="E3E6EA"/>
                      </a:solidFill>
                      <a:prstDash val="solid"/>
                      <a:round/>
                      <a:headEnd type="none" w="med" len="med"/>
                      <a:tailEnd type="none" w="med" len="med"/>
                    </a:lnB>
                    <a:solidFill>
                      <a:srgbClr val="FFFFFF"/>
                    </a:solidFill>
                  </a:tcPr>
                </a:tc>
                <a:tc>
                  <a:txBody>
                    <a:bodyPr/>
                    <a:lstStyle/>
                    <a:p>
                      <a:pPr marL="0" indent="0">
                        <a:buNone/>
                      </a:pPr>
                      <a:r>
                        <a:rPr lang="en-US" sz="1200" b="1" dirty="0">
                          <a:solidFill>
                            <a:srgbClr val="3A4354"/>
                          </a:solidFill>
                          <a:latin typeface="Calibri" pitchFamily="34" charset="0"/>
                          <a:ea typeface="Calibri" pitchFamily="34" charset="-122"/>
                          <a:cs typeface="Calibri" pitchFamily="34" charset="-120"/>
                        </a:rPr>
                        <a:t>Autotools</a:t>
                      </a:r>
                      <a:endParaRPr lang="en-US" sz="1200" dirty="0">
                        <a:latin typeface="Calibri" charset="0"/>
                        <a:ea typeface="Calibri" charset="0"/>
                        <a:cs typeface="Calibri" charset="0"/>
                      </a:endParaRPr>
                    </a:p>
                  </a:txBody>
                  <a:tcPr marL="76200" marR="76200" marT="38100" marB="38100" anchor="ctr">
                    <a:lnL w="12700" cap="flat" cmpd="sng" algn="ctr">
                      <a:solidFill>
                        <a:srgbClr val="E3E6EA"/>
                      </a:solidFill>
                      <a:prstDash val="solid"/>
                      <a:round/>
                      <a:headEnd type="none" w="med" len="med"/>
                      <a:tailEnd type="none" w="med" len="med"/>
                    </a:lnL>
                    <a:lnR w="12700" cap="flat" cmpd="sng" algn="ctr">
                      <a:solidFill>
                        <a:srgbClr val="E3E6EA"/>
                      </a:solidFill>
                      <a:prstDash val="solid"/>
                      <a:round/>
                      <a:headEnd type="none" w="med" len="med"/>
                      <a:tailEnd type="none" w="med" len="med"/>
                    </a:lnR>
                    <a:lnT w="12700" cap="flat" cmpd="sng" algn="ctr">
                      <a:solidFill>
                        <a:srgbClr val="E3E6EA"/>
                      </a:solidFill>
                      <a:prstDash val="solid"/>
                      <a:round/>
                      <a:headEnd type="none" w="med" len="med"/>
                      <a:tailEnd type="none" w="med" len="med"/>
                    </a:lnT>
                    <a:lnB w="12700" cap="flat" cmpd="sng" algn="ctr">
                      <a:solidFill>
                        <a:srgbClr val="E3E6EA"/>
                      </a:solidFill>
                      <a:prstDash val="solid"/>
                      <a:round/>
                      <a:headEnd type="none" w="med" len="med"/>
                      <a:tailEnd type="none" w="med" len="med"/>
                    </a:lnB>
                    <a:solidFill>
                      <a:srgbClr val="FFFFFF"/>
                    </a:solidFill>
                  </a:tcPr>
                </a:tc>
                <a:tc>
                  <a:txBody>
                    <a:bodyPr/>
                    <a:lstStyle/>
                    <a:p>
                      <a:pPr marL="0" indent="0">
                        <a:buNone/>
                      </a:pPr>
                      <a:r>
                        <a:rPr lang="en-US" sz="1200" b="1" dirty="0">
                          <a:solidFill>
                            <a:srgbClr val="3A4354"/>
                          </a:solidFill>
                          <a:latin typeface="Calibri" pitchFamily="34" charset="0"/>
                          <a:ea typeface="Calibri" pitchFamily="34" charset="-122"/>
                          <a:cs typeface="Calibri" pitchFamily="34" charset="-120"/>
                        </a:rPr>
                        <a:t>CMake</a:t>
                      </a:r>
                      <a:endParaRPr lang="en-US" sz="1200" dirty="0">
                        <a:latin typeface="Calibri" charset="0"/>
                        <a:ea typeface="Calibri" charset="0"/>
                        <a:cs typeface="Calibri" charset="0"/>
                      </a:endParaRPr>
                    </a:p>
                  </a:txBody>
                  <a:tcPr marL="76200" marR="76200" marT="38100" marB="38100" anchor="ctr">
                    <a:lnL w="12700" cap="flat" cmpd="sng" algn="ctr">
                      <a:solidFill>
                        <a:srgbClr val="E3E6EA"/>
                      </a:solidFill>
                      <a:prstDash val="solid"/>
                      <a:round/>
                      <a:headEnd type="none" w="med" len="med"/>
                      <a:tailEnd type="none" w="med" len="med"/>
                    </a:lnL>
                    <a:lnR w="12700" cap="flat" cmpd="sng" algn="ctr">
                      <a:solidFill>
                        <a:srgbClr val="E3E6EA"/>
                      </a:solidFill>
                      <a:prstDash val="solid"/>
                      <a:round/>
                      <a:headEnd type="none" w="med" len="med"/>
                      <a:tailEnd type="none" w="med" len="med"/>
                    </a:lnR>
                    <a:lnT w="12700" cap="flat" cmpd="sng" algn="ctr">
                      <a:solidFill>
                        <a:srgbClr val="E3E6EA"/>
                      </a:solidFill>
                      <a:prstDash val="solid"/>
                      <a:round/>
                      <a:headEnd type="none" w="med" len="med"/>
                      <a:tailEnd type="none" w="med" len="med"/>
                    </a:lnT>
                    <a:lnB w="12700" cap="flat" cmpd="sng" algn="ctr">
                      <a:solidFill>
                        <a:srgbClr val="E3E6EA"/>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02336">
                <a:tc>
                  <a:txBody>
                    <a:bodyPr/>
                    <a:lstStyle/>
                    <a:p>
                      <a:pPr marL="0" indent="0">
                        <a:buNone/>
                      </a:pPr>
                      <a:r>
                        <a:rPr lang="en-US" sz="1200" dirty="0">
                          <a:solidFill>
                            <a:srgbClr val="3A4354"/>
                          </a:solidFill>
                          <a:latin typeface="Calibri" pitchFamily="34" charset="0"/>
                          <a:ea typeface="Calibri" pitchFamily="34" charset="-122"/>
                          <a:cs typeface="Calibri" pitchFamily="34" charset="-120"/>
                        </a:rPr>
                        <a:t>Fortran module dependencies</a:t>
                      </a:r>
                      <a:endParaRPr lang="en-US" sz="1200" dirty="0">
                        <a:latin typeface="Calibri" charset="0"/>
                        <a:ea typeface="Calibri" charset="0"/>
                        <a:cs typeface="Calibri" charset="0"/>
                      </a:endParaRPr>
                    </a:p>
                  </a:txBody>
                  <a:tcPr marL="76200" marR="76200" marT="38100" marB="38100" anchor="ctr">
                    <a:lnL w="12700" cap="flat" cmpd="sng" algn="ctr">
                      <a:solidFill>
                        <a:srgbClr val="E3E6EA"/>
                      </a:solidFill>
                      <a:prstDash val="solid"/>
                      <a:round/>
                      <a:headEnd type="none" w="med" len="med"/>
                      <a:tailEnd type="none" w="med" len="med"/>
                    </a:lnL>
                    <a:lnR w="12700" cap="flat" cmpd="sng" algn="ctr">
                      <a:solidFill>
                        <a:srgbClr val="E3E6EA"/>
                      </a:solidFill>
                      <a:prstDash val="solid"/>
                      <a:round/>
                      <a:headEnd type="none" w="med" len="med"/>
                      <a:tailEnd type="none" w="med" len="med"/>
                    </a:lnR>
                    <a:lnT w="12700" cap="flat" cmpd="sng" algn="ctr">
                      <a:solidFill>
                        <a:srgbClr val="E3E6EA"/>
                      </a:solidFill>
                      <a:prstDash val="solid"/>
                      <a:round/>
                      <a:headEnd type="none" w="med" len="med"/>
                      <a:tailEnd type="none" w="med" len="med"/>
                    </a:lnT>
                    <a:lnB w="12700" cap="flat" cmpd="sng" algn="ctr">
                      <a:solidFill>
                        <a:srgbClr val="E3E6EA"/>
                      </a:solidFill>
                      <a:prstDash val="solid"/>
                      <a:round/>
                      <a:headEnd type="none" w="med" len="med"/>
                      <a:tailEnd type="none" w="med" len="med"/>
                    </a:lnB>
                    <a:solidFill>
                      <a:srgbClr val="FFFFFF"/>
                    </a:solidFill>
                  </a:tcPr>
                </a:tc>
                <a:tc>
                  <a:txBody>
                    <a:bodyPr/>
                    <a:lstStyle/>
                    <a:p>
                      <a:pPr marL="0" indent="0">
                        <a:buNone/>
                      </a:pPr>
                      <a:r>
                        <a:rPr lang="en-US" sz="1200" dirty="0">
                          <a:solidFill>
                            <a:srgbClr val="3A4354"/>
                          </a:solidFill>
                          <a:latin typeface="Calibri" pitchFamily="34" charset="0"/>
                          <a:ea typeface="Calibri" pitchFamily="34" charset="-122"/>
                          <a:cs typeface="Calibri" pitchFamily="34" charset="-120"/>
                        </a:rPr>
                        <a:t>Manual, or a side tool</a:t>
                      </a:r>
                      <a:endParaRPr lang="en-US" sz="1200" dirty="0">
                        <a:latin typeface="Calibri" charset="0"/>
                        <a:ea typeface="Calibri" charset="0"/>
                        <a:cs typeface="Calibri" charset="0"/>
                      </a:endParaRPr>
                    </a:p>
                  </a:txBody>
                  <a:tcPr marL="76200" marR="76200" marT="38100" marB="38100" anchor="ctr">
                    <a:lnL w="12700" cap="flat" cmpd="sng" algn="ctr">
                      <a:solidFill>
                        <a:srgbClr val="E3E6EA"/>
                      </a:solidFill>
                      <a:prstDash val="solid"/>
                      <a:round/>
                      <a:headEnd type="none" w="med" len="med"/>
                      <a:tailEnd type="none" w="med" len="med"/>
                    </a:lnL>
                    <a:lnR w="12700" cap="flat" cmpd="sng" algn="ctr">
                      <a:solidFill>
                        <a:srgbClr val="E3E6EA"/>
                      </a:solidFill>
                      <a:prstDash val="solid"/>
                      <a:round/>
                      <a:headEnd type="none" w="med" len="med"/>
                      <a:tailEnd type="none" w="med" len="med"/>
                    </a:lnR>
                    <a:lnT w="12700" cap="flat" cmpd="sng" algn="ctr">
                      <a:solidFill>
                        <a:srgbClr val="E3E6EA"/>
                      </a:solidFill>
                      <a:prstDash val="solid"/>
                      <a:round/>
                      <a:headEnd type="none" w="med" len="med"/>
                      <a:tailEnd type="none" w="med" len="med"/>
                    </a:lnT>
                    <a:lnB w="12700" cap="flat" cmpd="sng" algn="ctr">
                      <a:solidFill>
                        <a:srgbClr val="E3E6EA"/>
                      </a:solidFill>
                      <a:prstDash val="solid"/>
                      <a:round/>
                      <a:headEnd type="none" w="med" len="med"/>
                      <a:tailEnd type="none" w="med" len="med"/>
                    </a:lnB>
                    <a:solidFill>
                      <a:srgbClr val="FFFFFF"/>
                    </a:solidFill>
                  </a:tcPr>
                </a:tc>
                <a:tc>
                  <a:txBody>
                    <a:bodyPr/>
                    <a:lstStyle/>
                    <a:p>
                      <a:pPr marL="0" indent="0">
                        <a:buNone/>
                      </a:pPr>
                      <a:r>
                        <a:rPr lang="en-US" sz="1200" dirty="0">
                          <a:solidFill>
                            <a:srgbClr val="3A4354"/>
                          </a:solidFill>
                          <a:latin typeface="Calibri" pitchFamily="34" charset="0"/>
                          <a:ea typeface="Calibri" pitchFamily="34" charset="-122"/>
                          <a:cs typeface="Calibri" pitchFamily="34" charset="-120"/>
                        </a:rPr>
                        <a:t>Manual, or a side tool</a:t>
                      </a:r>
                      <a:endParaRPr lang="en-US" sz="1200" dirty="0">
                        <a:latin typeface="Calibri" charset="0"/>
                        <a:ea typeface="Calibri" charset="0"/>
                        <a:cs typeface="Calibri" charset="0"/>
                      </a:endParaRPr>
                    </a:p>
                  </a:txBody>
                  <a:tcPr marL="76200" marR="76200" marT="38100" marB="38100" anchor="ctr">
                    <a:lnL w="12700" cap="flat" cmpd="sng" algn="ctr">
                      <a:solidFill>
                        <a:srgbClr val="E3E6EA"/>
                      </a:solidFill>
                      <a:prstDash val="solid"/>
                      <a:round/>
                      <a:headEnd type="none" w="med" len="med"/>
                      <a:tailEnd type="none" w="med" len="med"/>
                    </a:lnL>
                    <a:lnR w="12700" cap="flat" cmpd="sng" algn="ctr">
                      <a:solidFill>
                        <a:srgbClr val="E3E6EA"/>
                      </a:solidFill>
                      <a:prstDash val="solid"/>
                      <a:round/>
                      <a:headEnd type="none" w="med" len="med"/>
                      <a:tailEnd type="none" w="med" len="med"/>
                    </a:lnR>
                    <a:lnT w="12700" cap="flat" cmpd="sng" algn="ctr">
                      <a:solidFill>
                        <a:srgbClr val="E3E6EA"/>
                      </a:solidFill>
                      <a:prstDash val="solid"/>
                      <a:round/>
                      <a:headEnd type="none" w="med" len="med"/>
                      <a:tailEnd type="none" w="med" len="med"/>
                    </a:lnT>
                    <a:lnB w="12700" cap="flat" cmpd="sng" algn="ctr">
                      <a:solidFill>
                        <a:srgbClr val="E3E6EA"/>
                      </a:solidFill>
                      <a:prstDash val="solid"/>
                      <a:round/>
                      <a:headEnd type="none" w="med" len="med"/>
                      <a:tailEnd type="none" w="med" len="med"/>
                    </a:lnB>
                    <a:solidFill>
                      <a:srgbClr val="FFFFFF"/>
                    </a:solidFill>
                  </a:tcPr>
                </a:tc>
                <a:tc>
                  <a:txBody>
                    <a:bodyPr/>
                    <a:lstStyle/>
                    <a:p>
                      <a:pPr marL="0" indent="0">
                        <a:buNone/>
                      </a:pPr>
                      <a:r>
                        <a:rPr lang="en-US" sz="1200" dirty="0">
                          <a:solidFill>
                            <a:srgbClr val="3A4354"/>
                          </a:solidFill>
                          <a:latin typeface="Calibri" pitchFamily="34" charset="0"/>
                          <a:ea typeface="Calibri" pitchFamily="34" charset="-122"/>
                          <a:cs typeface="Calibri" pitchFamily="34" charset="-120"/>
                        </a:rPr>
                        <a:t>Derived automatically</a:t>
                      </a:r>
                      <a:endParaRPr lang="en-US" sz="1200" dirty="0">
                        <a:latin typeface="Calibri" charset="0"/>
                        <a:ea typeface="Calibri" charset="0"/>
                        <a:cs typeface="Calibri" charset="0"/>
                      </a:endParaRPr>
                    </a:p>
                  </a:txBody>
                  <a:tcPr marL="76200" marR="76200" marT="38100" marB="38100" anchor="ctr">
                    <a:lnL w="12700" cap="flat" cmpd="sng" algn="ctr">
                      <a:solidFill>
                        <a:srgbClr val="E3E6EA"/>
                      </a:solidFill>
                      <a:prstDash val="solid"/>
                      <a:round/>
                      <a:headEnd type="none" w="med" len="med"/>
                      <a:tailEnd type="none" w="med" len="med"/>
                    </a:lnL>
                    <a:lnR w="12700" cap="flat" cmpd="sng" algn="ctr">
                      <a:solidFill>
                        <a:srgbClr val="E3E6EA"/>
                      </a:solidFill>
                      <a:prstDash val="solid"/>
                      <a:round/>
                      <a:headEnd type="none" w="med" len="med"/>
                      <a:tailEnd type="none" w="med" len="med"/>
                    </a:lnR>
                    <a:lnT w="12700" cap="flat" cmpd="sng" algn="ctr">
                      <a:solidFill>
                        <a:srgbClr val="E3E6EA"/>
                      </a:solidFill>
                      <a:prstDash val="solid"/>
                      <a:round/>
                      <a:headEnd type="none" w="med" len="med"/>
                      <a:tailEnd type="none" w="med" len="med"/>
                    </a:lnT>
                    <a:lnB w="12700" cap="flat" cmpd="sng" algn="ctr">
                      <a:solidFill>
                        <a:srgbClr val="E3E6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buNone/>
                      </a:pPr>
                      <a:r>
                        <a:rPr lang="en-US" sz="1200" dirty="0">
                          <a:solidFill>
                            <a:srgbClr val="3A4354"/>
                          </a:solidFill>
                          <a:latin typeface="Calibri" pitchFamily="34" charset="0"/>
                          <a:ea typeface="Calibri" pitchFamily="34" charset="-122"/>
                          <a:cs typeface="Calibri" pitchFamily="34" charset="-120"/>
                        </a:rPr>
                        <a:t>Multi-compiler support</a:t>
                      </a:r>
                      <a:endParaRPr lang="en-US" sz="1200" dirty="0">
                        <a:latin typeface="Calibri" charset="0"/>
                        <a:ea typeface="Calibri" charset="0"/>
                        <a:cs typeface="Calibri" charset="0"/>
                      </a:endParaRPr>
                    </a:p>
                  </a:txBody>
                  <a:tcPr marL="76200" marR="76200" marT="38100" marB="38100" anchor="ctr">
                    <a:lnL w="12700" cap="flat" cmpd="sng" algn="ctr">
                      <a:solidFill>
                        <a:srgbClr val="E3E6EA"/>
                      </a:solidFill>
                      <a:prstDash val="solid"/>
                      <a:round/>
                      <a:headEnd type="none" w="med" len="med"/>
                      <a:tailEnd type="none" w="med" len="med"/>
                    </a:lnL>
                    <a:lnR w="12700" cap="flat" cmpd="sng" algn="ctr">
                      <a:solidFill>
                        <a:srgbClr val="E3E6EA"/>
                      </a:solidFill>
                      <a:prstDash val="solid"/>
                      <a:round/>
                      <a:headEnd type="none" w="med" len="med"/>
                      <a:tailEnd type="none" w="med" len="med"/>
                    </a:lnR>
                    <a:lnT w="12700" cap="flat" cmpd="sng" algn="ctr">
                      <a:solidFill>
                        <a:srgbClr val="E3E6EA"/>
                      </a:solidFill>
                      <a:prstDash val="solid"/>
                      <a:round/>
                      <a:headEnd type="none" w="med" len="med"/>
                      <a:tailEnd type="none" w="med" len="med"/>
                    </a:lnT>
                    <a:lnB w="12700" cap="flat" cmpd="sng" algn="ctr">
                      <a:solidFill>
                        <a:srgbClr val="E3E6EA"/>
                      </a:solidFill>
                      <a:prstDash val="solid"/>
                      <a:round/>
                      <a:headEnd type="none" w="med" len="med"/>
                      <a:tailEnd type="none" w="med" len="med"/>
                    </a:lnB>
                    <a:solidFill>
                      <a:srgbClr val="FFFFFF"/>
                    </a:solidFill>
                  </a:tcPr>
                </a:tc>
                <a:tc>
                  <a:txBody>
                    <a:bodyPr/>
                    <a:lstStyle/>
                    <a:p>
                      <a:pPr marL="0" indent="0">
                        <a:buNone/>
                      </a:pPr>
                      <a:r>
                        <a:rPr lang="en-US" sz="1200" dirty="0">
                          <a:solidFill>
                            <a:srgbClr val="3A4354"/>
                          </a:solidFill>
                          <a:latin typeface="Calibri" pitchFamily="34" charset="0"/>
                          <a:ea typeface="Calibri" pitchFamily="34" charset="-122"/>
                          <a:cs typeface="Calibri" pitchFamily="34" charset="-120"/>
                        </a:rPr>
                        <a:t>ifeq ladders you maintain</a:t>
                      </a:r>
                      <a:endParaRPr lang="en-US" sz="1200" dirty="0">
                        <a:latin typeface="Calibri" charset="0"/>
                        <a:ea typeface="Calibri" charset="0"/>
                        <a:cs typeface="Calibri" charset="0"/>
                      </a:endParaRPr>
                    </a:p>
                  </a:txBody>
                  <a:tcPr marL="76200" marR="76200" marT="38100" marB="38100" anchor="ctr">
                    <a:lnL w="12700" cap="flat" cmpd="sng" algn="ctr">
                      <a:solidFill>
                        <a:srgbClr val="E3E6EA"/>
                      </a:solidFill>
                      <a:prstDash val="solid"/>
                      <a:round/>
                      <a:headEnd type="none" w="med" len="med"/>
                      <a:tailEnd type="none" w="med" len="med"/>
                    </a:lnL>
                    <a:lnR w="12700" cap="flat" cmpd="sng" algn="ctr">
                      <a:solidFill>
                        <a:srgbClr val="E3E6EA"/>
                      </a:solidFill>
                      <a:prstDash val="solid"/>
                      <a:round/>
                      <a:headEnd type="none" w="med" len="med"/>
                      <a:tailEnd type="none" w="med" len="med"/>
                    </a:lnR>
                    <a:lnT w="12700" cap="flat" cmpd="sng" algn="ctr">
                      <a:solidFill>
                        <a:srgbClr val="E3E6EA"/>
                      </a:solidFill>
                      <a:prstDash val="solid"/>
                      <a:round/>
                      <a:headEnd type="none" w="med" len="med"/>
                      <a:tailEnd type="none" w="med" len="med"/>
                    </a:lnT>
                    <a:lnB w="12700" cap="flat" cmpd="sng" algn="ctr">
                      <a:solidFill>
                        <a:srgbClr val="E3E6EA"/>
                      </a:solidFill>
                      <a:prstDash val="solid"/>
                      <a:round/>
                      <a:headEnd type="none" w="med" len="med"/>
                      <a:tailEnd type="none" w="med" len="med"/>
                    </a:lnB>
                    <a:solidFill>
                      <a:srgbClr val="FFFFFF"/>
                    </a:solidFill>
                  </a:tcPr>
                </a:tc>
                <a:tc>
                  <a:txBody>
                    <a:bodyPr/>
                    <a:lstStyle/>
                    <a:p>
                      <a:pPr marL="0" indent="0">
                        <a:buNone/>
                      </a:pPr>
                      <a:r>
                        <a:rPr lang="en-US" sz="1200" dirty="0">
                          <a:solidFill>
                            <a:srgbClr val="3A4354"/>
                          </a:solidFill>
                          <a:latin typeface="Calibri" pitchFamily="34" charset="0"/>
                          <a:ea typeface="Calibri" pitchFamily="34" charset="-122"/>
                          <a:cs typeface="Calibri" pitchFamily="34" charset="-120"/>
                        </a:rPr>
                        <a:t>Yes, via m4 macros</a:t>
                      </a:r>
                      <a:endParaRPr lang="en-US" sz="1200" dirty="0">
                        <a:latin typeface="Calibri" charset="0"/>
                        <a:ea typeface="Calibri" charset="0"/>
                        <a:cs typeface="Calibri" charset="0"/>
                      </a:endParaRPr>
                    </a:p>
                  </a:txBody>
                  <a:tcPr marL="76200" marR="76200" marT="38100" marB="38100" anchor="ctr">
                    <a:lnL w="12700" cap="flat" cmpd="sng" algn="ctr">
                      <a:solidFill>
                        <a:srgbClr val="E3E6EA"/>
                      </a:solidFill>
                      <a:prstDash val="solid"/>
                      <a:round/>
                      <a:headEnd type="none" w="med" len="med"/>
                      <a:tailEnd type="none" w="med" len="med"/>
                    </a:lnL>
                    <a:lnR w="12700" cap="flat" cmpd="sng" algn="ctr">
                      <a:solidFill>
                        <a:srgbClr val="E3E6EA"/>
                      </a:solidFill>
                      <a:prstDash val="solid"/>
                      <a:round/>
                      <a:headEnd type="none" w="med" len="med"/>
                      <a:tailEnd type="none" w="med" len="med"/>
                    </a:lnR>
                    <a:lnT w="12700" cap="flat" cmpd="sng" algn="ctr">
                      <a:solidFill>
                        <a:srgbClr val="E3E6EA"/>
                      </a:solidFill>
                      <a:prstDash val="solid"/>
                      <a:round/>
                      <a:headEnd type="none" w="med" len="med"/>
                      <a:tailEnd type="none" w="med" len="med"/>
                    </a:lnT>
                    <a:lnB w="12700" cap="flat" cmpd="sng" algn="ctr">
                      <a:solidFill>
                        <a:srgbClr val="E3E6EA"/>
                      </a:solidFill>
                      <a:prstDash val="solid"/>
                      <a:round/>
                      <a:headEnd type="none" w="med" len="med"/>
                      <a:tailEnd type="none" w="med" len="med"/>
                    </a:lnB>
                    <a:solidFill>
                      <a:srgbClr val="FFFFFF"/>
                    </a:solidFill>
                  </a:tcPr>
                </a:tc>
                <a:tc>
                  <a:txBody>
                    <a:bodyPr/>
                    <a:lstStyle/>
                    <a:p>
                      <a:pPr marL="0" indent="0">
                        <a:buNone/>
                      </a:pPr>
                      <a:r>
                        <a:rPr lang="en-US" sz="1200" dirty="0">
                          <a:solidFill>
                            <a:srgbClr val="3A4354"/>
                          </a:solidFill>
                          <a:latin typeface="Calibri" pitchFamily="34" charset="0"/>
                          <a:ea typeface="Calibri" pitchFamily="34" charset="-122"/>
                          <a:cs typeface="Calibri" pitchFamily="34" charset="-120"/>
                        </a:rPr>
                        <a:t>Built in, compiler IDs</a:t>
                      </a:r>
                      <a:endParaRPr lang="en-US" sz="1200" dirty="0">
                        <a:latin typeface="Calibri" charset="0"/>
                        <a:ea typeface="Calibri" charset="0"/>
                        <a:cs typeface="Calibri" charset="0"/>
                      </a:endParaRPr>
                    </a:p>
                  </a:txBody>
                  <a:tcPr marL="76200" marR="76200" marT="38100" marB="38100" anchor="ctr">
                    <a:lnL w="12700" cap="flat" cmpd="sng" algn="ctr">
                      <a:solidFill>
                        <a:srgbClr val="E3E6EA"/>
                      </a:solidFill>
                      <a:prstDash val="solid"/>
                      <a:round/>
                      <a:headEnd type="none" w="med" len="med"/>
                      <a:tailEnd type="none" w="med" len="med"/>
                    </a:lnL>
                    <a:lnR w="12700" cap="flat" cmpd="sng" algn="ctr">
                      <a:solidFill>
                        <a:srgbClr val="E3E6EA"/>
                      </a:solidFill>
                      <a:prstDash val="solid"/>
                      <a:round/>
                      <a:headEnd type="none" w="med" len="med"/>
                      <a:tailEnd type="none" w="med" len="med"/>
                    </a:lnR>
                    <a:lnT w="12700" cap="flat" cmpd="sng" algn="ctr">
                      <a:solidFill>
                        <a:srgbClr val="E3E6EA"/>
                      </a:solidFill>
                      <a:prstDash val="solid"/>
                      <a:round/>
                      <a:headEnd type="none" w="med" len="med"/>
                      <a:tailEnd type="none" w="med" len="med"/>
                    </a:lnT>
                    <a:lnB w="12700" cap="flat" cmpd="sng" algn="ctr">
                      <a:solidFill>
                        <a:srgbClr val="E3E6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buNone/>
                      </a:pPr>
                      <a:r>
                        <a:rPr lang="en-US" sz="1200" dirty="0">
                          <a:solidFill>
                            <a:srgbClr val="3A4354"/>
                          </a:solidFill>
                          <a:latin typeface="Calibri" pitchFamily="34" charset="0"/>
                          <a:ea typeface="Calibri" pitchFamily="34" charset="-122"/>
                          <a:cs typeface="Calibri" pitchFamily="34" charset="-120"/>
                        </a:rPr>
                        <a:t>Debug / optimized builds</a:t>
                      </a:r>
                      <a:endParaRPr lang="en-US" sz="1200" dirty="0">
                        <a:latin typeface="Calibri" charset="0"/>
                        <a:ea typeface="Calibri" charset="0"/>
                        <a:cs typeface="Calibri" charset="0"/>
                      </a:endParaRPr>
                    </a:p>
                  </a:txBody>
                  <a:tcPr marL="76200" marR="76200" marT="38100" marB="38100" anchor="ctr">
                    <a:lnL w="12700" cap="flat" cmpd="sng" algn="ctr">
                      <a:solidFill>
                        <a:srgbClr val="E3E6EA"/>
                      </a:solidFill>
                      <a:prstDash val="solid"/>
                      <a:round/>
                      <a:headEnd type="none" w="med" len="med"/>
                      <a:tailEnd type="none" w="med" len="med"/>
                    </a:lnL>
                    <a:lnR w="12700" cap="flat" cmpd="sng" algn="ctr">
                      <a:solidFill>
                        <a:srgbClr val="E3E6EA"/>
                      </a:solidFill>
                      <a:prstDash val="solid"/>
                      <a:round/>
                      <a:headEnd type="none" w="med" len="med"/>
                      <a:tailEnd type="none" w="med" len="med"/>
                    </a:lnR>
                    <a:lnT w="12700" cap="flat" cmpd="sng" algn="ctr">
                      <a:solidFill>
                        <a:srgbClr val="E3E6EA"/>
                      </a:solidFill>
                      <a:prstDash val="solid"/>
                      <a:round/>
                      <a:headEnd type="none" w="med" len="med"/>
                      <a:tailEnd type="none" w="med" len="med"/>
                    </a:lnT>
                    <a:lnB w="12700" cap="flat" cmpd="sng" algn="ctr">
                      <a:solidFill>
                        <a:srgbClr val="E3E6EA"/>
                      </a:solidFill>
                      <a:prstDash val="solid"/>
                      <a:round/>
                      <a:headEnd type="none" w="med" len="med"/>
                      <a:tailEnd type="none" w="med" len="med"/>
                    </a:lnB>
                    <a:solidFill>
                      <a:srgbClr val="FFFFFF"/>
                    </a:solidFill>
                  </a:tcPr>
                </a:tc>
                <a:tc>
                  <a:txBody>
                    <a:bodyPr/>
                    <a:lstStyle/>
                    <a:p>
                      <a:pPr marL="0" indent="0">
                        <a:buNone/>
                      </a:pPr>
                      <a:r>
                        <a:rPr lang="en-US" sz="1200" dirty="0">
                          <a:solidFill>
                            <a:srgbClr val="3A4354"/>
                          </a:solidFill>
                          <a:latin typeface="Calibri" pitchFamily="34" charset="0"/>
                          <a:ea typeface="Calibri" pitchFamily="34" charset="-122"/>
                          <a:cs typeface="Calibri" pitchFamily="34" charset="-120"/>
                        </a:rPr>
                        <a:t>Edit the file</a:t>
                      </a:r>
                      <a:endParaRPr lang="en-US" sz="1200" dirty="0">
                        <a:latin typeface="Calibri" charset="0"/>
                        <a:ea typeface="Calibri" charset="0"/>
                        <a:cs typeface="Calibri" charset="0"/>
                      </a:endParaRPr>
                    </a:p>
                  </a:txBody>
                  <a:tcPr marL="76200" marR="76200" marT="38100" marB="38100" anchor="ctr">
                    <a:lnL w="12700" cap="flat" cmpd="sng" algn="ctr">
                      <a:solidFill>
                        <a:srgbClr val="E3E6EA"/>
                      </a:solidFill>
                      <a:prstDash val="solid"/>
                      <a:round/>
                      <a:headEnd type="none" w="med" len="med"/>
                      <a:tailEnd type="none" w="med" len="med"/>
                    </a:lnL>
                    <a:lnR w="12700" cap="flat" cmpd="sng" algn="ctr">
                      <a:solidFill>
                        <a:srgbClr val="E3E6EA"/>
                      </a:solidFill>
                      <a:prstDash val="solid"/>
                      <a:round/>
                      <a:headEnd type="none" w="med" len="med"/>
                      <a:tailEnd type="none" w="med" len="med"/>
                    </a:lnR>
                    <a:lnT w="12700" cap="flat" cmpd="sng" algn="ctr">
                      <a:solidFill>
                        <a:srgbClr val="E3E6EA"/>
                      </a:solidFill>
                      <a:prstDash val="solid"/>
                      <a:round/>
                      <a:headEnd type="none" w="med" len="med"/>
                      <a:tailEnd type="none" w="med" len="med"/>
                    </a:lnT>
                    <a:lnB w="12700" cap="flat" cmpd="sng" algn="ctr">
                      <a:solidFill>
                        <a:srgbClr val="E3E6EA"/>
                      </a:solidFill>
                      <a:prstDash val="solid"/>
                      <a:round/>
                      <a:headEnd type="none" w="med" len="med"/>
                      <a:tailEnd type="none" w="med" len="med"/>
                    </a:lnB>
                    <a:solidFill>
                      <a:srgbClr val="FFFFFF"/>
                    </a:solidFill>
                  </a:tcPr>
                </a:tc>
                <a:tc>
                  <a:txBody>
                    <a:bodyPr/>
                    <a:lstStyle/>
                    <a:p>
                      <a:pPr marL="0" indent="0">
                        <a:buNone/>
                      </a:pPr>
                      <a:r>
                        <a:rPr lang="en-US" sz="1200" dirty="0">
                          <a:solidFill>
                            <a:srgbClr val="3A4354"/>
                          </a:solidFill>
                          <a:latin typeface="Calibri" pitchFamily="34" charset="0"/>
                          <a:ea typeface="Calibri" pitchFamily="34" charset="-122"/>
                          <a:cs typeface="Calibri" pitchFamily="34" charset="-120"/>
                        </a:rPr>
                        <a:t>Re-run configure</a:t>
                      </a:r>
                      <a:endParaRPr lang="en-US" sz="1200" dirty="0">
                        <a:latin typeface="Calibri" charset="0"/>
                        <a:ea typeface="Calibri" charset="0"/>
                        <a:cs typeface="Calibri" charset="0"/>
                      </a:endParaRPr>
                    </a:p>
                  </a:txBody>
                  <a:tcPr marL="76200" marR="76200" marT="38100" marB="38100" anchor="ctr">
                    <a:lnL w="12700" cap="flat" cmpd="sng" algn="ctr">
                      <a:solidFill>
                        <a:srgbClr val="E3E6EA"/>
                      </a:solidFill>
                      <a:prstDash val="solid"/>
                      <a:round/>
                      <a:headEnd type="none" w="med" len="med"/>
                      <a:tailEnd type="none" w="med" len="med"/>
                    </a:lnL>
                    <a:lnR w="12700" cap="flat" cmpd="sng" algn="ctr">
                      <a:solidFill>
                        <a:srgbClr val="E3E6EA"/>
                      </a:solidFill>
                      <a:prstDash val="solid"/>
                      <a:round/>
                      <a:headEnd type="none" w="med" len="med"/>
                      <a:tailEnd type="none" w="med" len="med"/>
                    </a:lnR>
                    <a:lnT w="12700" cap="flat" cmpd="sng" algn="ctr">
                      <a:solidFill>
                        <a:srgbClr val="E3E6EA"/>
                      </a:solidFill>
                      <a:prstDash val="solid"/>
                      <a:round/>
                      <a:headEnd type="none" w="med" len="med"/>
                      <a:tailEnd type="none" w="med" len="med"/>
                    </a:lnT>
                    <a:lnB w="12700" cap="flat" cmpd="sng" algn="ctr">
                      <a:solidFill>
                        <a:srgbClr val="E3E6EA"/>
                      </a:solidFill>
                      <a:prstDash val="solid"/>
                      <a:round/>
                      <a:headEnd type="none" w="med" len="med"/>
                      <a:tailEnd type="none" w="med" len="med"/>
                    </a:lnB>
                    <a:solidFill>
                      <a:srgbClr val="FFFFFF"/>
                    </a:solidFill>
                  </a:tcPr>
                </a:tc>
                <a:tc>
                  <a:txBody>
                    <a:bodyPr/>
                    <a:lstStyle/>
                    <a:p>
                      <a:pPr marL="0" indent="0">
                        <a:buNone/>
                      </a:pPr>
                      <a:r>
                        <a:rPr lang="en-US" sz="1200" dirty="0">
                          <a:solidFill>
                            <a:srgbClr val="3A4354"/>
                          </a:solidFill>
                          <a:latin typeface="Calibri" pitchFamily="34" charset="0"/>
                          <a:ea typeface="Calibri" pitchFamily="34" charset="-122"/>
                          <a:cs typeface="Calibri" pitchFamily="34" charset="-120"/>
                        </a:rPr>
                        <a:t>-DCMAKE_BUILD_TYPE</a:t>
                      </a:r>
                      <a:endParaRPr lang="en-US" sz="1200" dirty="0">
                        <a:latin typeface="Calibri" charset="0"/>
                        <a:ea typeface="Calibri" charset="0"/>
                        <a:cs typeface="Calibri" charset="0"/>
                      </a:endParaRPr>
                    </a:p>
                  </a:txBody>
                  <a:tcPr marL="76200" marR="76200" marT="38100" marB="38100" anchor="ctr">
                    <a:lnL w="12700" cap="flat" cmpd="sng" algn="ctr">
                      <a:solidFill>
                        <a:srgbClr val="E3E6EA"/>
                      </a:solidFill>
                      <a:prstDash val="solid"/>
                      <a:round/>
                      <a:headEnd type="none" w="med" len="med"/>
                      <a:tailEnd type="none" w="med" len="med"/>
                    </a:lnL>
                    <a:lnR w="12700" cap="flat" cmpd="sng" algn="ctr">
                      <a:solidFill>
                        <a:srgbClr val="E3E6EA"/>
                      </a:solidFill>
                      <a:prstDash val="solid"/>
                      <a:round/>
                      <a:headEnd type="none" w="med" len="med"/>
                      <a:tailEnd type="none" w="med" len="med"/>
                    </a:lnR>
                    <a:lnT w="12700" cap="flat" cmpd="sng" algn="ctr">
                      <a:solidFill>
                        <a:srgbClr val="E3E6EA"/>
                      </a:solidFill>
                      <a:prstDash val="solid"/>
                      <a:round/>
                      <a:headEnd type="none" w="med" len="med"/>
                      <a:tailEnd type="none" w="med" len="med"/>
                    </a:lnT>
                    <a:lnB w="12700" cap="flat" cmpd="sng" algn="ctr">
                      <a:solidFill>
                        <a:srgbClr val="E3E6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buNone/>
                      </a:pPr>
                      <a:r>
                        <a:rPr lang="en-US" sz="1200" dirty="0">
                          <a:solidFill>
                            <a:srgbClr val="3A4354"/>
                          </a:solidFill>
                          <a:latin typeface="Calibri" pitchFamily="34" charset="0"/>
                          <a:ea typeface="Calibri" pitchFamily="34" charset="-122"/>
                          <a:cs typeface="Calibri" pitchFamily="34" charset="-120"/>
                        </a:rPr>
                        <a:t>Finding dependencies</a:t>
                      </a:r>
                      <a:endParaRPr lang="en-US" sz="1200" dirty="0">
                        <a:latin typeface="Calibri" charset="0"/>
                        <a:ea typeface="Calibri" charset="0"/>
                        <a:cs typeface="Calibri" charset="0"/>
                      </a:endParaRPr>
                    </a:p>
                  </a:txBody>
                  <a:tcPr marL="76200" marR="76200" marT="38100" marB="38100" anchor="ctr">
                    <a:lnL w="12700" cap="flat" cmpd="sng" algn="ctr">
                      <a:solidFill>
                        <a:srgbClr val="E3E6EA"/>
                      </a:solidFill>
                      <a:prstDash val="solid"/>
                      <a:round/>
                      <a:headEnd type="none" w="med" len="med"/>
                      <a:tailEnd type="none" w="med" len="med"/>
                    </a:lnL>
                    <a:lnR w="12700" cap="flat" cmpd="sng" algn="ctr">
                      <a:solidFill>
                        <a:srgbClr val="E3E6EA"/>
                      </a:solidFill>
                      <a:prstDash val="solid"/>
                      <a:round/>
                      <a:headEnd type="none" w="med" len="med"/>
                      <a:tailEnd type="none" w="med" len="med"/>
                    </a:lnR>
                    <a:lnT w="12700" cap="flat" cmpd="sng" algn="ctr">
                      <a:solidFill>
                        <a:srgbClr val="E3E6EA"/>
                      </a:solidFill>
                      <a:prstDash val="solid"/>
                      <a:round/>
                      <a:headEnd type="none" w="med" len="med"/>
                      <a:tailEnd type="none" w="med" len="med"/>
                    </a:lnT>
                    <a:lnB w="12700" cap="flat" cmpd="sng" algn="ctr">
                      <a:solidFill>
                        <a:srgbClr val="E3E6EA"/>
                      </a:solidFill>
                      <a:prstDash val="solid"/>
                      <a:round/>
                      <a:headEnd type="none" w="med" len="med"/>
                      <a:tailEnd type="none" w="med" len="med"/>
                    </a:lnB>
                    <a:solidFill>
                      <a:srgbClr val="FFFFFF"/>
                    </a:solidFill>
                  </a:tcPr>
                </a:tc>
                <a:tc>
                  <a:txBody>
                    <a:bodyPr/>
                    <a:lstStyle/>
                    <a:p>
                      <a:pPr marL="0" indent="0">
                        <a:buNone/>
                      </a:pPr>
                      <a:r>
                        <a:rPr lang="en-US" sz="1200" dirty="0">
                          <a:solidFill>
                            <a:srgbClr val="3A4354"/>
                          </a:solidFill>
                          <a:latin typeface="Calibri" pitchFamily="34" charset="0"/>
                          <a:ea typeface="Calibri" pitchFamily="34" charset="-122"/>
                          <a:cs typeface="Calibri" pitchFamily="34" charset="-120"/>
                        </a:rPr>
                        <a:t>Hard-coded paths</a:t>
                      </a:r>
                      <a:endParaRPr lang="en-US" sz="1200" dirty="0">
                        <a:latin typeface="Calibri" charset="0"/>
                        <a:ea typeface="Calibri" charset="0"/>
                        <a:cs typeface="Calibri" charset="0"/>
                      </a:endParaRPr>
                    </a:p>
                  </a:txBody>
                  <a:tcPr marL="76200" marR="76200" marT="38100" marB="38100" anchor="ctr">
                    <a:lnL w="12700" cap="flat" cmpd="sng" algn="ctr">
                      <a:solidFill>
                        <a:srgbClr val="E3E6EA"/>
                      </a:solidFill>
                      <a:prstDash val="solid"/>
                      <a:round/>
                      <a:headEnd type="none" w="med" len="med"/>
                      <a:tailEnd type="none" w="med" len="med"/>
                    </a:lnL>
                    <a:lnR w="12700" cap="flat" cmpd="sng" algn="ctr">
                      <a:solidFill>
                        <a:srgbClr val="E3E6EA"/>
                      </a:solidFill>
                      <a:prstDash val="solid"/>
                      <a:round/>
                      <a:headEnd type="none" w="med" len="med"/>
                      <a:tailEnd type="none" w="med" len="med"/>
                    </a:lnR>
                    <a:lnT w="12700" cap="flat" cmpd="sng" algn="ctr">
                      <a:solidFill>
                        <a:srgbClr val="E3E6EA"/>
                      </a:solidFill>
                      <a:prstDash val="solid"/>
                      <a:round/>
                      <a:headEnd type="none" w="med" len="med"/>
                      <a:tailEnd type="none" w="med" len="med"/>
                    </a:lnT>
                    <a:lnB w="12700" cap="flat" cmpd="sng" algn="ctr">
                      <a:solidFill>
                        <a:srgbClr val="E3E6EA"/>
                      </a:solidFill>
                      <a:prstDash val="solid"/>
                      <a:round/>
                      <a:headEnd type="none" w="med" len="med"/>
                      <a:tailEnd type="none" w="med" len="med"/>
                    </a:lnB>
                    <a:solidFill>
                      <a:srgbClr val="FFFFFF"/>
                    </a:solidFill>
                  </a:tcPr>
                </a:tc>
                <a:tc>
                  <a:txBody>
                    <a:bodyPr/>
                    <a:lstStyle/>
                    <a:p>
                      <a:pPr marL="0" indent="0">
                        <a:buNone/>
                      </a:pPr>
                      <a:r>
                        <a:rPr lang="en-US" sz="1200" dirty="0">
                          <a:solidFill>
                            <a:srgbClr val="3A4354"/>
                          </a:solidFill>
                          <a:latin typeface="Calibri" pitchFamily="34" charset="0"/>
                          <a:ea typeface="Calibri" pitchFamily="34" charset="-122"/>
                          <a:cs typeface="Calibri" pitchFamily="34" charset="-120"/>
                        </a:rPr>
                        <a:t>Strong - its core purpose</a:t>
                      </a:r>
                      <a:endParaRPr lang="en-US" sz="1200" dirty="0">
                        <a:latin typeface="Calibri" charset="0"/>
                        <a:ea typeface="Calibri" charset="0"/>
                        <a:cs typeface="Calibri" charset="0"/>
                      </a:endParaRPr>
                    </a:p>
                  </a:txBody>
                  <a:tcPr marL="76200" marR="76200" marT="38100" marB="38100" anchor="ctr">
                    <a:lnL w="12700" cap="flat" cmpd="sng" algn="ctr">
                      <a:solidFill>
                        <a:srgbClr val="E3E6EA"/>
                      </a:solidFill>
                      <a:prstDash val="solid"/>
                      <a:round/>
                      <a:headEnd type="none" w="med" len="med"/>
                      <a:tailEnd type="none" w="med" len="med"/>
                    </a:lnL>
                    <a:lnR w="12700" cap="flat" cmpd="sng" algn="ctr">
                      <a:solidFill>
                        <a:srgbClr val="E3E6EA"/>
                      </a:solidFill>
                      <a:prstDash val="solid"/>
                      <a:round/>
                      <a:headEnd type="none" w="med" len="med"/>
                      <a:tailEnd type="none" w="med" len="med"/>
                    </a:lnR>
                    <a:lnT w="12700" cap="flat" cmpd="sng" algn="ctr">
                      <a:solidFill>
                        <a:srgbClr val="E3E6EA"/>
                      </a:solidFill>
                      <a:prstDash val="solid"/>
                      <a:round/>
                      <a:headEnd type="none" w="med" len="med"/>
                      <a:tailEnd type="none" w="med" len="med"/>
                    </a:lnT>
                    <a:lnB w="12700" cap="flat" cmpd="sng" algn="ctr">
                      <a:solidFill>
                        <a:srgbClr val="E3E6EA"/>
                      </a:solidFill>
                      <a:prstDash val="solid"/>
                      <a:round/>
                      <a:headEnd type="none" w="med" len="med"/>
                      <a:tailEnd type="none" w="med" len="med"/>
                    </a:lnB>
                    <a:solidFill>
                      <a:srgbClr val="FFFFFF"/>
                    </a:solidFill>
                  </a:tcPr>
                </a:tc>
                <a:tc>
                  <a:txBody>
                    <a:bodyPr/>
                    <a:lstStyle/>
                    <a:p>
                      <a:pPr marL="0" indent="0">
                        <a:buNone/>
                      </a:pPr>
                      <a:r>
                        <a:rPr lang="en-US" sz="1200" dirty="0">
                          <a:solidFill>
                            <a:srgbClr val="3A4354"/>
                          </a:solidFill>
                          <a:latin typeface="Calibri" pitchFamily="34" charset="0"/>
                          <a:ea typeface="Calibri" pitchFamily="34" charset="-122"/>
                          <a:cs typeface="Calibri" pitchFamily="34" charset="-120"/>
                        </a:rPr>
                        <a:t>find_package, imported targets</a:t>
                      </a:r>
                      <a:endParaRPr lang="en-US" sz="1200" dirty="0">
                        <a:latin typeface="Calibri" charset="0"/>
                        <a:ea typeface="Calibri" charset="0"/>
                        <a:cs typeface="Calibri" charset="0"/>
                      </a:endParaRPr>
                    </a:p>
                  </a:txBody>
                  <a:tcPr marL="76200" marR="76200" marT="38100" marB="38100" anchor="ctr">
                    <a:lnL w="12700" cap="flat" cmpd="sng" algn="ctr">
                      <a:solidFill>
                        <a:srgbClr val="E3E6EA"/>
                      </a:solidFill>
                      <a:prstDash val="solid"/>
                      <a:round/>
                      <a:headEnd type="none" w="med" len="med"/>
                      <a:tailEnd type="none" w="med" len="med"/>
                    </a:lnL>
                    <a:lnR w="12700" cap="flat" cmpd="sng" algn="ctr">
                      <a:solidFill>
                        <a:srgbClr val="E3E6EA"/>
                      </a:solidFill>
                      <a:prstDash val="solid"/>
                      <a:round/>
                      <a:headEnd type="none" w="med" len="med"/>
                      <a:tailEnd type="none" w="med" len="med"/>
                    </a:lnR>
                    <a:lnT w="12700" cap="flat" cmpd="sng" algn="ctr">
                      <a:solidFill>
                        <a:srgbClr val="E3E6EA"/>
                      </a:solidFill>
                      <a:prstDash val="solid"/>
                      <a:round/>
                      <a:headEnd type="none" w="med" len="med"/>
                      <a:tailEnd type="none" w="med" len="med"/>
                    </a:lnT>
                    <a:lnB w="12700" cap="flat" cmpd="sng" algn="ctr">
                      <a:solidFill>
                        <a:srgbClr val="E3E6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02336">
                <a:tc>
                  <a:txBody>
                    <a:bodyPr/>
                    <a:lstStyle/>
                    <a:p>
                      <a:pPr marL="0" indent="0">
                        <a:buNone/>
                      </a:pPr>
                      <a:r>
                        <a:rPr lang="en-US" sz="1200" dirty="0">
                          <a:solidFill>
                            <a:srgbClr val="3A4354"/>
                          </a:solidFill>
                          <a:latin typeface="Calibri" pitchFamily="34" charset="0"/>
                          <a:ea typeface="Calibri" pitchFamily="34" charset="-122"/>
                          <a:cs typeface="Calibri" pitchFamily="34" charset="-120"/>
                        </a:rPr>
                        <a:t>Out-of-source builds</a:t>
                      </a:r>
                      <a:endParaRPr lang="en-US" sz="1200" dirty="0">
                        <a:latin typeface="Calibri" charset="0"/>
                        <a:ea typeface="Calibri" charset="0"/>
                        <a:cs typeface="Calibri" charset="0"/>
                      </a:endParaRPr>
                    </a:p>
                  </a:txBody>
                  <a:tcPr marL="76200" marR="76200" marT="38100" marB="38100" anchor="ctr">
                    <a:lnL w="12700" cap="flat" cmpd="sng" algn="ctr">
                      <a:solidFill>
                        <a:srgbClr val="E3E6EA"/>
                      </a:solidFill>
                      <a:prstDash val="solid"/>
                      <a:round/>
                      <a:headEnd type="none" w="med" len="med"/>
                      <a:tailEnd type="none" w="med" len="med"/>
                    </a:lnL>
                    <a:lnR w="12700" cap="flat" cmpd="sng" algn="ctr">
                      <a:solidFill>
                        <a:srgbClr val="E3E6EA"/>
                      </a:solidFill>
                      <a:prstDash val="solid"/>
                      <a:round/>
                      <a:headEnd type="none" w="med" len="med"/>
                      <a:tailEnd type="none" w="med" len="med"/>
                    </a:lnR>
                    <a:lnT w="12700" cap="flat" cmpd="sng" algn="ctr">
                      <a:solidFill>
                        <a:srgbClr val="E3E6EA"/>
                      </a:solidFill>
                      <a:prstDash val="solid"/>
                      <a:round/>
                      <a:headEnd type="none" w="med" len="med"/>
                      <a:tailEnd type="none" w="med" len="med"/>
                    </a:lnT>
                    <a:lnB w="12700" cap="flat" cmpd="sng" algn="ctr">
                      <a:solidFill>
                        <a:srgbClr val="E3E6EA"/>
                      </a:solidFill>
                      <a:prstDash val="solid"/>
                      <a:round/>
                      <a:headEnd type="none" w="med" len="med"/>
                      <a:tailEnd type="none" w="med" len="med"/>
                    </a:lnB>
                    <a:solidFill>
                      <a:srgbClr val="FFFFFF"/>
                    </a:solidFill>
                  </a:tcPr>
                </a:tc>
                <a:tc>
                  <a:txBody>
                    <a:bodyPr/>
                    <a:lstStyle/>
                    <a:p>
                      <a:pPr marL="0" indent="0">
                        <a:buNone/>
                      </a:pPr>
                      <a:r>
                        <a:rPr lang="en-US" sz="1200" dirty="0">
                          <a:solidFill>
                            <a:srgbClr val="3A4354"/>
                          </a:solidFill>
                          <a:latin typeface="Calibri" pitchFamily="34" charset="0"/>
                          <a:ea typeface="Calibri" pitchFamily="34" charset="-122"/>
                          <a:cs typeface="Calibri" pitchFamily="34" charset="-120"/>
                        </a:rPr>
                        <a:t>Rare, hand-rolled</a:t>
                      </a:r>
                      <a:endParaRPr lang="en-US" sz="1200" dirty="0">
                        <a:latin typeface="Calibri" charset="0"/>
                        <a:ea typeface="Calibri" charset="0"/>
                        <a:cs typeface="Calibri" charset="0"/>
                      </a:endParaRPr>
                    </a:p>
                  </a:txBody>
                  <a:tcPr marL="76200" marR="76200" marT="38100" marB="38100" anchor="ctr">
                    <a:lnL w="12700" cap="flat" cmpd="sng" algn="ctr">
                      <a:solidFill>
                        <a:srgbClr val="E3E6EA"/>
                      </a:solidFill>
                      <a:prstDash val="solid"/>
                      <a:round/>
                      <a:headEnd type="none" w="med" len="med"/>
                      <a:tailEnd type="none" w="med" len="med"/>
                    </a:lnL>
                    <a:lnR w="12700" cap="flat" cmpd="sng" algn="ctr">
                      <a:solidFill>
                        <a:srgbClr val="E3E6EA"/>
                      </a:solidFill>
                      <a:prstDash val="solid"/>
                      <a:round/>
                      <a:headEnd type="none" w="med" len="med"/>
                      <a:tailEnd type="none" w="med" len="med"/>
                    </a:lnR>
                    <a:lnT w="12700" cap="flat" cmpd="sng" algn="ctr">
                      <a:solidFill>
                        <a:srgbClr val="E3E6EA"/>
                      </a:solidFill>
                      <a:prstDash val="solid"/>
                      <a:round/>
                      <a:headEnd type="none" w="med" len="med"/>
                      <a:tailEnd type="none" w="med" len="med"/>
                    </a:lnT>
                    <a:lnB w="12700" cap="flat" cmpd="sng" algn="ctr">
                      <a:solidFill>
                        <a:srgbClr val="E3E6EA"/>
                      </a:solidFill>
                      <a:prstDash val="solid"/>
                      <a:round/>
                      <a:headEnd type="none" w="med" len="med"/>
                      <a:tailEnd type="none" w="med" len="med"/>
                    </a:lnB>
                    <a:solidFill>
                      <a:srgbClr val="FFFFFF"/>
                    </a:solidFill>
                  </a:tcPr>
                </a:tc>
                <a:tc>
                  <a:txBody>
                    <a:bodyPr/>
                    <a:lstStyle/>
                    <a:p>
                      <a:pPr marL="0" indent="0">
                        <a:buNone/>
                      </a:pPr>
                      <a:r>
                        <a:rPr lang="en-US" sz="1200" dirty="0">
                          <a:solidFill>
                            <a:srgbClr val="3A4354"/>
                          </a:solidFill>
                          <a:latin typeface="Calibri" pitchFamily="34" charset="0"/>
                          <a:ea typeface="Calibri" pitchFamily="34" charset="-122"/>
                          <a:cs typeface="Calibri" pitchFamily="34" charset="-120"/>
                        </a:rPr>
                        <a:t>Supported</a:t>
                      </a:r>
                      <a:endParaRPr lang="en-US" sz="1200" dirty="0">
                        <a:latin typeface="Calibri" charset="0"/>
                        <a:ea typeface="Calibri" charset="0"/>
                        <a:cs typeface="Calibri" charset="0"/>
                      </a:endParaRPr>
                    </a:p>
                  </a:txBody>
                  <a:tcPr marL="76200" marR="76200" marT="38100" marB="38100" anchor="ctr">
                    <a:lnL w="12700" cap="flat" cmpd="sng" algn="ctr">
                      <a:solidFill>
                        <a:srgbClr val="E3E6EA"/>
                      </a:solidFill>
                      <a:prstDash val="solid"/>
                      <a:round/>
                      <a:headEnd type="none" w="med" len="med"/>
                      <a:tailEnd type="none" w="med" len="med"/>
                    </a:lnL>
                    <a:lnR w="12700" cap="flat" cmpd="sng" algn="ctr">
                      <a:solidFill>
                        <a:srgbClr val="E3E6EA"/>
                      </a:solidFill>
                      <a:prstDash val="solid"/>
                      <a:round/>
                      <a:headEnd type="none" w="med" len="med"/>
                      <a:tailEnd type="none" w="med" len="med"/>
                    </a:lnR>
                    <a:lnT w="12700" cap="flat" cmpd="sng" algn="ctr">
                      <a:solidFill>
                        <a:srgbClr val="E3E6EA"/>
                      </a:solidFill>
                      <a:prstDash val="solid"/>
                      <a:round/>
                      <a:headEnd type="none" w="med" len="med"/>
                      <a:tailEnd type="none" w="med" len="med"/>
                    </a:lnT>
                    <a:lnB w="12700" cap="flat" cmpd="sng" algn="ctr">
                      <a:solidFill>
                        <a:srgbClr val="E3E6EA"/>
                      </a:solidFill>
                      <a:prstDash val="solid"/>
                      <a:round/>
                      <a:headEnd type="none" w="med" len="med"/>
                      <a:tailEnd type="none" w="med" len="med"/>
                    </a:lnB>
                    <a:solidFill>
                      <a:srgbClr val="FFFFFF"/>
                    </a:solidFill>
                  </a:tcPr>
                </a:tc>
                <a:tc>
                  <a:txBody>
                    <a:bodyPr/>
                    <a:lstStyle/>
                    <a:p>
                      <a:pPr marL="0" indent="0">
                        <a:buNone/>
                      </a:pPr>
                      <a:r>
                        <a:rPr lang="en-US" sz="1200" dirty="0">
                          <a:solidFill>
                            <a:srgbClr val="3A4354"/>
                          </a:solidFill>
                          <a:latin typeface="Calibri" pitchFamily="34" charset="0"/>
                          <a:ea typeface="Calibri" pitchFamily="34" charset="-122"/>
                          <a:cs typeface="Calibri" pitchFamily="34" charset="-120"/>
                        </a:rPr>
                        <a:t>The default and enforced</a:t>
                      </a:r>
                      <a:endParaRPr lang="en-US" sz="1200" dirty="0">
                        <a:latin typeface="Calibri" charset="0"/>
                        <a:ea typeface="Calibri" charset="0"/>
                        <a:cs typeface="Calibri" charset="0"/>
                      </a:endParaRPr>
                    </a:p>
                  </a:txBody>
                  <a:tcPr marL="76200" marR="76200" marT="38100" marB="38100" anchor="ctr">
                    <a:lnL w="12700" cap="flat" cmpd="sng" algn="ctr">
                      <a:solidFill>
                        <a:srgbClr val="E3E6EA"/>
                      </a:solidFill>
                      <a:prstDash val="solid"/>
                      <a:round/>
                      <a:headEnd type="none" w="med" len="med"/>
                      <a:tailEnd type="none" w="med" len="med"/>
                    </a:lnL>
                    <a:lnR w="12700" cap="flat" cmpd="sng" algn="ctr">
                      <a:solidFill>
                        <a:srgbClr val="E3E6EA"/>
                      </a:solidFill>
                      <a:prstDash val="solid"/>
                      <a:round/>
                      <a:headEnd type="none" w="med" len="med"/>
                      <a:tailEnd type="none" w="med" len="med"/>
                    </a:lnR>
                    <a:lnT w="12700" cap="flat" cmpd="sng" algn="ctr">
                      <a:solidFill>
                        <a:srgbClr val="E3E6EA"/>
                      </a:solidFill>
                      <a:prstDash val="solid"/>
                      <a:round/>
                      <a:headEnd type="none" w="med" len="med"/>
                      <a:tailEnd type="none" w="med" len="med"/>
                    </a:lnT>
                    <a:lnB w="12700" cap="flat" cmpd="sng" algn="ctr">
                      <a:solidFill>
                        <a:srgbClr val="E3E6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2336">
                <a:tc>
                  <a:txBody>
                    <a:bodyPr/>
                    <a:lstStyle/>
                    <a:p>
                      <a:pPr marL="0" indent="0">
                        <a:buNone/>
                      </a:pPr>
                      <a:r>
                        <a:rPr lang="en-US" sz="1200" dirty="0">
                          <a:solidFill>
                            <a:srgbClr val="3A4354"/>
                          </a:solidFill>
                          <a:latin typeface="Calibri" pitchFamily="34" charset="0"/>
                          <a:ea typeface="Calibri" pitchFamily="34" charset="-122"/>
                          <a:cs typeface="Calibri" pitchFamily="34" charset="-120"/>
                        </a:rPr>
                        <a:t>Test integration</a:t>
                      </a:r>
                      <a:endParaRPr lang="en-US" sz="1200" dirty="0">
                        <a:latin typeface="Calibri" charset="0"/>
                        <a:ea typeface="Calibri" charset="0"/>
                        <a:cs typeface="Calibri" charset="0"/>
                      </a:endParaRPr>
                    </a:p>
                  </a:txBody>
                  <a:tcPr marL="76200" marR="76200" marT="38100" marB="38100" anchor="ctr">
                    <a:lnL w="12700" cap="flat" cmpd="sng" algn="ctr">
                      <a:solidFill>
                        <a:srgbClr val="E3E6EA"/>
                      </a:solidFill>
                      <a:prstDash val="solid"/>
                      <a:round/>
                      <a:headEnd type="none" w="med" len="med"/>
                      <a:tailEnd type="none" w="med" len="med"/>
                    </a:lnL>
                    <a:lnR w="12700" cap="flat" cmpd="sng" algn="ctr">
                      <a:solidFill>
                        <a:srgbClr val="E3E6EA"/>
                      </a:solidFill>
                      <a:prstDash val="solid"/>
                      <a:round/>
                      <a:headEnd type="none" w="med" len="med"/>
                      <a:tailEnd type="none" w="med" len="med"/>
                    </a:lnR>
                    <a:lnT w="12700" cap="flat" cmpd="sng" algn="ctr">
                      <a:solidFill>
                        <a:srgbClr val="E3E6EA"/>
                      </a:solidFill>
                      <a:prstDash val="solid"/>
                      <a:round/>
                      <a:headEnd type="none" w="med" len="med"/>
                      <a:tailEnd type="none" w="med" len="med"/>
                    </a:lnT>
                    <a:lnB w="12700" cap="flat" cmpd="sng" algn="ctr">
                      <a:solidFill>
                        <a:srgbClr val="E3E6EA"/>
                      </a:solidFill>
                      <a:prstDash val="solid"/>
                      <a:round/>
                      <a:headEnd type="none" w="med" len="med"/>
                      <a:tailEnd type="none" w="med" len="med"/>
                    </a:lnB>
                    <a:solidFill>
                      <a:srgbClr val="FFFFFF"/>
                    </a:solidFill>
                  </a:tcPr>
                </a:tc>
                <a:tc>
                  <a:txBody>
                    <a:bodyPr/>
                    <a:lstStyle/>
                    <a:p>
                      <a:pPr marL="0" indent="0">
                        <a:buNone/>
                      </a:pPr>
                      <a:r>
                        <a:rPr lang="en-US" sz="1200" dirty="0">
                          <a:solidFill>
                            <a:srgbClr val="3A4354"/>
                          </a:solidFill>
                          <a:latin typeface="Calibri" pitchFamily="34" charset="0"/>
                          <a:ea typeface="Calibri" pitchFamily="34" charset="-122"/>
                          <a:cs typeface="Calibri" pitchFamily="34" charset="-120"/>
                        </a:rPr>
                        <a:t>Home-grown</a:t>
                      </a:r>
                      <a:endParaRPr lang="en-US" sz="1200" dirty="0">
                        <a:latin typeface="Calibri" charset="0"/>
                        <a:ea typeface="Calibri" charset="0"/>
                        <a:cs typeface="Calibri" charset="0"/>
                      </a:endParaRPr>
                    </a:p>
                  </a:txBody>
                  <a:tcPr marL="76200" marR="76200" marT="38100" marB="38100" anchor="ctr">
                    <a:lnL w="12700" cap="flat" cmpd="sng" algn="ctr">
                      <a:solidFill>
                        <a:srgbClr val="E3E6EA"/>
                      </a:solidFill>
                      <a:prstDash val="solid"/>
                      <a:round/>
                      <a:headEnd type="none" w="med" len="med"/>
                      <a:tailEnd type="none" w="med" len="med"/>
                    </a:lnL>
                    <a:lnR w="12700" cap="flat" cmpd="sng" algn="ctr">
                      <a:solidFill>
                        <a:srgbClr val="E3E6EA"/>
                      </a:solidFill>
                      <a:prstDash val="solid"/>
                      <a:round/>
                      <a:headEnd type="none" w="med" len="med"/>
                      <a:tailEnd type="none" w="med" len="med"/>
                    </a:lnR>
                    <a:lnT w="12700" cap="flat" cmpd="sng" algn="ctr">
                      <a:solidFill>
                        <a:srgbClr val="E3E6EA"/>
                      </a:solidFill>
                      <a:prstDash val="solid"/>
                      <a:round/>
                      <a:headEnd type="none" w="med" len="med"/>
                      <a:tailEnd type="none" w="med" len="med"/>
                    </a:lnT>
                    <a:lnB w="12700" cap="flat" cmpd="sng" algn="ctr">
                      <a:solidFill>
                        <a:srgbClr val="E3E6EA"/>
                      </a:solidFill>
                      <a:prstDash val="solid"/>
                      <a:round/>
                      <a:headEnd type="none" w="med" len="med"/>
                      <a:tailEnd type="none" w="med" len="med"/>
                    </a:lnB>
                    <a:solidFill>
                      <a:srgbClr val="FFFFFF"/>
                    </a:solidFill>
                  </a:tcPr>
                </a:tc>
                <a:tc>
                  <a:txBody>
                    <a:bodyPr/>
                    <a:lstStyle/>
                    <a:p>
                      <a:pPr marL="0" indent="0">
                        <a:buNone/>
                      </a:pPr>
                      <a:r>
                        <a:rPr lang="en-US" sz="1200" dirty="0">
                          <a:solidFill>
                            <a:srgbClr val="3A4354"/>
                          </a:solidFill>
                          <a:latin typeface="Calibri" pitchFamily="34" charset="0"/>
                          <a:ea typeface="Calibri" pitchFamily="34" charset="-122"/>
                          <a:cs typeface="Calibri" pitchFamily="34" charset="-120"/>
                        </a:rPr>
                        <a:t>make check</a:t>
                      </a:r>
                      <a:endParaRPr lang="en-US" sz="1200" dirty="0">
                        <a:latin typeface="Calibri" charset="0"/>
                        <a:ea typeface="Calibri" charset="0"/>
                        <a:cs typeface="Calibri" charset="0"/>
                      </a:endParaRPr>
                    </a:p>
                  </a:txBody>
                  <a:tcPr marL="76200" marR="76200" marT="38100" marB="38100" anchor="ctr">
                    <a:lnL w="12700" cap="flat" cmpd="sng" algn="ctr">
                      <a:solidFill>
                        <a:srgbClr val="E3E6EA"/>
                      </a:solidFill>
                      <a:prstDash val="solid"/>
                      <a:round/>
                      <a:headEnd type="none" w="med" len="med"/>
                      <a:tailEnd type="none" w="med" len="med"/>
                    </a:lnL>
                    <a:lnR w="12700" cap="flat" cmpd="sng" algn="ctr">
                      <a:solidFill>
                        <a:srgbClr val="E3E6EA"/>
                      </a:solidFill>
                      <a:prstDash val="solid"/>
                      <a:round/>
                      <a:headEnd type="none" w="med" len="med"/>
                      <a:tailEnd type="none" w="med" len="med"/>
                    </a:lnR>
                    <a:lnT w="12700" cap="flat" cmpd="sng" algn="ctr">
                      <a:solidFill>
                        <a:srgbClr val="E3E6EA"/>
                      </a:solidFill>
                      <a:prstDash val="solid"/>
                      <a:round/>
                      <a:headEnd type="none" w="med" len="med"/>
                      <a:tailEnd type="none" w="med" len="med"/>
                    </a:lnT>
                    <a:lnB w="12700" cap="flat" cmpd="sng" algn="ctr">
                      <a:solidFill>
                        <a:srgbClr val="E3E6EA"/>
                      </a:solidFill>
                      <a:prstDash val="solid"/>
                      <a:round/>
                      <a:headEnd type="none" w="med" len="med"/>
                      <a:tailEnd type="none" w="med" len="med"/>
                    </a:lnB>
                    <a:solidFill>
                      <a:srgbClr val="FFFFFF"/>
                    </a:solidFill>
                  </a:tcPr>
                </a:tc>
                <a:tc>
                  <a:txBody>
                    <a:bodyPr/>
                    <a:lstStyle/>
                    <a:p>
                      <a:pPr marL="0" indent="0">
                        <a:buNone/>
                      </a:pPr>
                      <a:r>
                        <a:rPr lang="en-US" sz="1200" dirty="0">
                          <a:solidFill>
                            <a:srgbClr val="3A4354"/>
                          </a:solidFill>
                          <a:latin typeface="Calibri" pitchFamily="34" charset="0"/>
                          <a:ea typeface="Calibri" pitchFamily="34" charset="-122"/>
                          <a:cs typeface="Calibri" pitchFamily="34" charset="-120"/>
                        </a:rPr>
                        <a:t>CTest, CI-ready</a:t>
                      </a:r>
                      <a:endParaRPr lang="en-US" sz="1200" dirty="0">
                        <a:latin typeface="Calibri" charset="0"/>
                        <a:ea typeface="Calibri" charset="0"/>
                        <a:cs typeface="Calibri" charset="0"/>
                      </a:endParaRPr>
                    </a:p>
                  </a:txBody>
                  <a:tcPr marL="76200" marR="76200" marT="38100" marB="38100" anchor="ctr">
                    <a:lnL w="12700" cap="flat" cmpd="sng" algn="ctr">
                      <a:solidFill>
                        <a:srgbClr val="E3E6EA"/>
                      </a:solidFill>
                      <a:prstDash val="solid"/>
                      <a:round/>
                      <a:headEnd type="none" w="med" len="med"/>
                      <a:tailEnd type="none" w="med" len="med"/>
                    </a:lnL>
                    <a:lnR w="12700" cap="flat" cmpd="sng" algn="ctr">
                      <a:solidFill>
                        <a:srgbClr val="E3E6EA"/>
                      </a:solidFill>
                      <a:prstDash val="solid"/>
                      <a:round/>
                      <a:headEnd type="none" w="med" len="med"/>
                      <a:tailEnd type="none" w="med" len="med"/>
                    </a:lnR>
                    <a:lnT w="12700" cap="flat" cmpd="sng" algn="ctr">
                      <a:solidFill>
                        <a:srgbClr val="E3E6EA"/>
                      </a:solidFill>
                      <a:prstDash val="solid"/>
                      <a:round/>
                      <a:headEnd type="none" w="med" len="med"/>
                      <a:tailEnd type="none" w="med" len="med"/>
                    </a:lnT>
                    <a:lnB w="12700" cap="flat" cmpd="sng" algn="ctr">
                      <a:solidFill>
                        <a:srgbClr val="E3E6E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02336">
                <a:tc>
                  <a:txBody>
                    <a:bodyPr/>
                    <a:lstStyle/>
                    <a:p>
                      <a:pPr marL="0" indent="0">
                        <a:buNone/>
                      </a:pPr>
                      <a:r>
                        <a:rPr lang="en-US" sz="1200" dirty="0">
                          <a:solidFill>
                            <a:srgbClr val="3A4354"/>
                          </a:solidFill>
                          <a:latin typeface="Calibri" pitchFamily="34" charset="0"/>
                          <a:ea typeface="Calibri" pitchFamily="34" charset="-122"/>
                          <a:cs typeface="Calibri" pitchFamily="34" charset="-120"/>
                        </a:rPr>
                        <a:t>Consumable install</a:t>
                      </a:r>
                      <a:endParaRPr lang="en-US" sz="1200" dirty="0">
                        <a:latin typeface="Calibri" charset="0"/>
                        <a:ea typeface="Calibri" charset="0"/>
                        <a:cs typeface="Calibri" charset="0"/>
                      </a:endParaRPr>
                    </a:p>
                  </a:txBody>
                  <a:tcPr marL="76200" marR="76200" marT="38100" marB="38100" anchor="ctr">
                    <a:lnL w="12700" cap="flat" cmpd="sng" algn="ctr">
                      <a:solidFill>
                        <a:srgbClr val="E3E6EA"/>
                      </a:solidFill>
                      <a:prstDash val="solid"/>
                      <a:round/>
                      <a:headEnd type="none" w="med" len="med"/>
                      <a:tailEnd type="none" w="med" len="med"/>
                    </a:lnL>
                    <a:lnR w="12700" cap="flat" cmpd="sng" algn="ctr">
                      <a:solidFill>
                        <a:srgbClr val="E3E6EA"/>
                      </a:solidFill>
                      <a:prstDash val="solid"/>
                      <a:round/>
                      <a:headEnd type="none" w="med" len="med"/>
                      <a:tailEnd type="none" w="med" len="med"/>
                    </a:lnR>
                    <a:lnT w="12700" cap="flat" cmpd="sng" algn="ctr">
                      <a:solidFill>
                        <a:srgbClr val="E3E6EA"/>
                      </a:solidFill>
                      <a:prstDash val="solid"/>
                      <a:round/>
                      <a:headEnd type="none" w="med" len="med"/>
                      <a:tailEnd type="none" w="med" len="med"/>
                    </a:lnT>
                    <a:lnB w="12700" cap="flat" cmpd="sng" algn="ctr">
                      <a:solidFill>
                        <a:srgbClr val="E3E6EA"/>
                      </a:solidFill>
                      <a:prstDash val="solid"/>
                      <a:round/>
                      <a:headEnd type="none" w="med" len="med"/>
                      <a:tailEnd type="none" w="med" len="med"/>
                    </a:lnB>
                    <a:solidFill>
                      <a:srgbClr val="FFFFFF"/>
                    </a:solidFill>
                  </a:tcPr>
                </a:tc>
                <a:tc>
                  <a:txBody>
                    <a:bodyPr/>
                    <a:lstStyle/>
                    <a:p>
                      <a:pPr marL="0" indent="0">
                        <a:buNone/>
                      </a:pPr>
                      <a:r>
                        <a:rPr lang="en-US" sz="1200" dirty="0">
                          <a:solidFill>
                            <a:srgbClr val="3A4354"/>
                          </a:solidFill>
                          <a:latin typeface="Calibri" pitchFamily="34" charset="0"/>
                          <a:ea typeface="Calibri" pitchFamily="34" charset="-122"/>
                          <a:cs typeface="Calibri" pitchFamily="34" charset="-120"/>
                        </a:rPr>
                        <a:t>Almost never</a:t>
                      </a:r>
                      <a:endParaRPr lang="en-US" sz="1200" dirty="0">
                        <a:latin typeface="Calibri" charset="0"/>
                        <a:ea typeface="Calibri" charset="0"/>
                        <a:cs typeface="Calibri" charset="0"/>
                      </a:endParaRPr>
                    </a:p>
                  </a:txBody>
                  <a:tcPr marL="76200" marR="76200" marT="38100" marB="38100" anchor="ctr">
                    <a:lnL w="12700" cap="flat" cmpd="sng" algn="ctr">
                      <a:solidFill>
                        <a:srgbClr val="E3E6EA"/>
                      </a:solidFill>
                      <a:prstDash val="solid"/>
                      <a:round/>
                      <a:headEnd type="none" w="med" len="med"/>
                      <a:tailEnd type="none" w="med" len="med"/>
                    </a:lnL>
                    <a:lnR w="12700" cap="flat" cmpd="sng" algn="ctr">
                      <a:solidFill>
                        <a:srgbClr val="E3E6EA"/>
                      </a:solidFill>
                      <a:prstDash val="solid"/>
                      <a:round/>
                      <a:headEnd type="none" w="med" len="med"/>
                      <a:tailEnd type="none" w="med" len="med"/>
                    </a:lnR>
                    <a:lnT w="12700" cap="flat" cmpd="sng" algn="ctr">
                      <a:solidFill>
                        <a:srgbClr val="E3E6EA"/>
                      </a:solidFill>
                      <a:prstDash val="solid"/>
                      <a:round/>
                      <a:headEnd type="none" w="med" len="med"/>
                      <a:tailEnd type="none" w="med" len="med"/>
                    </a:lnT>
                    <a:lnB w="12700" cap="flat" cmpd="sng" algn="ctr">
                      <a:solidFill>
                        <a:srgbClr val="E3E6EA"/>
                      </a:solidFill>
                      <a:prstDash val="solid"/>
                      <a:round/>
                      <a:headEnd type="none" w="med" len="med"/>
                      <a:tailEnd type="none" w="med" len="med"/>
                    </a:lnB>
                    <a:solidFill>
                      <a:srgbClr val="FFFFFF"/>
                    </a:solidFill>
                  </a:tcPr>
                </a:tc>
                <a:tc>
                  <a:txBody>
                    <a:bodyPr/>
                    <a:lstStyle/>
                    <a:p>
                      <a:pPr marL="0" indent="0">
                        <a:buNone/>
                      </a:pPr>
                      <a:r>
                        <a:rPr lang="en-US" sz="1200" dirty="0">
                          <a:solidFill>
                            <a:srgbClr val="3A4354"/>
                          </a:solidFill>
                          <a:latin typeface="Calibri" pitchFamily="34" charset="0"/>
                          <a:ea typeface="Calibri" pitchFamily="34" charset="-122"/>
                          <a:cs typeface="Calibri" pitchFamily="34" charset="-120"/>
                        </a:rPr>
                        <a:t>pkg-config, if you add it</a:t>
                      </a:r>
                      <a:endParaRPr lang="en-US" sz="1200" dirty="0">
                        <a:latin typeface="Calibri" charset="0"/>
                        <a:ea typeface="Calibri" charset="0"/>
                        <a:cs typeface="Calibri" charset="0"/>
                      </a:endParaRPr>
                    </a:p>
                  </a:txBody>
                  <a:tcPr marL="76200" marR="76200" marT="38100" marB="38100" anchor="ctr">
                    <a:lnL w="12700" cap="flat" cmpd="sng" algn="ctr">
                      <a:solidFill>
                        <a:srgbClr val="E3E6EA"/>
                      </a:solidFill>
                      <a:prstDash val="solid"/>
                      <a:round/>
                      <a:headEnd type="none" w="med" len="med"/>
                      <a:tailEnd type="none" w="med" len="med"/>
                    </a:lnL>
                    <a:lnR w="12700" cap="flat" cmpd="sng" algn="ctr">
                      <a:solidFill>
                        <a:srgbClr val="E3E6EA"/>
                      </a:solidFill>
                      <a:prstDash val="solid"/>
                      <a:round/>
                      <a:headEnd type="none" w="med" len="med"/>
                      <a:tailEnd type="none" w="med" len="med"/>
                    </a:lnR>
                    <a:lnT w="12700" cap="flat" cmpd="sng" algn="ctr">
                      <a:solidFill>
                        <a:srgbClr val="E3E6EA"/>
                      </a:solidFill>
                      <a:prstDash val="solid"/>
                      <a:round/>
                      <a:headEnd type="none" w="med" len="med"/>
                      <a:tailEnd type="none" w="med" len="med"/>
                    </a:lnT>
                    <a:lnB w="12700" cap="flat" cmpd="sng" algn="ctr">
                      <a:solidFill>
                        <a:srgbClr val="E3E6EA"/>
                      </a:solidFill>
                      <a:prstDash val="solid"/>
                      <a:round/>
                      <a:headEnd type="none" w="med" len="med"/>
                      <a:tailEnd type="none" w="med" len="med"/>
                    </a:lnB>
                    <a:solidFill>
                      <a:srgbClr val="FFFFFF"/>
                    </a:solidFill>
                  </a:tcPr>
                </a:tc>
                <a:tc>
                  <a:txBody>
                    <a:bodyPr/>
                    <a:lstStyle/>
                    <a:p>
                      <a:pPr marL="0" indent="0">
                        <a:buNone/>
                      </a:pPr>
                      <a:r>
                        <a:rPr lang="en-US" sz="1200" dirty="0">
                          <a:solidFill>
                            <a:srgbClr val="3A4354"/>
                          </a:solidFill>
                          <a:latin typeface="Calibri" pitchFamily="34" charset="0"/>
                          <a:ea typeface="Calibri" pitchFamily="34" charset="-122"/>
                          <a:cs typeface="Calibri" pitchFamily="34" charset="-120"/>
                        </a:rPr>
                        <a:t>Exported targets, versioned</a:t>
                      </a:r>
                      <a:endParaRPr lang="en-US" sz="1200" dirty="0">
                        <a:latin typeface="Calibri" charset="0"/>
                        <a:ea typeface="Calibri" charset="0"/>
                        <a:cs typeface="Calibri" charset="0"/>
                      </a:endParaRPr>
                    </a:p>
                  </a:txBody>
                  <a:tcPr marL="76200" marR="76200" marT="38100" marB="38100" anchor="ctr">
                    <a:lnL w="12700" cap="flat" cmpd="sng" algn="ctr">
                      <a:solidFill>
                        <a:srgbClr val="E3E6EA"/>
                      </a:solidFill>
                      <a:prstDash val="solid"/>
                      <a:round/>
                      <a:headEnd type="none" w="med" len="med"/>
                      <a:tailEnd type="none" w="med" len="med"/>
                    </a:lnL>
                    <a:lnR w="12700" cap="flat" cmpd="sng" algn="ctr">
                      <a:solidFill>
                        <a:srgbClr val="E3E6EA"/>
                      </a:solidFill>
                      <a:prstDash val="solid"/>
                      <a:round/>
                      <a:headEnd type="none" w="med" len="med"/>
                      <a:tailEnd type="none" w="med" len="med"/>
                    </a:lnR>
                    <a:lnT w="12700" cap="flat" cmpd="sng" algn="ctr">
                      <a:solidFill>
                        <a:srgbClr val="E3E6EA"/>
                      </a:solidFill>
                      <a:prstDash val="solid"/>
                      <a:round/>
                      <a:headEnd type="none" w="med" len="med"/>
                      <a:tailEnd type="none" w="med" len="med"/>
                    </a:lnT>
                    <a:lnB w="12700" cap="flat" cmpd="sng" algn="ctr">
                      <a:solidFill>
                        <a:srgbClr val="E3E6E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02336">
                <a:tc>
                  <a:txBody>
                    <a:bodyPr/>
                    <a:lstStyle/>
                    <a:p>
                      <a:pPr marL="0" indent="0">
                        <a:buNone/>
                      </a:pPr>
                      <a:r>
                        <a:rPr lang="en-US" sz="1200" dirty="0">
                          <a:solidFill>
                            <a:srgbClr val="3A4354"/>
                          </a:solidFill>
                          <a:latin typeface="Calibri" pitchFamily="34" charset="0"/>
                          <a:ea typeface="Calibri" pitchFamily="34" charset="-122"/>
                          <a:cs typeface="Calibri" pitchFamily="34" charset="-120"/>
                        </a:rPr>
                        <a:t>Windows / IDEs</a:t>
                      </a:r>
                      <a:endParaRPr lang="en-US" sz="1200" dirty="0">
                        <a:latin typeface="Calibri" charset="0"/>
                        <a:ea typeface="Calibri" charset="0"/>
                        <a:cs typeface="Calibri" charset="0"/>
                      </a:endParaRPr>
                    </a:p>
                  </a:txBody>
                  <a:tcPr marL="76200" marR="76200" marT="38100" marB="38100" anchor="ctr">
                    <a:lnL w="12700" cap="flat" cmpd="sng" algn="ctr">
                      <a:solidFill>
                        <a:srgbClr val="E3E6EA"/>
                      </a:solidFill>
                      <a:prstDash val="solid"/>
                      <a:round/>
                      <a:headEnd type="none" w="med" len="med"/>
                      <a:tailEnd type="none" w="med" len="med"/>
                    </a:lnL>
                    <a:lnR w="12700" cap="flat" cmpd="sng" algn="ctr">
                      <a:solidFill>
                        <a:srgbClr val="E3E6EA"/>
                      </a:solidFill>
                      <a:prstDash val="solid"/>
                      <a:round/>
                      <a:headEnd type="none" w="med" len="med"/>
                      <a:tailEnd type="none" w="med" len="med"/>
                    </a:lnR>
                    <a:lnT w="12700" cap="flat" cmpd="sng" algn="ctr">
                      <a:solidFill>
                        <a:srgbClr val="E3E6EA"/>
                      </a:solidFill>
                      <a:prstDash val="solid"/>
                      <a:round/>
                      <a:headEnd type="none" w="med" len="med"/>
                      <a:tailEnd type="none" w="med" len="med"/>
                    </a:lnT>
                    <a:lnB w="12700" cap="flat" cmpd="sng" algn="ctr">
                      <a:solidFill>
                        <a:srgbClr val="E3E6EA"/>
                      </a:solidFill>
                      <a:prstDash val="solid"/>
                      <a:round/>
                      <a:headEnd type="none" w="med" len="med"/>
                      <a:tailEnd type="none" w="med" len="med"/>
                    </a:lnB>
                    <a:solidFill>
                      <a:srgbClr val="FFFFFF"/>
                    </a:solidFill>
                  </a:tcPr>
                </a:tc>
                <a:tc>
                  <a:txBody>
                    <a:bodyPr/>
                    <a:lstStyle/>
                    <a:p>
                      <a:pPr marL="0" indent="0">
                        <a:buNone/>
                      </a:pPr>
                      <a:r>
                        <a:rPr lang="en-US" sz="1200" dirty="0">
                          <a:solidFill>
                            <a:srgbClr val="3A4354"/>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6200" marR="76200" marT="38100" marB="38100" anchor="ctr">
                    <a:lnL w="12700" cap="flat" cmpd="sng" algn="ctr">
                      <a:solidFill>
                        <a:srgbClr val="E3E6EA"/>
                      </a:solidFill>
                      <a:prstDash val="solid"/>
                      <a:round/>
                      <a:headEnd type="none" w="med" len="med"/>
                      <a:tailEnd type="none" w="med" len="med"/>
                    </a:lnL>
                    <a:lnR w="12700" cap="flat" cmpd="sng" algn="ctr">
                      <a:solidFill>
                        <a:srgbClr val="E3E6EA"/>
                      </a:solidFill>
                      <a:prstDash val="solid"/>
                      <a:round/>
                      <a:headEnd type="none" w="med" len="med"/>
                      <a:tailEnd type="none" w="med" len="med"/>
                    </a:lnR>
                    <a:lnT w="12700" cap="flat" cmpd="sng" algn="ctr">
                      <a:solidFill>
                        <a:srgbClr val="E3E6EA"/>
                      </a:solidFill>
                      <a:prstDash val="solid"/>
                      <a:round/>
                      <a:headEnd type="none" w="med" len="med"/>
                      <a:tailEnd type="none" w="med" len="med"/>
                    </a:lnT>
                    <a:lnB w="12700" cap="flat" cmpd="sng" algn="ctr">
                      <a:solidFill>
                        <a:srgbClr val="E3E6EA"/>
                      </a:solidFill>
                      <a:prstDash val="solid"/>
                      <a:round/>
                      <a:headEnd type="none" w="med" len="med"/>
                      <a:tailEnd type="none" w="med" len="med"/>
                    </a:lnB>
                    <a:solidFill>
                      <a:srgbClr val="FFFFFF"/>
                    </a:solidFill>
                  </a:tcPr>
                </a:tc>
                <a:tc>
                  <a:txBody>
                    <a:bodyPr/>
                    <a:lstStyle/>
                    <a:p>
                      <a:pPr marL="0" indent="0">
                        <a:buNone/>
                      </a:pPr>
                      <a:r>
                        <a:rPr lang="en-US" sz="1200" dirty="0">
                          <a:solidFill>
                            <a:srgbClr val="3A4354"/>
                          </a:solidFill>
                          <a:latin typeface="Calibri" pitchFamily="34" charset="0"/>
                          <a:ea typeface="Calibri" pitchFamily="34" charset="-122"/>
                          <a:cs typeface="Calibri" pitchFamily="34" charset="-120"/>
                        </a:rPr>
                        <a:t>Not really</a:t>
                      </a:r>
                      <a:endParaRPr lang="en-US" sz="1200" dirty="0">
                        <a:latin typeface="Calibri" charset="0"/>
                        <a:ea typeface="Calibri" charset="0"/>
                        <a:cs typeface="Calibri" charset="0"/>
                      </a:endParaRPr>
                    </a:p>
                  </a:txBody>
                  <a:tcPr marL="76200" marR="76200" marT="38100" marB="38100" anchor="ctr">
                    <a:lnL w="12700" cap="flat" cmpd="sng" algn="ctr">
                      <a:solidFill>
                        <a:srgbClr val="E3E6EA"/>
                      </a:solidFill>
                      <a:prstDash val="solid"/>
                      <a:round/>
                      <a:headEnd type="none" w="med" len="med"/>
                      <a:tailEnd type="none" w="med" len="med"/>
                    </a:lnL>
                    <a:lnR w="12700" cap="flat" cmpd="sng" algn="ctr">
                      <a:solidFill>
                        <a:srgbClr val="E3E6EA"/>
                      </a:solidFill>
                      <a:prstDash val="solid"/>
                      <a:round/>
                      <a:headEnd type="none" w="med" len="med"/>
                      <a:tailEnd type="none" w="med" len="med"/>
                    </a:lnR>
                    <a:lnT w="12700" cap="flat" cmpd="sng" algn="ctr">
                      <a:solidFill>
                        <a:srgbClr val="E3E6EA"/>
                      </a:solidFill>
                      <a:prstDash val="solid"/>
                      <a:round/>
                      <a:headEnd type="none" w="med" len="med"/>
                      <a:tailEnd type="none" w="med" len="med"/>
                    </a:lnT>
                    <a:lnB w="12700" cap="flat" cmpd="sng" algn="ctr">
                      <a:solidFill>
                        <a:srgbClr val="E3E6EA"/>
                      </a:solidFill>
                      <a:prstDash val="solid"/>
                      <a:round/>
                      <a:headEnd type="none" w="med" len="med"/>
                      <a:tailEnd type="none" w="med" len="med"/>
                    </a:lnB>
                    <a:solidFill>
                      <a:srgbClr val="FFFFFF"/>
                    </a:solidFill>
                  </a:tcPr>
                </a:tc>
                <a:tc>
                  <a:txBody>
                    <a:bodyPr/>
                    <a:lstStyle/>
                    <a:p>
                      <a:pPr marL="0" indent="0">
                        <a:buNone/>
                      </a:pPr>
                      <a:r>
                        <a:rPr lang="en-US" sz="1200" dirty="0">
                          <a:solidFill>
                            <a:srgbClr val="3A4354"/>
                          </a:solidFill>
                          <a:latin typeface="Calibri" pitchFamily="34" charset="0"/>
                          <a:ea typeface="Calibri" pitchFamily="34" charset="-122"/>
                          <a:cs typeface="Calibri" pitchFamily="34" charset="-120"/>
                        </a:rPr>
                        <a:t>Ninja, Visual Studio, Xcode</a:t>
                      </a:r>
                      <a:endParaRPr lang="en-US" sz="1200" dirty="0">
                        <a:latin typeface="Calibri" charset="0"/>
                        <a:ea typeface="Calibri" charset="0"/>
                        <a:cs typeface="Calibri" charset="0"/>
                      </a:endParaRPr>
                    </a:p>
                  </a:txBody>
                  <a:tcPr marL="76200" marR="76200" marT="38100" marB="38100" anchor="ctr">
                    <a:lnL w="12700" cap="flat" cmpd="sng" algn="ctr">
                      <a:solidFill>
                        <a:srgbClr val="E3E6EA"/>
                      </a:solidFill>
                      <a:prstDash val="solid"/>
                      <a:round/>
                      <a:headEnd type="none" w="med" len="med"/>
                      <a:tailEnd type="none" w="med" len="med"/>
                    </a:lnL>
                    <a:lnR w="12700" cap="flat" cmpd="sng" algn="ctr">
                      <a:solidFill>
                        <a:srgbClr val="E3E6EA"/>
                      </a:solidFill>
                      <a:prstDash val="solid"/>
                      <a:round/>
                      <a:headEnd type="none" w="med" len="med"/>
                      <a:tailEnd type="none" w="med" len="med"/>
                    </a:lnR>
                    <a:lnT w="12700" cap="flat" cmpd="sng" algn="ctr">
                      <a:solidFill>
                        <a:srgbClr val="E3E6EA"/>
                      </a:solidFill>
                      <a:prstDash val="solid"/>
                      <a:round/>
                      <a:headEnd type="none" w="med" len="med"/>
                      <a:tailEnd type="none" w="med" len="med"/>
                    </a:lnT>
                    <a:lnB w="12700" cap="flat" cmpd="sng" algn="ctr">
                      <a:solidFill>
                        <a:srgbClr val="E3E6EA"/>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02336">
                <a:tc>
                  <a:txBody>
                    <a:bodyPr/>
                    <a:lstStyle/>
                    <a:p>
                      <a:pPr marL="0" indent="0">
                        <a:buNone/>
                      </a:pPr>
                      <a:r>
                        <a:rPr lang="en-US" sz="1200" dirty="0">
                          <a:solidFill>
                            <a:srgbClr val="3A4354"/>
                          </a:solidFill>
                          <a:latin typeface="Calibri" pitchFamily="34" charset="0"/>
                          <a:ea typeface="Calibri" pitchFamily="34" charset="-122"/>
                          <a:cs typeface="Calibri" pitchFamily="34" charset="-120"/>
                        </a:rPr>
                        <a:t>Language of the build files</a:t>
                      </a:r>
                      <a:endParaRPr lang="en-US" sz="1200" dirty="0">
                        <a:latin typeface="Calibri" charset="0"/>
                        <a:ea typeface="Calibri" charset="0"/>
                        <a:cs typeface="Calibri" charset="0"/>
                      </a:endParaRPr>
                    </a:p>
                  </a:txBody>
                  <a:tcPr marL="76200" marR="76200" marT="38100" marB="38100" anchor="ctr">
                    <a:lnL w="12700" cap="flat" cmpd="sng" algn="ctr">
                      <a:solidFill>
                        <a:srgbClr val="E3E6EA"/>
                      </a:solidFill>
                      <a:prstDash val="solid"/>
                      <a:round/>
                      <a:headEnd type="none" w="med" len="med"/>
                      <a:tailEnd type="none" w="med" len="med"/>
                    </a:lnL>
                    <a:lnR w="12700" cap="flat" cmpd="sng" algn="ctr">
                      <a:solidFill>
                        <a:srgbClr val="E3E6EA"/>
                      </a:solidFill>
                      <a:prstDash val="solid"/>
                      <a:round/>
                      <a:headEnd type="none" w="med" len="med"/>
                      <a:tailEnd type="none" w="med" len="med"/>
                    </a:lnR>
                    <a:lnT w="12700" cap="flat" cmpd="sng" algn="ctr">
                      <a:solidFill>
                        <a:srgbClr val="E3E6EA"/>
                      </a:solidFill>
                      <a:prstDash val="solid"/>
                      <a:round/>
                      <a:headEnd type="none" w="med" len="med"/>
                      <a:tailEnd type="none" w="med" len="med"/>
                    </a:lnT>
                    <a:lnB w="12700" cap="flat" cmpd="sng" algn="ctr">
                      <a:solidFill>
                        <a:srgbClr val="E3E6EA"/>
                      </a:solidFill>
                      <a:prstDash val="solid"/>
                      <a:round/>
                      <a:headEnd type="none" w="med" len="med"/>
                      <a:tailEnd type="none" w="med" len="med"/>
                    </a:lnB>
                    <a:solidFill>
                      <a:srgbClr val="FFFFFF"/>
                    </a:solidFill>
                  </a:tcPr>
                </a:tc>
                <a:tc>
                  <a:txBody>
                    <a:bodyPr/>
                    <a:lstStyle/>
                    <a:p>
                      <a:pPr marL="0" indent="0">
                        <a:buNone/>
                      </a:pPr>
                      <a:r>
                        <a:rPr lang="en-US" sz="1200" dirty="0">
                          <a:solidFill>
                            <a:srgbClr val="3A4354"/>
                          </a:solidFill>
                          <a:latin typeface="Calibri" pitchFamily="34" charset="0"/>
                          <a:ea typeface="Calibri" pitchFamily="34" charset="-122"/>
                          <a:cs typeface="Calibri" pitchFamily="34" charset="-120"/>
                        </a:rPr>
                        <a:t>Make + shell</a:t>
                      </a:r>
                      <a:endParaRPr lang="en-US" sz="1200" dirty="0">
                        <a:latin typeface="Calibri" charset="0"/>
                        <a:ea typeface="Calibri" charset="0"/>
                        <a:cs typeface="Calibri" charset="0"/>
                      </a:endParaRPr>
                    </a:p>
                  </a:txBody>
                  <a:tcPr marL="76200" marR="76200" marT="38100" marB="38100" anchor="ctr">
                    <a:lnL w="12700" cap="flat" cmpd="sng" algn="ctr">
                      <a:solidFill>
                        <a:srgbClr val="E3E6EA"/>
                      </a:solidFill>
                      <a:prstDash val="solid"/>
                      <a:round/>
                      <a:headEnd type="none" w="med" len="med"/>
                      <a:tailEnd type="none" w="med" len="med"/>
                    </a:lnL>
                    <a:lnR w="12700" cap="flat" cmpd="sng" algn="ctr">
                      <a:solidFill>
                        <a:srgbClr val="E3E6EA"/>
                      </a:solidFill>
                      <a:prstDash val="solid"/>
                      <a:round/>
                      <a:headEnd type="none" w="med" len="med"/>
                      <a:tailEnd type="none" w="med" len="med"/>
                    </a:lnR>
                    <a:lnT w="12700" cap="flat" cmpd="sng" algn="ctr">
                      <a:solidFill>
                        <a:srgbClr val="E3E6EA"/>
                      </a:solidFill>
                      <a:prstDash val="solid"/>
                      <a:round/>
                      <a:headEnd type="none" w="med" len="med"/>
                      <a:tailEnd type="none" w="med" len="med"/>
                    </a:lnT>
                    <a:lnB w="12700" cap="flat" cmpd="sng" algn="ctr">
                      <a:solidFill>
                        <a:srgbClr val="E3E6EA"/>
                      </a:solidFill>
                      <a:prstDash val="solid"/>
                      <a:round/>
                      <a:headEnd type="none" w="med" len="med"/>
                      <a:tailEnd type="none" w="med" len="med"/>
                    </a:lnB>
                    <a:solidFill>
                      <a:srgbClr val="FFFFFF"/>
                    </a:solidFill>
                  </a:tcPr>
                </a:tc>
                <a:tc>
                  <a:txBody>
                    <a:bodyPr/>
                    <a:lstStyle/>
                    <a:p>
                      <a:pPr marL="0" indent="0">
                        <a:buNone/>
                      </a:pPr>
                      <a:r>
                        <a:rPr lang="en-US" sz="1200" dirty="0">
                          <a:solidFill>
                            <a:srgbClr val="3A4354"/>
                          </a:solidFill>
                          <a:latin typeface="Calibri" pitchFamily="34" charset="0"/>
                          <a:ea typeface="Calibri" pitchFamily="34" charset="-122"/>
                          <a:cs typeface="Calibri" pitchFamily="34" charset="-120"/>
                        </a:rPr>
                        <a:t>m4 + shell + Make</a:t>
                      </a:r>
                      <a:endParaRPr lang="en-US" sz="1200" dirty="0">
                        <a:latin typeface="Calibri" charset="0"/>
                        <a:ea typeface="Calibri" charset="0"/>
                        <a:cs typeface="Calibri" charset="0"/>
                      </a:endParaRPr>
                    </a:p>
                  </a:txBody>
                  <a:tcPr marL="76200" marR="76200" marT="38100" marB="38100" anchor="ctr">
                    <a:lnL w="12700" cap="flat" cmpd="sng" algn="ctr">
                      <a:solidFill>
                        <a:srgbClr val="E3E6EA"/>
                      </a:solidFill>
                      <a:prstDash val="solid"/>
                      <a:round/>
                      <a:headEnd type="none" w="med" len="med"/>
                      <a:tailEnd type="none" w="med" len="med"/>
                    </a:lnL>
                    <a:lnR w="12700" cap="flat" cmpd="sng" algn="ctr">
                      <a:solidFill>
                        <a:srgbClr val="E3E6EA"/>
                      </a:solidFill>
                      <a:prstDash val="solid"/>
                      <a:round/>
                      <a:headEnd type="none" w="med" len="med"/>
                      <a:tailEnd type="none" w="med" len="med"/>
                    </a:lnR>
                    <a:lnT w="12700" cap="flat" cmpd="sng" algn="ctr">
                      <a:solidFill>
                        <a:srgbClr val="E3E6EA"/>
                      </a:solidFill>
                      <a:prstDash val="solid"/>
                      <a:round/>
                      <a:headEnd type="none" w="med" len="med"/>
                      <a:tailEnd type="none" w="med" len="med"/>
                    </a:lnT>
                    <a:lnB w="12700" cap="flat" cmpd="sng" algn="ctr">
                      <a:solidFill>
                        <a:srgbClr val="E3E6EA"/>
                      </a:solidFill>
                      <a:prstDash val="solid"/>
                      <a:round/>
                      <a:headEnd type="none" w="med" len="med"/>
                      <a:tailEnd type="none" w="med" len="med"/>
                    </a:lnB>
                    <a:solidFill>
                      <a:srgbClr val="FFFFFF"/>
                    </a:solidFill>
                  </a:tcPr>
                </a:tc>
                <a:tc>
                  <a:txBody>
                    <a:bodyPr/>
                    <a:lstStyle/>
                    <a:p>
                      <a:pPr marL="0" indent="0">
                        <a:buNone/>
                      </a:pPr>
                      <a:r>
                        <a:rPr lang="en-US" sz="1200" dirty="0">
                          <a:solidFill>
                            <a:srgbClr val="3A4354"/>
                          </a:solidFill>
                          <a:latin typeface="Calibri" pitchFamily="34" charset="0"/>
                          <a:ea typeface="Calibri" pitchFamily="34" charset="-122"/>
                          <a:cs typeface="Calibri" pitchFamily="34" charset="-120"/>
                        </a:rPr>
                        <a:t>One language, one file type</a:t>
                      </a:r>
                      <a:endParaRPr lang="en-US" sz="1200" dirty="0">
                        <a:latin typeface="Calibri" charset="0"/>
                        <a:ea typeface="Calibri" charset="0"/>
                        <a:cs typeface="Calibri" charset="0"/>
                      </a:endParaRPr>
                    </a:p>
                  </a:txBody>
                  <a:tcPr marL="76200" marR="76200" marT="38100" marB="38100" anchor="ctr">
                    <a:lnL w="12700" cap="flat" cmpd="sng" algn="ctr">
                      <a:solidFill>
                        <a:srgbClr val="E3E6EA"/>
                      </a:solidFill>
                      <a:prstDash val="solid"/>
                      <a:round/>
                      <a:headEnd type="none" w="med" len="med"/>
                      <a:tailEnd type="none" w="med" len="med"/>
                    </a:lnL>
                    <a:lnR w="12700" cap="flat" cmpd="sng" algn="ctr">
                      <a:solidFill>
                        <a:srgbClr val="E3E6EA"/>
                      </a:solidFill>
                      <a:prstDash val="solid"/>
                      <a:round/>
                      <a:headEnd type="none" w="med" len="med"/>
                      <a:tailEnd type="none" w="med" len="med"/>
                    </a:lnR>
                    <a:lnT w="12700" cap="flat" cmpd="sng" algn="ctr">
                      <a:solidFill>
                        <a:srgbClr val="E3E6EA"/>
                      </a:solidFill>
                      <a:prstDash val="solid"/>
                      <a:round/>
                      <a:headEnd type="none" w="med" len="med"/>
                      <a:tailEnd type="none" w="med" len="med"/>
                    </a:lnT>
                    <a:lnB w="12700" cap="flat" cmpd="sng" algn="ctr">
                      <a:solidFill>
                        <a:srgbClr val="E3E6EA"/>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6327648"/>
            <a:ext cx="4572000" cy="274320"/>
          </a:xfrm>
          <a:prstGeom prst="rect">
            <a:avLst/>
          </a:prstGeom>
          <a:noFill/>
          <a:ln/>
        </p:spPr>
        <p:txBody>
          <a:bodyPr wrap="square" lIns="0" tIns="0" rIns="0" bIns="0" rtlCol="0" anchor="ctr"/>
          <a:lstStyle/>
          <a:p>
            <a:pPr marL="0" indent="0">
              <a:buNone/>
            </a:pPr>
            <a:r>
              <a:rPr lang="en-US" sz="1000" dirty="0">
                <a:solidFill>
                  <a:srgbClr val="AEB5BF"/>
                </a:solidFill>
                <a:latin typeface="Calibri" pitchFamily="34" charset="0"/>
                <a:ea typeface="Calibri" pitchFamily="34" charset="-122"/>
                <a:cs typeface="Calibri" pitchFamily="34" charset="-120"/>
              </a:rPr>
              <a:t>CMake for Fortran</a:t>
            </a:r>
            <a:endParaRPr lang="en-US" sz="1000" dirty="0"/>
          </a:p>
        </p:txBody>
      </p:sp>
      <p:sp>
        <p:nvSpPr>
          <p:cNvPr id="3" name="Text 1"/>
          <p:cNvSpPr txBox="1"/>
          <p:nvPr/>
        </p:nvSpPr>
        <p:spPr>
          <a:xfrm>
            <a:off x="10607040" y="6327648"/>
            <a:ext cx="914400" cy="274320"/>
          </a:xfrm>
          <a:prstGeom prst="rect">
            <a:avLst/>
          </a:prstGeom>
          <a:noFill/>
          <a:ln/>
        </p:spPr>
        <p:txBody>
          <a:bodyPr wrap="square" lIns="0" tIns="0" rIns="0" bIns="0" rtlCol="0" anchor="ctr"/>
          <a:lstStyle/>
          <a:p>
            <a:pPr marL="0" indent="0" algn="r">
              <a:buNone/>
            </a:pPr>
            <a:r>
              <a:rPr lang="en-US" sz="1000" dirty="0">
                <a:solidFill>
                  <a:srgbClr val="AEB5BF"/>
                </a:solidFill>
                <a:latin typeface="Calibri" pitchFamily="34" charset="0"/>
                <a:ea typeface="Calibri" pitchFamily="34" charset="-122"/>
                <a:cs typeface="Calibri" pitchFamily="34" charset="-120"/>
              </a:rPr>
              <a:t>23</a:t>
            </a:r>
            <a:endParaRPr lang="en-US" sz="1000" dirty="0"/>
          </a:p>
        </p:txBody>
      </p:sp>
      <p:sp>
        <p:nvSpPr>
          <p:cNvPr id="4" name="Text 2"/>
          <p:cNvSpPr txBox="1"/>
          <p:nvPr/>
        </p:nvSpPr>
        <p:spPr>
          <a:xfrm>
            <a:off x="640080" y="384048"/>
            <a:ext cx="10881360" cy="256032"/>
          </a:xfrm>
          <a:prstGeom prst="rect">
            <a:avLst/>
          </a:prstGeom>
          <a:noFill/>
          <a:ln/>
        </p:spPr>
        <p:txBody>
          <a:bodyPr wrap="square" lIns="0" tIns="0" rIns="0" bIns="0" rtlCol="0" anchor="ctr"/>
          <a:lstStyle/>
          <a:p>
            <a:pPr marL="0" indent="0">
              <a:buNone/>
            </a:pPr>
            <a:r>
              <a:rPr lang="en-US" sz="1100" b="1" kern="0" spc="200" dirty="0">
                <a:solidFill>
                  <a:srgbClr val="EF6C1A"/>
                </a:solidFill>
                <a:latin typeface="Calibri" pitchFamily="34" charset="0"/>
                <a:ea typeface="Calibri" pitchFamily="34" charset="-122"/>
                <a:cs typeface="Calibri" pitchFamily="34" charset="-120"/>
              </a:rPr>
              <a:t>THE ARGUMENT</a:t>
            </a:r>
            <a:endParaRPr lang="en-US" sz="1100" dirty="0"/>
          </a:p>
        </p:txBody>
      </p:sp>
      <p:sp>
        <p:nvSpPr>
          <p:cNvPr id="5" name="Text 3"/>
          <p:cNvSpPr txBox="1"/>
          <p:nvPr/>
        </p:nvSpPr>
        <p:spPr>
          <a:xfrm>
            <a:off x="640080" y="658368"/>
            <a:ext cx="10881360" cy="658368"/>
          </a:xfrm>
          <a:prstGeom prst="rect">
            <a:avLst/>
          </a:prstGeom>
          <a:noFill/>
          <a:ln/>
        </p:spPr>
        <p:txBody>
          <a:bodyPr wrap="square" lIns="0" tIns="0" rIns="0" bIns="0" rtlCol="0" anchor="t"/>
          <a:lstStyle/>
          <a:p>
            <a:pPr marL="0" indent="0">
              <a:buNone/>
            </a:pPr>
            <a:r>
              <a:rPr lang="en-US" sz="3000" b="1" dirty="0">
                <a:solidFill>
                  <a:srgbClr val="1F2430"/>
                </a:solidFill>
                <a:latin typeface="Cambria" pitchFamily="34" charset="0"/>
                <a:ea typeface="Cambria" pitchFamily="34" charset="-122"/>
                <a:cs typeface="Cambria" pitchFamily="34" charset="-120"/>
              </a:rPr>
              <a:t>The honest downsides</a:t>
            </a:r>
            <a:endParaRPr lang="en-US" sz="3000" dirty="0"/>
          </a:p>
        </p:txBody>
      </p:sp>
      <p:sp>
        <p:nvSpPr>
          <p:cNvPr id="6" name="Shape 4"/>
          <p:cNvSpPr/>
          <p:nvPr/>
        </p:nvSpPr>
        <p:spPr>
          <a:xfrm>
            <a:off x="640080" y="1481328"/>
            <a:ext cx="5257800" cy="1417320"/>
          </a:xfrm>
          <a:prstGeom prst="roundRect">
            <a:avLst>
              <a:gd name="adj" fmla="val 3871"/>
            </a:avLst>
          </a:prstGeom>
          <a:solidFill>
            <a:srgbClr val="F4F5F7"/>
          </a:solidFill>
          <a:ln w="12700">
            <a:solidFill>
              <a:srgbClr val="E3E6EA"/>
            </a:solidFill>
            <a:prstDash val="solid"/>
          </a:ln>
        </p:spPr>
        <p:txBody>
          <a:bodyPr/>
          <a:lstStyle/>
          <a:p>
            <a:endParaRPr lang="en-US"/>
          </a:p>
        </p:txBody>
      </p:sp>
      <p:sp>
        <p:nvSpPr>
          <p:cNvPr id="7" name="Text 5"/>
          <p:cNvSpPr txBox="1"/>
          <p:nvPr/>
        </p:nvSpPr>
        <p:spPr>
          <a:xfrm>
            <a:off x="896112" y="1719072"/>
            <a:ext cx="4764024" cy="347472"/>
          </a:xfrm>
          <a:prstGeom prst="rect">
            <a:avLst/>
          </a:prstGeom>
          <a:noFill/>
          <a:ln/>
        </p:spPr>
        <p:txBody>
          <a:bodyPr wrap="square" lIns="0" tIns="0" rIns="0" bIns="0" rtlCol="0" anchor="ctr"/>
          <a:lstStyle/>
          <a:p>
            <a:pPr marL="0" indent="0">
              <a:buNone/>
            </a:pPr>
            <a:r>
              <a:rPr lang="en-US" sz="1500" b="1" dirty="0">
                <a:solidFill>
                  <a:srgbClr val="1F2430"/>
                </a:solidFill>
                <a:latin typeface="Calibri" pitchFamily="34" charset="0"/>
                <a:ea typeface="Calibri" pitchFamily="34" charset="-122"/>
                <a:cs typeface="Calibri" pitchFamily="34" charset="-120"/>
              </a:rPr>
              <a:t>The language is odd</a:t>
            </a:r>
            <a:endParaRPr lang="en-US" sz="1500" dirty="0"/>
          </a:p>
        </p:txBody>
      </p:sp>
      <p:sp>
        <p:nvSpPr>
          <p:cNvPr id="8" name="Text 6"/>
          <p:cNvSpPr txBox="1"/>
          <p:nvPr/>
        </p:nvSpPr>
        <p:spPr>
          <a:xfrm>
            <a:off x="896112" y="2139696"/>
            <a:ext cx="4745736" cy="630936"/>
          </a:xfrm>
          <a:prstGeom prst="rect">
            <a:avLst/>
          </a:prstGeom>
          <a:noFill/>
          <a:ln/>
        </p:spPr>
        <p:txBody>
          <a:bodyPr wrap="square" lIns="0" tIns="0" rIns="0" bIns="0" rtlCol="0" anchor="t"/>
          <a:lstStyle/>
          <a:p>
            <a:pPr marL="0" indent="0">
              <a:lnSpc>
                <a:spcPct val="115000"/>
              </a:lnSpc>
              <a:buNone/>
            </a:pPr>
            <a:r>
              <a:rPr lang="en-US" sz="1300" dirty="0">
                <a:solidFill>
                  <a:srgbClr val="3A4354"/>
                </a:solidFill>
                <a:latin typeface="Calibri" pitchFamily="34" charset="0"/>
                <a:ea typeface="Calibri" pitchFamily="34" charset="-122"/>
                <a:cs typeface="Calibri" pitchFamily="34" charset="-120"/>
              </a:rPr>
              <a:t>Everything is a string; lists are semicolon-separated strings. Scoping rules surprise everyone at least once.</a:t>
            </a:r>
            <a:endParaRPr lang="en-US" sz="1300" dirty="0"/>
          </a:p>
        </p:txBody>
      </p:sp>
      <p:sp>
        <p:nvSpPr>
          <p:cNvPr id="9" name="Shape 7"/>
          <p:cNvSpPr/>
          <p:nvPr/>
        </p:nvSpPr>
        <p:spPr>
          <a:xfrm>
            <a:off x="6263640" y="1481328"/>
            <a:ext cx="5257800" cy="1417320"/>
          </a:xfrm>
          <a:prstGeom prst="roundRect">
            <a:avLst>
              <a:gd name="adj" fmla="val 3871"/>
            </a:avLst>
          </a:prstGeom>
          <a:solidFill>
            <a:srgbClr val="F4F5F7"/>
          </a:solidFill>
          <a:ln w="12700">
            <a:solidFill>
              <a:srgbClr val="E3E6EA"/>
            </a:solidFill>
            <a:prstDash val="solid"/>
          </a:ln>
        </p:spPr>
        <p:txBody>
          <a:bodyPr/>
          <a:lstStyle/>
          <a:p>
            <a:endParaRPr lang="en-US"/>
          </a:p>
        </p:txBody>
      </p:sp>
      <p:sp>
        <p:nvSpPr>
          <p:cNvPr id="10" name="Text 8"/>
          <p:cNvSpPr txBox="1"/>
          <p:nvPr/>
        </p:nvSpPr>
        <p:spPr>
          <a:xfrm>
            <a:off x="6519672" y="1719072"/>
            <a:ext cx="4764024" cy="347472"/>
          </a:xfrm>
          <a:prstGeom prst="rect">
            <a:avLst/>
          </a:prstGeom>
          <a:noFill/>
          <a:ln/>
        </p:spPr>
        <p:txBody>
          <a:bodyPr wrap="square" lIns="0" tIns="0" rIns="0" bIns="0" rtlCol="0" anchor="ctr"/>
          <a:lstStyle/>
          <a:p>
            <a:pPr marL="0" indent="0">
              <a:buNone/>
            </a:pPr>
            <a:r>
              <a:rPr lang="en-US" sz="1500" b="1" dirty="0">
                <a:solidFill>
                  <a:srgbClr val="1F2430"/>
                </a:solidFill>
                <a:latin typeface="Calibri" pitchFamily="34" charset="0"/>
                <a:ea typeface="Calibri" pitchFamily="34" charset="-122"/>
                <a:cs typeface="Calibri" pitchFamily="34" charset="-120"/>
              </a:rPr>
              <a:t>Two eras of style</a:t>
            </a:r>
            <a:endParaRPr lang="en-US" sz="1500" dirty="0"/>
          </a:p>
        </p:txBody>
      </p:sp>
      <p:sp>
        <p:nvSpPr>
          <p:cNvPr id="11" name="Text 9"/>
          <p:cNvSpPr txBox="1"/>
          <p:nvPr/>
        </p:nvSpPr>
        <p:spPr>
          <a:xfrm>
            <a:off x="6519672" y="2139696"/>
            <a:ext cx="4745736" cy="630936"/>
          </a:xfrm>
          <a:prstGeom prst="rect">
            <a:avLst/>
          </a:prstGeom>
          <a:noFill/>
          <a:ln/>
        </p:spPr>
        <p:txBody>
          <a:bodyPr wrap="square" lIns="0" tIns="0" rIns="0" bIns="0" rtlCol="0" anchor="t"/>
          <a:lstStyle/>
          <a:p>
            <a:pPr marL="0" indent="0">
              <a:lnSpc>
                <a:spcPct val="115000"/>
              </a:lnSpc>
              <a:buNone/>
            </a:pPr>
            <a:r>
              <a:rPr lang="en-US" sz="1300" dirty="0">
                <a:solidFill>
                  <a:srgbClr val="3A4354"/>
                </a:solidFill>
                <a:latin typeface="Calibri" pitchFamily="34" charset="0"/>
                <a:ea typeface="Calibri" pitchFamily="34" charset="-122"/>
                <a:cs typeface="Calibri" pitchFamily="34" charset="-120"/>
              </a:rPr>
              <a:t>Most search results show pre-2014 directory-scoped CMake. Modern target-based CMake looks quite different and mixing them is where projects get into trouble.</a:t>
            </a:r>
            <a:endParaRPr lang="en-US" sz="1300" dirty="0"/>
          </a:p>
        </p:txBody>
      </p:sp>
      <p:sp>
        <p:nvSpPr>
          <p:cNvPr id="12" name="Shape 10"/>
          <p:cNvSpPr/>
          <p:nvPr/>
        </p:nvSpPr>
        <p:spPr>
          <a:xfrm>
            <a:off x="640080" y="2962656"/>
            <a:ext cx="5257800" cy="1417320"/>
          </a:xfrm>
          <a:prstGeom prst="roundRect">
            <a:avLst>
              <a:gd name="adj" fmla="val 3871"/>
            </a:avLst>
          </a:prstGeom>
          <a:solidFill>
            <a:srgbClr val="F4F5F7"/>
          </a:solidFill>
          <a:ln w="12700">
            <a:solidFill>
              <a:srgbClr val="E3E6EA"/>
            </a:solidFill>
            <a:prstDash val="solid"/>
          </a:ln>
        </p:spPr>
        <p:txBody>
          <a:bodyPr/>
          <a:lstStyle/>
          <a:p>
            <a:endParaRPr lang="en-US"/>
          </a:p>
        </p:txBody>
      </p:sp>
      <p:sp>
        <p:nvSpPr>
          <p:cNvPr id="13" name="Text 11"/>
          <p:cNvSpPr txBox="1"/>
          <p:nvPr/>
        </p:nvSpPr>
        <p:spPr>
          <a:xfrm>
            <a:off x="896112" y="3200400"/>
            <a:ext cx="4764024" cy="347472"/>
          </a:xfrm>
          <a:prstGeom prst="rect">
            <a:avLst/>
          </a:prstGeom>
          <a:noFill/>
          <a:ln/>
        </p:spPr>
        <p:txBody>
          <a:bodyPr wrap="square" lIns="0" tIns="0" rIns="0" bIns="0" rtlCol="0" anchor="ctr"/>
          <a:lstStyle/>
          <a:p>
            <a:pPr marL="0" indent="0">
              <a:buNone/>
            </a:pPr>
            <a:r>
              <a:rPr lang="en-US" sz="1500" b="1" dirty="0">
                <a:solidFill>
                  <a:srgbClr val="1F2430"/>
                </a:solidFill>
                <a:latin typeface="Calibri" pitchFamily="34" charset="0"/>
                <a:ea typeface="Calibri" pitchFamily="34" charset="-122"/>
                <a:cs typeface="Calibri" pitchFamily="34" charset="-120"/>
              </a:rPr>
              <a:t>Error messages</a:t>
            </a:r>
            <a:endParaRPr lang="en-US" sz="1500" dirty="0"/>
          </a:p>
        </p:txBody>
      </p:sp>
      <p:sp>
        <p:nvSpPr>
          <p:cNvPr id="14" name="Text 12"/>
          <p:cNvSpPr txBox="1"/>
          <p:nvPr/>
        </p:nvSpPr>
        <p:spPr>
          <a:xfrm>
            <a:off x="896112" y="3621024"/>
            <a:ext cx="4745736" cy="630936"/>
          </a:xfrm>
          <a:prstGeom prst="rect">
            <a:avLst/>
          </a:prstGeom>
          <a:noFill/>
          <a:ln/>
        </p:spPr>
        <p:txBody>
          <a:bodyPr wrap="square" lIns="0" tIns="0" rIns="0" bIns="0" rtlCol="0" anchor="t"/>
          <a:lstStyle/>
          <a:p>
            <a:pPr marL="0" indent="0">
              <a:lnSpc>
                <a:spcPct val="115000"/>
              </a:lnSpc>
              <a:buNone/>
            </a:pPr>
            <a:r>
              <a:rPr lang="en-US" sz="1300" dirty="0">
                <a:solidFill>
                  <a:srgbClr val="3A4354"/>
                </a:solidFill>
                <a:latin typeface="Calibri" pitchFamily="34" charset="0"/>
                <a:ea typeface="Calibri" pitchFamily="34" charset="-122"/>
                <a:cs typeface="Calibri" pitchFamily="34" charset="-120"/>
              </a:rPr>
              <a:t>A find_package failure can produce a wall of text. Configure-time and build-time errors look similar but need different debugging.</a:t>
            </a:r>
            <a:endParaRPr lang="en-US" sz="1300" dirty="0"/>
          </a:p>
        </p:txBody>
      </p:sp>
      <p:sp>
        <p:nvSpPr>
          <p:cNvPr id="15" name="Shape 13"/>
          <p:cNvSpPr/>
          <p:nvPr/>
        </p:nvSpPr>
        <p:spPr>
          <a:xfrm>
            <a:off x="6263640" y="2962656"/>
            <a:ext cx="5257800" cy="1417320"/>
          </a:xfrm>
          <a:prstGeom prst="roundRect">
            <a:avLst>
              <a:gd name="adj" fmla="val 3871"/>
            </a:avLst>
          </a:prstGeom>
          <a:solidFill>
            <a:srgbClr val="F4F5F7"/>
          </a:solidFill>
          <a:ln w="12700">
            <a:solidFill>
              <a:srgbClr val="E3E6EA"/>
            </a:solidFill>
            <a:prstDash val="solid"/>
          </a:ln>
        </p:spPr>
        <p:txBody>
          <a:bodyPr/>
          <a:lstStyle/>
          <a:p>
            <a:endParaRPr lang="en-US"/>
          </a:p>
        </p:txBody>
      </p:sp>
      <p:sp>
        <p:nvSpPr>
          <p:cNvPr id="16" name="Text 14"/>
          <p:cNvSpPr txBox="1"/>
          <p:nvPr/>
        </p:nvSpPr>
        <p:spPr>
          <a:xfrm>
            <a:off x="6519672" y="3200400"/>
            <a:ext cx="4764024" cy="347472"/>
          </a:xfrm>
          <a:prstGeom prst="rect">
            <a:avLst/>
          </a:prstGeom>
          <a:noFill/>
          <a:ln/>
        </p:spPr>
        <p:txBody>
          <a:bodyPr wrap="square" lIns="0" tIns="0" rIns="0" bIns="0" rtlCol="0" anchor="ctr"/>
          <a:lstStyle/>
          <a:p>
            <a:pPr marL="0" indent="0">
              <a:buNone/>
            </a:pPr>
            <a:r>
              <a:rPr lang="en-US" sz="1500" b="1" dirty="0">
                <a:solidFill>
                  <a:srgbClr val="1F2430"/>
                </a:solidFill>
                <a:latin typeface="Calibri" pitchFamily="34" charset="0"/>
                <a:ea typeface="Calibri" pitchFamily="34" charset="-122"/>
                <a:cs typeface="Calibri" pitchFamily="34" charset="-120"/>
              </a:rPr>
              <a:t>A real dependency</a:t>
            </a:r>
            <a:endParaRPr lang="en-US" sz="1500" dirty="0"/>
          </a:p>
        </p:txBody>
      </p:sp>
      <p:sp>
        <p:nvSpPr>
          <p:cNvPr id="17" name="Text 15"/>
          <p:cNvSpPr txBox="1"/>
          <p:nvPr/>
        </p:nvSpPr>
        <p:spPr>
          <a:xfrm>
            <a:off x="6519672" y="3621024"/>
            <a:ext cx="4745736" cy="630936"/>
          </a:xfrm>
          <a:prstGeom prst="rect">
            <a:avLst/>
          </a:prstGeom>
          <a:noFill/>
          <a:ln/>
        </p:spPr>
        <p:txBody>
          <a:bodyPr wrap="square" lIns="0" tIns="0" rIns="0" bIns="0" rtlCol="0" anchor="t"/>
          <a:lstStyle/>
          <a:p>
            <a:pPr marL="0" indent="0">
              <a:lnSpc>
                <a:spcPct val="115000"/>
              </a:lnSpc>
              <a:buNone/>
            </a:pPr>
            <a:r>
              <a:rPr lang="en-US" sz="1300" dirty="0">
                <a:solidFill>
                  <a:srgbClr val="3A4354"/>
                </a:solidFill>
                <a:latin typeface="Calibri" pitchFamily="34" charset="0"/>
                <a:ea typeface="Calibri" pitchFamily="34" charset="-122"/>
                <a:cs typeface="Calibri" pitchFamily="34" charset="-120"/>
              </a:rPr>
              <a:t>CMake itself must be installed and reasonably current. Usually trivial, occasionally not on a locked-down machine.</a:t>
            </a:r>
            <a:endParaRPr lang="en-US" sz="1300" dirty="0"/>
          </a:p>
        </p:txBody>
      </p:sp>
      <p:sp>
        <p:nvSpPr>
          <p:cNvPr id="18" name="Shape 16"/>
          <p:cNvSpPr/>
          <p:nvPr/>
        </p:nvSpPr>
        <p:spPr>
          <a:xfrm>
            <a:off x="640080" y="4443984"/>
            <a:ext cx="5257800" cy="1417320"/>
          </a:xfrm>
          <a:prstGeom prst="roundRect">
            <a:avLst>
              <a:gd name="adj" fmla="val 3871"/>
            </a:avLst>
          </a:prstGeom>
          <a:solidFill>
            <a:srgbClr val="F4F5F7"/>
          </a:solidFill>
          <a:ln w="12700">
            <a:solidFill>
              <a:srgbClr val="E3E6EA"/>
            </a:solidFill>
            <a:prstDash val="solid"/>
          </a:ln>
        </p:spPr>
        <p:txBody>
          <a:bodyPr/>
          <a:lstStyle/>
          <a:p>
            <a:endParaRPr lang="en-US"/>
          </a:p>
        </p:txBody>
      </p:sp>
      <p:sp>
        <p:nvSpPr>
          <p:cNvPr id="19" name="Text 17"/>
          <p:cNvSpPr txBox="1"/>
          <p:nvPr/>
        </p:nvSpPr>
        <p:spPr>
          <a:xfrm>
            <a:off x="896112" y="4681728"/>
            <a:ext cx="4764024" cy="347472"/>
          </a:xfrm>
          <a:prstGeom prst="rect">
            <a:avLst/>
          </a:prstGeom>
          <a:noFill/>
          <a:ln/>
        </p:spPr>
        <p:txBody>
          <a:bodyPr wrap="square" lIns="0" tIns="0" rIns="0" bIns="0" rtlCol="0" anchor="ctr"/>
          <a:lstStyle/>
          <a:p>
            <a:pPr marL="0" indent="0">
              <a:buNone/>
            </a:pPr>
            <a:r>
              <a:rPr lang="en-US" sz="1500" b="1" dirty="0">
                <a:solidFill>
                  <a:srgbClr val="1F2430"/>
                </a:solidFill>
                <a:latin typeface="Calibri" pitchFamily="34" charset="0"/>
                <a:ea typeface="Calibri" pitchFamily="34" charset="-122"/>
                <a:cs typeface="Calibri" pitchFamily="34" charset="-120"/>
              </a:rPr>
              <a:t>Migration is work</a:t>
            </a:r>
            <a:endParaRPr lang="en-US" sz="1500" dirty="0"/>
          </a:p>
        </p:txBody>
      </p:sp>
      <p:sp>
        <p:nvSpPr>
          <p:cNvPr id="20" name="Text 18"/>
          <p:cNvSpPr txBox="1"/>
          <p:nvPr/>
        </p:nvSpPr>
        <p:spPr>
          <a:xfrm>
            <a:off x="896112" y="5102352"/>
            <a:ext cx="4745736" cy="630936"/>
          </a:xfrm>
          <a:prstGeom prst="rect">
            <a:avLst/>
          </a:prstGeom>
          <a:noFill/>
          <a:ln/>
        </p:spPr>
        <p:txBody>
          <a:bodyPr wrap="square" lIns="0" tIns="0" rIns="0" bIns="0" rtlCol="0" anchor="t"/>
          <a:lstStyle/>
          <a:p>
            <a:pPr marL="0" indent="0">
              <a:lnSpc>
                <a:spcPct val="115000"/>
              </a:lnSpc>
              <a:buNone/>
            </a:pPr>
            <a:r>
              <a:rPr lang="en-US" sz="1300" dirty="0">
                <a:solidFill>
                  <a:srgbClr val="3A4354"/>
                </a:solidFill>
                <a:latin typeface="Calibri" pitchFamily="34" charset="0"/>
                <a:ea typeface="Calibri" pitchFamily="34" charset="-122"/>
                <a:cs typeface="Calibri" pitchFamily="34" charset="-120"/>
              </a:rPr>
              <a:t>A large legacy build is a genuine multi-week project, not an afternoon.</a:t>
            </a:r>
            <a:endParaRPr lang="en-US" sz="1300" dirty="0"/>
          </a:p>
        </p:txBody>
      </p:sp>
      <p:sp>
        <p:nvSpPr>
          <p:cNvPr id="21" name="Shape 19"/>
          <p:cNvSpPr/>
          <p:nvPr/>
        </p:nvSpPr>
        <p:spPr>
          <a:xfrm>
            <a:off x="6263640" y="4443984"/>
            <a:ext cx="5257800" cy="1417320"/>
          </a:xfrm>
          <a:prstGeom prst="roundRect">
            <a:avLst>
              <a:gd name="adj" fmla="val 3871"/>
            </a:avLst>
          </a:prstGeom>
          <a:solidFill>
            <a:srgbClr val="F4F5F7"/>
          </a:solidFill>
          <a:ln w="12700">
            <a:solidFill>
              <a:srgbClr val="E3E6EA"/>
            </a:solidFill>
            <a:prstDash val="solid"/>
          </a:ln>
        </p:spPr>
        <p:txBody>
          <a:bodyPr/>
          <a:lstStyle/>
          <a:p>
            <a:endParaRPr lang="en-US"/>
          </a:p>
        </p:txBody>
      </p:sp>
      <p:sp>
        <p:nvSpPr>
          <p:cNvPr id="22" name="Text 20"/>
          <p:cNvSpPr txBox="1"/>
          <p:nvPr/>
        </p:nvSpPr>
        <p:spPr>
          <a:xfrm>
            <a:off x="6519672" y="4681728"/>
            <a:ext cx="4764024" cy="347472"/>
          </a:xfrm>
          <a:prstGeom prst="rect">
            <a:avLst/>
          </a:prstGeom>
          <a:noFill/>
          <a:ln/>
        </p:spPr>
        <p:txBody>
          <a:bodyPr wrap="square" lIns="0" tIns="0" rIns="0" bIns="0" rtlCol="0" anchor="ctr"/>
          <a:lstStyle/>
          <a:p>
            <a:pPr marL="0" indent="0">
              <a:buNone/>
            </a:pPr>
            <a:r>
              <a:rPr lang="en-US" sz="1500" b="1" dirty="0">
                <a:solidFill>
                  <a:srgbClr val="1F2430"/>
                </a:solidFill>
                <a:latin typeface="Calibri" pitchFamily="34" charset="0"/>
                <a:ea typeface="Calibri" pitchFamily="34" charset="-122"/>
                <a:cs typeface="Calibri" pitchFamily="34" charset="-120"/>
              </a:rPr>
              <a:t>Fortran is a minority</a:t>
            </a:r>
            <a:endParaRPr lang="en-US" sz="1500" dirty="0"/>
          </a:p>
        </p:txBody>
      </p:sp>
      <p:sp>
        <p:nvSpPr>
          <p:cNvPr id="23" name="Text 21"/>
          <p:cNvSpPr txBox="1"/>
          <p:nvPr/>
        </p:nvSpPr>
        <p:spPr>
          <a:xfrm>
            <a:off x="6519672" y="5102352"/>
            <a:ext cx="4745736" cy="630936"/>
          </a:xfrm>
          <a:prstGeom prst="rect">
            <a:avLst/>
          </a:prstGeom>
          <a:noFill/>
          <a:ln/>
        </p:spPr>
        <p:txBody>
          <a:bodyPr wrap="square" lIns="0" tIns="0" rIns="0" bIns="0" rtlCol="0" anchor="t"/>
          <a:lstStyle/>
          <a:p>
            <a:pPr marL="0" indent="0">
              <a:lnSpc>
                <a:spcPct val="115000"/>
              </a:lnSpc>
              <a:buNone/>
            </a:pPr>
            <a:r>
              <a:rPr lang="en-US" sz="1300" dirty="0">
                <a:solidFill>
                  <a:srgbClr val="3A4354"/>
                </a:solidFill>
                <a:latin typeface="Calibri" pitchFamily="34" charset="0"/>
                <a:ea typeface="Calibri" pitchFamily="34" charset="-122"/>
                <a:cs typeface="Calibri" pitchFamily="34" charset="-120"/>
              </a:rPr>
              <a:t>Most CMake documentation and examples are C/C++. Fortran support is solid, but you will be extrapolating.</a:t>
            </a:r>
            <a:endParaRPr lang="en-US" sz="1300" dirty="0"/>
          </a:p>
        </p:txBody>
      </p:sp>
      <p:sp>
        <p:nvSpPr>
          <p:cNvPr id="24" name="Text 22"/>
          <p:cNvSpPr txBox="1"/>
          <p:nvPr/>
        </p:nvSpPr>
        <p:spPr>
          <a:xfrm>
            <a:off x="640080" y="5961888"/>
            <a:ext cx="10881360" cy="310896"/>
          </a:xfrm>
          <a:prstGeom prst="rect">
            <a:avLst/>
          </a:prstGeom>
          <a:noFill/>
          <a:ln/>
        </p:spPr>
        <p:txBody>
          <a:bodyPr wrap="square" lIns="0" tIns="0" rIns="0" bIns="0" rtlCol="0" anchor="ctr"/>
          <a:lstStyle/>
          <a:p>
            <a:pPr marL="0" indent="0">
              <a:buNone/>
            </a:pPr>
            <a:r>
              <a:rPr lang="en-US" sz="1300" i="1" dirty="0">
                <a:solidFill>
                  <a:srgbClr val="EF6C1A"/>
                </a:solidFill>
                <a:latin typeface="Calibri" pitchFamily="34" charset="0"/>
                <a:ea typeface="Calibri" pitchFamily="34" charset="-122"/>
                <a:cs typeface="Calibri" pitchFamily="34" charset="-120"/>
              </a:rPr>
              <a:t>None of these is a reason to keep a hand-written Makefile. They are reasons to budget properly for the switch and to agree on a style up front.</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6327648"/>
            <a:ext cx="4572000" cy="274320"/>
          </a:xfrm>
          <a:prstGeom prst="rect">
            <a:avLst/>
          </a:prstGeom>
          <a:noFill/>
          <a:ln/>
        </p:spPr>
        <p:txBody>
          <a:bodyPr wrap="square" lIns="0" tIns="0" rIns="0" bIns="0" rtlCol="0" anchor="ctr"/>
          <a:lstStyle/>
          <a:p>
            <a:pPr marL="0" indent="0">
              <a:buNone/>
            </a:pPr>
            <a:r>
              <a:rPr lang="en-US" sz="1000" dirty="0">
                <a:solidFill>
                  <a:srgbClr val="AEB5BF"/>
                </a:solidFill>
                <a:latin typeface="Calibri" pitchFamily="34" charset="0"/>
                <a:ea typeface="Calibri" pitchFamily="34" charset="-122"/>
                <a:cs typeface="Calibri" pitchFamily="34" charset="-120"/>
              </a:rPr>
              <a:t>CMake for Fortran</a:t>
            </a:r>
            <a:endParaRPr lang="en-US" sz="1000" dirty="0"/>
          </a:p>
        </p:txBody>
      </p:sp>
      <p:sp>
        <p:nvSpPr>
          <p:cNvPr id="3" name="Text 1"/>
          <p:cNvSpPr txBox="1"/>
          <p:nvPr/>
        </p:nvSpPr>
        <p:spPr>
          <a:xfrm>
            <a:off x="10607040" y="6327648"/>
            <a:ext cx="914400" cy="274320"/>
          </a:xfrm>
          <a:prstGeom prst="rect">
            <a:avLst/>
          </a:prstGeom>
          <a:noFill/>
          <a:ln/>
        </p:spPr>
        <p:txBody>
          <a:bodyPr wrap="square" lIns="0" tIns="0" rIns="0" bIns="0" rtlCol="0" anchor="ctr"/>
          <a:lstStyle/>
          <a:p>
            <a:pPr marL="0" indent="0" algn="r">
              <a:buNone/>
            </a:pPr>
            <a:r>
              <a:rPr lang="en-US" sz="1000" dirty="0">
                <a:solidFill>
                  <a:srgbClr val="AEB5BF"/>
                </a:solidFill>
                <a:latin typeface="Calibri" pitchFamily="34" charset="0"/>
                <a:ea typeface="Calibri" pitchFamily="34" charset="-122"/>
                <a:cs typeface="Calibri" pitchFamily="34" charset="-120"/>
              </a:rPr>
              <a:t>24</a:t>
            </a:r>
            <a:endParaRPr lang="en-US" sz="1000" dirty="0"/>
          </a:p>
        </p:txBody>
      </p:sp>
      <p:sp>
        <p:nvSpPr>
          <p:cNvPr id="4" name="Text 2"/>
          <p:cNvSpPr txBox="1"/>
          <p:nvPr/>
        </p:nvSpPr>
        <p:spPr>
          <a:xfrm>
            <a:off x="640080" y="384048"/>
            <a:ext cx="10881360" cy="256032"/>
          </a:xfrm>
          <a:prstGeom prst="rect">
            <a:avLst/>
          </a:prstGeom>
          <a:noFill/>
          <a:ln/>
        </p:spPr>
        <p:txBody>
          <a:bodyPr wrap="square" lIns="0" tIns="0" rIns="0" bIns="0" rtlCol="0" anchor="ctr"/>
          <a:lstStyle/>
          <a:p>
            <a:pPr marL="0" indent="0">
              <a:buNone/>
            </a:pPr>
            <a:r>
              <a:rPr lang="en-US" sz="1100" b="1" kern="0" spc="200" dirty="0">
                <a:solidFill>
                  <a:srgbClr val="EF6C1A"/>
                </a:solidFill>
                <a:latin typeface="Calibri" pitchFamily="34" charset="0"/>
                <a:ea typeface="Calibri" pitchFamily="34" charset="-122"/>
                <a:cs typeface="Calibri" pitchFamily="34" charset="-120"/>
              </a:rPr>
              <a:t>ADOPTION</a:t>
            </a:r>
            <a:endParaRPr lang="en-US" sz="1100" dirty="0"/>
          </a:p>
        </p:txBody>
      </p:sp>
      <p:sp>
        <p:nvSpPr>
          <p:cNvPr id="5" name="Text 3"/>
          <p:cNvSpPr txBox="1"/>
          <p:nvPr/>
        </p:nvSpPr>
        <p:spPr>
          <a:xfrm>
            <a:off x="640080" y="658368"/>
            <a:ext cx="10881360" cy="658368"/>
          </a:xfrm>
          <a:prstGeom prst="rect">
            <a:avLst/>
          </a:prstGeom>
          <a:noFill/>
          <a:ln/>
        </p:spPr>
        <p:txBody>
          <a:bodyPr wrap="square" lIns="0" tIns="0" rIns="0" bIns="0" rtlCol="0" anchor="t"/>
          <a:lstStyle/>
          <a:p>
            <a:pPr marL="0" indent="0">
              <a:buNone/>
            </a:pPr>
            <a:r>
              <a:rPr lang="en-US" sz="3000" b="1" dirty="0">
                <a:solidFill>
                  <a:srgbClr val="1F2430"/>
                </a:solidFill>
                <a:latin typeface="Cambria" pitchFamily="34" charset="0"/>
                <a:ea typeface="Cambria" pitchFamily="34" charset="-122"/>
                <a:cs typeface="Cambria" pitchFamily="34" charset="-120"/>
              </a:rPr>
              <a:t>Migrating without a big bang</a:t>
            </a:r>
            <a:endParaRPr lang="en-US" sz="3000" dirty="0"/>
          </a:p>
        </p:txBody>
      </p:sp>
      <p:sp>
        <p:nvSpPr>
          <p:cNvPr id="6" name="Shape 4"/>
          <p:cNvSpPr/>
          <p:nvPr/>
        </p:nvSpPr>
        <p:spPr>
          <a:xfrm>
            <a:off x="640080" y="1773936"/>
            <a:ext cx="457200" cy="457200"/>
          </a:xfrm>
          <a:prstGeom prst="ellipse">
            <a:avLst/>
          </a:prstGeom>
          <a:solidFill>
            <a:srgbClr val="EF6C1A"/>
          </a:solidFill>
          <a:ln w="12700">
            <a:solidFill>
              <a:srgbClr val="EF6C1A"/>
            </a:solidFill>
            <a:prstDash val="solid"/>
          </a:ln>
        </p:spPr>
        <p:txBody>
          <a:bodyPr/>
          <a:lstStyle/>
          <a:p>
            <a:endParaRPr lang="en-US"/>
          </a:p>
        </p:txBody>
      </p:sp>
      <p:sp>
        <p:nvSpPr>
          <p:cNvPr id="7" name="Text 5"/>
          <p:cNvSpPr txBox="1"/>
          <p:nvPr/>
        </p:nvSpPr>
        <p:spPr>
          <a:xfrm>
            <a:off x="640080" y="1773936"/>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298448" y="1691640"/>
            <a:ext cx="3291840" cy="658368"/>
          </a:xfrm>
          <a:prstGeom prst="rect">
            <a:avLst/>
          </a:prstGeom>
          <a:noFill/>
          <a:ln/>
        </p:spPr>
        <p:txBody>
          <a:bodyPr wrap="square" lIns="0" tIns="0" rIns="0" bIns="0" rtlCol="0" anchor="ctr"/>
          <a:lstStyle/>
          <a:p>
            <a:pPr marL="0" indent="0">
              <a:buNone/>
            </a:pPr>
            <a:r>
              <a:rPr lang="en-US" sz="1500" b="1" dirty="0">
                <a:solidFill>
                  <a:srgbClr val="1F2430"/>
                </a:solidFill>
                <a:latin typeface="Calibri" pitchFamily="34" charset="0"/>
                <a:ea typeface="Calibri" pitchFamily="34" charset="-122"/>
                <a:cs typeface="Calibri" pitchFamily="34" charset="-120"/>
              </a:rPr>
              <a:t>Build one leaf library</a:t>
            </a:r>
            <a:endParaRPr lang="en-US" sz="1500" dirty="0"/>
          </a:p>
        </p:txBody>
      </p:sp>
      <p:sp>
        <p:nvSpPr>
          <p:cNvPr id="9" name="Text 7"/>
          <p:cNvSpPr txBox="1"/>
          <p:nvPr/>
        </p:nvSpPr>
        <p:spPr>
          <a:xfrm>
            <a:off x="4160520" y="1691640"/>
            <a:ext cx="7360920" cy="658368"/>
          </a:xfrm>
          <a:prstGeom prst="rect">
            <a:avLst/>
          </a:prstGeom>
          <a:noFill/>
          <a:ln/>
        </p:spPr>
        <p:txBody>
          <a:bodyPr wrap="square" lIns="0" tIns="0" rIns="0" bIns="0" rtlCol="0" anchor="ctr"/>
          <a:lstStyle/>
          <a:p>
            <a:pPr marL="0" indent="0">
              <a:lnSpc>
                <a:spcPct val="112000"/>
              </a:lnSpc>
              <a:buNone/>
            </a:pPr>
            <a:r>
              <a:rPr lang="en-US" sz="1300" dirty="0">
                <a:solidFill>
                  <a:srgbClr val="3A4354"/>
                </a:solidFill>
                <a:latin typeface="Calibri" pitchFamily="34" charset="0"/>
                <a:ea typeface="Calibri" pitchFamily="34" charset="-122"/>
                <a:cs typeface="Calibri" pitchFamily="34" charset="-120"/>
              </a:rPr>
              <a:t>Pick the component with the fewest dependencies. Get add_library and the module directory working. A day, not a sprint.</a:t>
            </a:r>
            <a:endParaRPr lang="en-US" sz="1300" dirty="0"/>
          </a:p>
        </p:txBody>
      </p:sp>
      <p:sp>
        <p:nvSpPr>
          <p:cNvPr id="10" name="Shape 8"/>
          <p:cNvSpPr/>
          <p:nvPr/>
        </p:nvSpPr>
        <p:spPr>
          <a:xfrm>
            <a:off x="640080" y="2670048"/>
            <a:ext cx="457200" cy="457200"/>
          </a:xfrm>
          <a:prstGeom prst="ellipse">
            <a:avLst/>
          </a:prstGeom>
          <a:solidFill>
            <a:srgbClr val="EF6C1A"/>
          </a:solidFill>
          <a:ln w="12700">
            <a:solidFill>
              <a:srgbClr val="EF6C1A"/>
            </a:solidFill>
            <a:prstDash val="solid"/>
          </a:ln>
        </p:spPr>
        <p:txBody>
          <a:bodyPr/>
          <a:lstStyle/>
          <a:p>
            <a:endParaRPr lang="en-US"/>
          </a:p>
        </p:txBody>
      </p:sp>
      <p:sp>
        <p:nvSpPr>
          <p:cNvPr id="11" name="Text 9"/>
          <p:cNvSpPr txBox="1"/>
          <p:nvPr/>
        </p:nvSpPr>
        <p:spPr>
          <a:xfrm>
            <a:off x="640080" y="267004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1298448" y="2587752"/>
            <a:ext cx="3291840" cy="658368"/>
          </a:xfrm>
          <a:prstGeom prst="rect">
            <a:avLst/>
          </a:prstGeom>
          <a:noFill/>
          <a:ln/>
        </p:spPr>
        <p:txBody>
          <a:bodyPr wrap="square" lIns="0" tIns="0" rIns="0" bIns="0" rtlCol="0" anchor="ctr"/>
          <a:lstStyle/>
          <a:p>
            <a:pPr marL="0" indent="0">
              <a:buNone/>
            </a:pPr>
            <a:r>
              <a:rPr lang="en-US" sz="1500" b="1" dirty="0">
                <a:solidFill>
                  <a:srgbClr val="1F2430"/>
                </a:solidFill>
                <a:latin typeface="Calibri" pitchFamily="34" charset="0"/>
                <a:ea typeface="Calibri" pitchFamily="34" charset="-122"/>
                <a:cs typeface="Calibri" pitchFamily="34" charset="-120"/>
              </a:rPr>
              <a:t>Add tests immediately</a:t>
            </a:r>
            <a:endParaRPr lang="en-US" sz="1500" dirty="0"/>
          </a:p>
        </p:txBody>
      </p:sp>
      <p:sp>
        <p:nvSpPr>
          <p:cNvPr id="13" name="Text 11"/>
          <p:cNvSpPr txBox="1"/>
          <p:nvPr/>
        </p:nvSpPr>
        <p:spPr>
          <a:xfrm>
            <a:off x="4160520" y="2587752"/>
            <a:ext cx="7360920" cy="658368"/>
          </a:xfrm>
          <a:prstGeom prst="rect">
            <a:avLst/>
          </a:prstGeom>
          <a:noFill/>
          <a:ln/>
        </p:spPr>
        <p:txBody>
          <a:bodyPr wrap="square" lIns="0" tIns="0" rIns="0" bIns="0" rtlCol="0" anchor="ctr"/>
          <a:lstStyle/>
          <a:p>
            <a:pPr marL="0" indent="0">
              <a:lnSpc>
                <a:spcPct val="112000"/>
              </a:lnSpc>
              <a:buNone/>
            </a:pPr>
            <a:r>
              <a:rPr lang="en-US" sz="1300" dirty="0">
                <a:solidFill>
                  <a:srgbClr val="3A4354"/>
                </a:solidFill>
                <a:latin typeface="Calibri" pitchFamily="34" charset="0"/>
                <a:ea typeface="Calibri" pitchFamily="34" charset="-122"/>
                <a:cs typeface="Calibri" pitchFamily="34" charset="-120"/>
              </a:rPr>
              <a:t>Even one add_test that runs the existing executable and greps the output. It makes every later step safe.</a:t>
            </a:r>
            <a:endParaRPr lang="en-US" sz="1300" dirty="0"/>
          </a:p>
        </p:txBody>
      </p:sp>
      <p:sp>
        <p:nvSpPr>
          <p:cNvPr id="14" name="Shape 12"/>
          <p:cNvSpPr/>
          <p:nvPr/>
        </p:nvSpPr>
        <p:spPr>
          <a:xfrm>
            <a:off x="640080" y="3566160"/>
            <a:ext cx="457200" cy="457200"/>
          </a:xfrm>
          <a:prstGeom prst="ellipse">
            <a:avLst/>
          </a:prstGeom>
          <a:solidFill>
            <a:srgbClr val="EF6C1A"/>
          </a:solidFill>
          <a:ln w="12700">
            <a:solidFill>
              <a:srgbClr val="EF6C1A"/>
            </a:solidFill>
            <a:prstDash val="solid"/>
          </a:ln>
        </p:spPr>
        <p:txBody>
          <a:bodyPr/>
          <a:lstStyle/>
          <a:p>
            <a:endParaRPr lang="en-US"/>
          </a:p>
        </p:txBody>
      </p:sp>
      <p:sp>
        <p:nvSpPr>
          <p:cNvPr id="15" name="Text 13"/>
          <p:cNvSpPr txBox="1"/>
          <p:nvPr/>
        </p:nvSpPr>
        <p:spPr>
          <a:xfrm>
            <a:off x="640080" y="356616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txBox="1"/>
          <p:nvPr/>
        </p:nvSpPr>
        <p:spPr>
          <a:xfrm>
            <a:off x="1298448" y="3483864"/>
            <a:ext cx="3291840" cy="658368"/>
          </a:xfrm>
          <a:prstGeom prst="rect">
            <a:avLst/>
          </a:prstGeom>
          <a:noFill/>
          <a:ln/>
        </p:spPr>
        <p:txBody>
          <a:bodyPr wrap="square" lIns="0" tIns="0" rIns="0" bIns="0" rtlCol="0" anchor="ctr"/>
          <a:lstStyle/>
          <a:p>
            <a:pPr marL="0" indent="0">
              <a:buNone/>
            </a:pPr>
            <a:r>
              <a:rPr lang="en-US" sz="1500" b="1" dirty="0">
                <a:solidFill>
                  <a:srgbClr val="1F2430"/>
                </a:solidFill>
                <a:latin typeface="Calibri" pitchFamily="34" charset="0"/>
                <a:ea typeface="Calibri" pitchFamily="34" charset="-122"/>
                <a:cs typeface="Calibri" pitchFamily="34" charset="-120"/>
              </a:rPr>
              <a:t>Work up the graph</a:t>
            </a:r>
            <a:endParaRPr lang="en-US" sz="1500" dirty="0"/>
          </a:p>
        </p:txBody>
      </p:sp>
      <p:sp>
        <p:nvSpPr>
          <p:cNvPr id="17" name="Text 15"/>
          <p:cNvSpPr txBox="1"/>
          <p:nvPr/>
        </p:nvSpPr>
        <p:spPr>
          <a:xfrm>
            <a:off x="4160520" y="3483864"/>
            <a:ext cx="7360920" cy="658368"/>
          </a:xfrm>
          <a:prstGeom prst="rect">
            <a:avLst/>
          </a:prstGeom>
          <a:noFill/>
          <a:ln/>
        </p:spPr>
        <p:txBody>
          <a:bodyPr wrap="square" lIns="0" tIns="0" rIns="0" bIns="0" rtlCol="0" anchor="ctr"/>
          <a:lstStyle/>
          <a:p>
            <a:pPr marL="0" indent="0">
              <a:lnSpc>
                <a:spcPct val="112000"/>
              </a:lnSpc>
              <a:buNone/>
            </a:pPr>
            <a:r>
              <a:rPr lang="en-US" sz="1300" dirty="0">
                <a:solidFill>
                  <a:srgbClr val="3A4354"/>
                </a:solidFill>
                <a:latin typeface="Calibri" pitchFamily="34" charset="0"/>
                <a:ea typeface="Calibri" pitchFamily="34" charset="-122"/>
                <a:cs typeface="Calibri" pitchFamily="34" charset="-120"/>
              </a:rPr>
              <a:t>Convert dependencies before dependents. Keep the old Makefile alive in parallel until the new build reproduces its results bit for bit.</a:t>
            </a:r>
            <a:endParaRPr lang="en-US" sz="1300" dirty="0"/>
          </a:p>
        </p:txBody>
      </p:sp>
      <p:sp>
        <p:nvSpPr>
          <p:cNvPr id="18" name="Shape 16"/>
          <p:cNvSpPr/>
          <p:nvPr/>
        </p:nvSpPr>
        <p:spPr>
          <a:xfrm>
            <a:off x="640080" y="4462272"/>
            <a:ext cx="457200" cy="457200"/>
          </a:xfrm>
          <a:prstGeom prst="ellipse">
            <a:avLst/>
          </a:prstGeom>
          <a:solidFill>
            <a:srgbClr val="EF6C1A"/>
          </a:solidFill>
          <a:ln w="12700">
            <a:solidFill>
              <a:srgbClr val="EF6C1A"/>
            </a:solidFill>
            <a:prstDash val="solid"/>
          </a:ln>
        </p:spPr>
        <p:txBody>
          <a:bodyPr/>
          <a:lstStyle/>
          <a:p>
            <a:endParaRPr lang="en-US"/>
          </a:p>
        </p:txBody>
      </p:sp>
      <p:sp>
        <p:nvSpPr>
          <p:cNvPr id="19" name="Text 17"/>
          <p:cNvSpPr txBox="1"/>
          <p:nvPr/>
        </p:nvSpPr>
        <p:spPr>
          <a:xfrm>
            <a:off x="640080" y="446227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8"/>
          <p:cNvSpPr txBox="1"/>
          <p:nvPr/>
        </p:nvSpPr>
        <p:spPr>
          <a:xfrm>
            <a:off x="1298448" y="4379976"/>
            <a:ext cx="3291840" cy="658368"/>
          </a:xfrm>
          <a:prstGeom prst="rect">
            <a:avLst/>
          </a:prstGeom>
          <a:noFill/>
          <a:ln/>
        </p:spPr>
        <p:txBody>
          <a:bodyPr wrap="square" lIns="0" tIns="0" rIns="0" bIns="0" rtlCol="0" anchor="ctr"/>
          <a:lstStyle/>
          <a:p>
            <a:pPr marL="0" indent="0">
              <a:buNone/>
            </a:pPr>
            <a:r>
              <a:rPr lang="en-US" sz="1500" b="1" dirty="0">
                <a:solidFill>
                  <a:srgbClr val="1F2430"/>
                </a:solidFill>
                <a:latin typeface="Calibri" pitchFamily="34" charset="0"/>
                <a:ea typeface="Calibri" pitchFamily="34" charset="-122"/>
                <a:cs typeface="Calibri" pitchFamily="34" charset="-120"/>
              </a:rPr>
              <a:t>Compare, then delete</a:t>
            </a:r>
            <a:endParaRPr lang="en-US" sz="1500" dirty="0"/>
          </a:p>
        </p:txBody>
      </p:sp>
      <p:sp>
        <p:nvSpPr>
          <p:cNvPr id="21" name="Text 19"/>
          <p:cNvSpPr txBox="1"/>
          <p:nvPr/>
        </p:nvSpPr>
        <p:spPr>
          <a:xfrm>
            <a:off x="4160520" y="4379976"/>
            <a:ext cx="7360920" cy="658368"/>
          </a:xfrm>
          <a:prstGeom prst="rect">
            <a:avLst/>
          </a:prstGeom>
          <a:noFill/>
          <a:ln/>
        </p:spPr>
        <p:txBody>
          <a:bodyPr wrap="square" lIns="0" tIns="0" rIns="0" bIns="0" rtlCol="0" anchor="ctr"/>
          <a:lstStyle/>
          <a:p>
            <a:pPr marL="0" indent="0">
              <a:lnSpc>
                <a:spcPct val="112000"/>
              </a:lnSpc>
              <a:buNone/>
            </a:pPr>
            <a:r>
              <a:rPr lang="en-US" sz="1300" dirty="0">
                <a:solidFill>
                  <a:srgbClr val="3A4354"/>
                </a:solidFill>
                <a:latin typeface="Calibri" pitchFamily="34" charset="0"/>
                <a:ea typeface="Calibri" pitchFamily="34" charset="-122"/>
                <a:cs typeface="Calibri" pitchFamily="34" charset="-120"/>
              </a:rPr>
              <a:t>Diff the outputs of both builds on your reference case. When they agree, remove the Makefile - do not keep two build systems.</a:t>
            </a:r>
            <a:endParaRPr lang="en-US" sz="1300" dirty="0"/>
          </a:p>
        </p:txBody>
      </p:sp>
      <p:sp>
        <p:nvSpPr>
          <p:cNvPr id="22" name="Shape 20"/>
          <p:cNvSpPr/>
          <p:nvPr/>
        </p:nvSpPr>
        <p:spPr>
          <a:xfrm>
            <a:off x="640080" y="5358384"/>
            <a:ext cx="457200" cy="457200"/>
          </a:xfrm>
          <a:prstGeom prst="ellipse">
            <a:avLst/>
          </a:prstGeom>
          <a:solidFill>
            <a:srgbClr val="EF6C1A"/>
          </a:solidFill>
          <a:ln w="12700">
            <a:solidFill>
              <a:srgbClr val="EF6C1A"/>
            </a:solidFill>
            <a:prstDash val="solid"/>
          </a:ln>
        </p:spPr>
        <p:txBody>
          <a:bodyPr/>
          <a:lstStyle/>
          <a:p>
            <a:endParaRPr lang="en-US"/>
          </a:p>
        </p:txBody>
      </p:sp>
      <p:sp>
        <p:nvSpPr>
          <p:cNvPr id="23" name="Text 21"/>
          <p:cNvSpPr txBox="1"/>
          <p:nvPr/>
        </p:nvSpPr>
        <p:spPr>
          <a:xfrm>
            <a:off x="640080" y="5358384"/>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4" name="Text 22"/>
          <p:cNvSpPr txBox="1"/>
          <p:nvPr/>
        </p:nvSpPr>
        <p:spPr>
          <a:xfrm>
            <a:off x="1298448" y="5276088"/>
            <a:ext cx="3291840" cy="658368"/>
          </a:xfrm>
          <a:prstGeom prst="rect">
            <a:avLst/>
          </a:prstGeom>
          <a:noFill/>
          <a:ln/>
        </p:spPr>
        <p:txBody>
          <a:bodyPr wrap="square" lIns="0" tIns="0" rIns="0" bIns="0" rtlCol="0" anchor="ctr"/>
          <a:lstStyle/>
          <a:p>
            <a:pPr marL="0" indent="0">
              <a:buNone/>
            </a:pPr>
            <a:r>
              <a:rPr lang="en-US" sz="1500" b="1" dirty="0">
                <a:solidFill>
                  <a:srgbClr val="1F2430"/>
                </a:solidFill>
                <a:latin typeface="Calibri" pitchFamily="34" charset="0"/>
                <a:ea typeface="Calibri" pitchFamily="34" charset="-122"/>
                <a:cs typeface="Calibri" pitchFamily="34" charset="-120"/>
              </a:rPr>
              <a:t>Wire up CI and install</a:t>
            </a:r>
            <a:endParaRPr lang="en-US" sz="1500" dirty="0"/>
          </a:p>
        </p:txBody>
      </p:sp>
      <p:sp>
        <p:nvSpPr>
          <p:cNvPr id="25" name="Text 23"/>
          <p:cNvSpPr txBox="1"/>
          <p:nvPr/>
        </p:nvSpPr>
        <p:spPr>
          <a:xfrm>
            <a:off x="4160520" y="5276088"/>
            <a:ext cx="7360920" cy="658368"/>
          </a:xfrm>
          <a:prstGeom prst="rect">
            <a:avLst/>
          </a:prstGeom>
          <a:noFill/>
          <a:ln/>
        </p:spPr>
        <p:txBody>
          <a:bodyPr wrap="square" lIns="0" tIns="0" rIns="0" bIns="0" rtlCol="0" anchor="ctr"/>
          <a:lstStyle/>
          <a:p>
            <a:pPr marL="0" indent="0">
              <a:lnSpc>
                <a:spcPct val="112000"/>
              </a:lnSpc>
              <a:buNone/>
            </a:pPr>
            <a:r>
              <a:rPr lang="en-US" sz="1300" dirty="0">
                <a:solidFill>
                  <a:srgbClr val="3A4354"/>
                </a:solidFill>
                <a:latin typeface="Calibri" pitchFamily="34" charset="0"/>
                <a:ea typeface="Calibri" pitchFamily="34" charset="-122"/>
                <a:cs typeface="Calibri" pitchFamily="34" charset="-120"/>
              </a:rPr>
              <a:t>Now that configure/build/test are standard, add the CI matrix and the export/install boilerplate.</a:t>
            </a:r>
            <a:endParaRPr lang="en-US" sz="1300" dirty="0"/>
          </a:p>
        </p:txBody>
      </p:sp>
      <p:sp>
        <p:nvSpPr>
          <p:cNvPr id="26" name="Text 24"/>
          <p:cNvSpPr txBox="1"/>
          <p:nvPr/>
        </p:nvSpPr>
        <p:spPr>
          <a:xfrm>
            <a:off x="640080" y="5943600"/>
            <a:ext cx="10881360" cy="292608"/>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Bit-for-bit comparison against the old build is the step people skip and then regret.</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F2430"/>
        </a:solidFill>
        <a:effectLst/>
      </p:bgPr>
    </p:bg>
    <p:spTree>
      <p:nvGrpSpPr>
        <p:cNvPr id="1" name=""/>
        <p:cNvGrpSpPr/>
        <p:nvPr/>
      </p:nvGrpSpPr>
      <p:grpSpPr>
        <a:xfrm>
          <a:off x="0" y="0"/>
          <a:ext cx="0" cy="0"/>
          <a:chOff x="0" y="0"/>
          <a:chExt cx="0" cy="0"/>
        </a:xfrm>
      </p:grpSpPr>
      <p:sp>
        <p:nvSpPr>
          <p:cNvPr id="2" name="Text 0"/>
          <p:cNvSpPr txBox="1"/>
          <p:nvPr/>
        </p:nvSpPr>
        <p:spPr>
          <a:xfrm>
            <a:off x="640080" y="6327648"/>
            <a:ext cx="4572000" cy="274320"/>
          </a:xfrm>
          <a:prstGeom prst="rect">
            <a:avLst/>
          </a:prstGeom>
          <a:noFill/>
          <a:ln/>
        </p:spPr>
        <p:txBody>
          <a:bodyPr wrap="square" lIns="0" tIns="0" rIns="0" bIns="0" rtlCol="0" anchor="ctr"/>
          <a:lstStyle/>
          <a:p>
            <a:pPr marL="0" indent="0">
              <a:buNone/>
            </a:pPr>
            <a:r>
              <a:rPr lang="en-US" sz="1000" dirty="0">
                <a:solidFill>
                  <a:srgbClr val="4A5468"/>
                </a:solidFill>
                <a:latin typeface="Calibri" pitchFamily="34" charset="0"/>
                <a:ea typeface="Calibri" pitchFamily="34" charset="-122"/>
                <a:cs typeface="Calibri" pitchFamily="34" charset="-120"/>
              </a:rPr>
              <a:t>CMake for Fortran</a:t>
            </a:r>
            <a:endParaRPr lang="en-US" sz="1000" dirty="0"/>
          </a:p>
        </p:txBody>
      </p:sp>
      <p:sp>
        <p:nvSpPr>
          <p:cNvPr id="3" name="Text 1"/>
          <p:cNvSpPr txBox="1"/>
          <p:nvPr/>
        </p:nvSpPr>
        <p:spPr>
          <a:xfrm>
            <a:off x="10607040" y="6327648"/>
            <a:ext cx="914400" cy="274320"/>
          </a:xfrm>
          <a:prstGeom prst="rect">
            <a:avLst/>
          </a:prstGeom>
          <a:noFill/>
          <a:ln/>
        </p:spPr>
        <p:txBody>
          <a:bodyPr wrap="square" lIns="0" tIns="0" rIns="0" bIns="0" rtlCol="0" anchor="ctr"/>
          <a:lstStyle/>
          <a:p>
            <a:pPr marL="0" indent="0" algn="r">
              <a:buNone/>
            </a:pPr>
            <a:r>
              <a:rPr lang="en-US" sz="1000" dirty="0">
                <a:solidFill>
                  <a:srgbClr val="4A5468"/>
                </a:solidFill>
                <a:latin typeface="Calibri" pitchFamily="34" charset="0"/>
                <a:ea typeface="Calibri" pitchFamily="34" charset="-122"/>
                <a:cs typeface="Calibri" pitchFamily="34" charset="-120"/>
              </a:rPr>
              <a:t>25</a:t>
            </a:r>
            <a:endParaRPr lang="en-US" sz="1000" dirty="0"/>
          </a:p>
        </p:txBody>
      </p:sp>
      <p:sp>
        <p:nvSpPr>
          <p:cNvPr id="4" name="Text 2"/>
          <p:cNvSpPr txBox="1"/>
          <p:nvPr/>
        </p:nvSpPr>
        <p:spPr>
          <a:xfrm>
            <a:off x="640080" y="640080"/>
            <a:ext cx="73152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The short version</a:t>
            </a:r>
            <a:endParaRPr lang="en-US" sz="3200" dirty="0"/>
          </a:p>
        </p:txBody>
      </p:sp>
      <p:sp>
        <p:nvSpPr>
          <p:cNvPr id="5" name="Text 3"/>
          <p:cNvSpPr txBox="1"/>
          <p:nvPr/>
        </p:nvSpPr>
        <p:spPr>
          <a:xfrm>
            <a:off x="640080" y="1554480"/>
            <a:ext cx="5852160" cy="2377440"/>
          </a:xfrm>
          <a:prstGeom prst="rect">
            <a:avLst/>
          </a:prstGeom>
          <a:noFill/>
          <a:ln/>
        </p:spPr>
        <p:txBody>
          <a:bodyPr wrap="square" lIns="0" tIns="0" rIns="0" bIns="0" rtlCol="0" anchor="ctr"/>
          <a:lstStyle/>
          <a:p>
            <a:pPr marL="342900" indent="-342900">
              <a:lnSpc>
                <a:spcPct val="115000"/>
              </a:lnSpc>
              <a:spcAft>
                <a:spcPts val="1200"/>
              </a:spcAft>
              <a:buSzPct val="100000"/>
              <a:buChar char="•"/>
            </a:pPr>
            <a:r>
              <a:rPr lang="en-US" sz="1500" dirty="0">
                <a:solidFill>
                  <a:srgbClr val="D7DBE2"/>
                </a:solidFill>
                <a:latin typeface="Calibri" pitchFamily="34" charset="0"/>
                <a:ea typeface="Calibri" pitchFamily="34" charset="-122"/>
                <a:cs typeface="Calibri" pitchFamily="34" charset="-120"/>
              </a:rPr>
              <a:t>CMake generates the build; you describe intent, once, in one language.</a:t>
            </a:r>
            <a:endParaRPr lang="en-US" sz="1500" dirty="0"/>
          </a:p>
          <a:p>
            <a:pPr marL="342900" indent="-342900">
              <a:lnSpc>
                <a:spcPct val="115000"/>
              </a:lnSpc>
              <a:spcAft>
                <a:spcPts val="1200"/>
              </a:spcAft>
              <a:buSzPct val="100000"/>
              <a:buChar char="•"/>
            </a:pPr>
            <a:r>
              <a:rPr lang="en-US" sz="1500" dirty="0">
                <a:solidFill>
                  <a:srgbClr val="D7DBE2"/>
                </a:solidFill>
                <a:latin typeface="Calibri" pitchFamily="34" charset="0"/>
                <a:ea typeface="Calibri" pitchFamily="34" charset="-122"/>
                <a:cs typeface="Calibri" pitchFamily="34" charset="-120"/>
              </a:rPr>
              <a:t>Think in targets. Requirements belong to the target that owns them.</a:t>
            </a:r>
            <a:endParaRPr lang="en-US" sz="1500" dirty="0"/>
          </a:p>
          <a:p>
            <a:pPr marL="342900" indent="-342900">
              <a:lnSpc>
                <a:spcPct val="115000"/>
              </a:lnSpc>
              <a:spcAft>
                <a:spcPts val="1200"/>
              </a:spcAft>
              <a:buSzPct val="100000"/>
              <a:buChar char="•"/>
            </a:pPr>
            <a:r>
              <a:rPr lang="en-US" sz="1500" dirty="0">
                <a:solidFill>
                  <a:srgbClr val="D7DBE2"/>
                </a:solidFill>
                <a:latin typeface="Calibri" pitchFamily="34" charset="0"/>
                <a:ea typeface="Calibri" pitchFamily="34" charset="-122"/>
                <a:cs typeface="Calibri" pitchFamily="34" charset="-120"/>
              </a:rPr>
              <a:t>Fortran module order is derived, not maintained. That alone pays for the switch.</a:t>
            </a:r>
            <a:endParaRPr lang="en-US" sz="1500" dirty="0"/>
          </a:p>
          <a:p>
            <a:pPr marL="342900" indent="-342900">
              <a:lnSpc>
                <a:spcPct val="115000"/>
              </a:lnSpc>
              <a:spcAft>
                <a:spcPts val="1200"/>
              </a:spcAft>
              <a:buSzPct val="100000"/>
              <a:buChar char="•"/>
            </a:pPr>
            <a:r>
              <a:rPr lang="en-US" sz="1500" dirty="0">
                <a:solidFill>
                  <a:srgbClr val="D7DBE2"/>
                </a:solidFill>
                <a:latin typeface="Calibri" pitchFamily="34" charset="0"/>
                <a:ea typeface="Calibri" pitchFamily="34" charset="-122"/>
                <a:cs typeface="Calibri" pitchFamily="34" charset="-120"/>
              </a:rPr>
              <a:t>A standard configure / build / test / install interface is what makes CI, packaging and reuse possible.</a:t>
            </a:r>
            <a:endParaRPr lang="en-US" sz="1500" dirty="0"/>
          </a:p>
        </p:txBody>
      </p:sp>
      <p:sp>
        <p:nvSpPr>
          <p:cNvPr id="6" name="Text 4"/>
          <p:cNvSpPr txBox="1"/>
          <p:nvPr/>
        </p:nvSpPr>
        <p:spPr>
          <a:xfrm>
            <a:off x="640080" y="4114800"/>
            <a:ext cx="5852160" cy="329184"/>
          </a:xfrm>
          <a:prstGeom prst="rect">
            <a:avLst/>
          </a:prstGeom>
          <a:noFill/>
          <a:ln/>
        </p:spPr>
        <p:txBody>
          <a:bodyPr wrap="square" lIns="0" tIns="0" rIns="0" bIns="0" rtlCol="0" anchor="ctr"/>
          <a:lstStyle/>
          <a:p>
            <a:pPr marL="0" indent="0">
              <a:buNone/>
            </a:pPr>
            <a:r>
              <a:rPr lang="en-US" sz="1300" b="1" kern="0" spc="150" dirty="0">
                <a:solidFill>
                  <a:srgbClr val="EF6C1A"/>
                </a:solidFill>
                <a:latin typeface="Calibri" pitchFamily="34" charset="0"/>
                <a:ea typeface="Calibri" pitchFamily="34" charset="-122"/>
                <a:cs typeface="Calibri" pitchFamily="34" charset="-120"/>
              </a:rPr>
              <a:t>Real-world example CCPP-SCM</a:t>
            </a:r>
            <a:endParaRPr lang="en-US" sz="1300" dirty="0"/>
          </a:p>
        </p:txBody>
      </p:sp>
      <p:sp>
        <p:nvSpPr>
          <p:cNvPr id="7" name="Text 5"/>
          <p:cNvSpPr txBox="1"/>
          <p:nvPr/>
        </p:nvSpPr>
        <p:spPr>
          <a:xfrm>
            <a:off x="640080" y="4566508"/>
            <a:ext cx="5852160" cy="822960"/>
          </a:xfrm>
          <a:prstGeom prst="rect">
            <a:avLst/>
          </a:prstGeom>
          <a:noFill/>
          <a:ln/>
        </p:spPr>
        <p:txBody>
          <a:bodyPr wrap="square" lIns="0" tIns="0" rIns="0" bIns="0" rtlCol="0" anchor="t"/>
          <a:lstStyle/>
          <a:p>
            <a:pPr marL="0" indent="0">
              <a:lnSpc>
                <a:spcPct val="120000"/>
              </a:lnSpc>
              <a:buNone/>
            </a:pPr>
            <a:r>
              <a:rPr lang="en-US" sz="1300" dirty="0">
                <a:solidFill>
                  <a:schemeClr val="accent1">
                    <a:lumMod val="60000"/>
                    <a:lumOff val="40000"/>
                  </a:schemeClr>
                </a:solidFill>
                <a:hlinkClick r:id="rId3">
                  <a:extLst>
                    <a:ext uri="{A12FA001-AC4F-418D-AE19-62706E023703}">
                      <ahyp:hlinkClr xmlns:ahyp="http://schemas.microsoft.com/office/drawing/2018/hyperlinkcolor" val="tx"/>
                    </a:ext>
                  </a:extLst>
                </a:hlinkClick>
              </a:rPr>
              <a:t>https://github.com/ncar/ccpp-scm</a:t>
            </a:r>
            <a:r>
              <a:rPr lang="en-US" sz="1300" dirty="0">
                <a:solidFill>
                  <a:schemeClr val="accent1">
                    <a:lumMod val="60000"/>
                    <a:lumOff val="40000"/>
                  </a:schemeClr>
                </a:solidFill>
              </a:rPr>
              <a:t> </a:t>
            </a:r>
          </a:p>
        </p:txBody>
      </p:sp>
      <p:sp>
        <p:nvSpPr>
          <p:cNvPr id="8" name="Shape 6"/>
          <p:cNvSpPr/>
          <p:nvPr/>
        </p:nvSpPr>
        <p:spPr>
          <a:xfrm>
            <a:off x="7040880" y="1554480"/>
            <a:ext cx="4498848" cy="3164967"/>
          </a:xfrm>
          <a:prstGeom prst="roundRect">
            <a:avLst>
              <a:gd name="adj" fmla="val 2311"/>
            </a:avLst>
          </a:prstGeom>
          <a:solidFill>
            <a:srgbClr val="2C3446"/>
          </a:solidFill>
          <a:ln w="12700">
            <a:solidFill>
              <a:srgbClr val="2C3446"/>
            </a:solidFill>
            <a:prstDash val="solid"/>
          </a:ln>
        </p:spPr>
        <p:txBody>
          <a:bodyPr/>
          <a:lstStyle/>
          <a:p>
            <a:endParaRPr lang="en-US"/>
          </a:p>
        </p:txBody>
      </p:sp>
      <p:sp>
        <p:nvSpPr>
          <p:cNvPr id="9" name="Text 7"/>
          <p:cNvSpPr txBox="1"/>
          <p:nvPr/>
        </p:nvSpPr>
        <p:spPr>
          <a:xfrm>
            <a:off x="7242048" y="1700784"/>
            <a:ext cx="4096512" cy="2872359"/>
          </a:xfrm>
          <a:prstGeom prst="rect">
            <a:avLst/>
          </a:prstGeom>
          <a:noFill/>
          <a:ln/>
        </p:spPr>
        <p:txBody>
          <a:bodyPr wrap="square" lIns="0" tIns="0" rIns="0" bIns="0" rtlCol="0" anchor="t"/>
          <a:lstStyle/>
          <a:p>
            <a:pPr marL="0" indent="0">
              <a:lnSpc>
                <a:spcPct val="112000"/>
              </a:lnSpc>
              <a:buNone/>
            </a:pPr>
            <a:r>
              <a:rPr lang="en-US" sz="1100" i="1" dirty="0">
                <a:solidFill>
                  <a:srgbClr val="8A93A6"/>
                </a:solidFill>
                <a:latin typeface="Courier New" pitchFamily="34" charset="0"/>
                <a:ea typeface="Courier New" pitchFamily="34" charset="-122"/>
                <a:cs typeface="Courier New" pitchFamily="34" charset="-120"/>
              </a:rPr>
              <a:t># the cheat sheet</a:t>
            </a:r>
            <a:endParaRPr lang="en-US" sz="1100" dirty="0"/>
          </a:p>
          <a:p>
            <a:pPr marL="0" indent="0">
              <a:lnSpc>
                <a:spcPct val="112000"/>
              </a:lnSpc>
              <a:buNone/>
            </a:pPr>
            <a:r>
              <a:rPr lang="en-US" sz="1100" dirty="0">
                <a:solidFill>
                  <a:srgbClr val="E6E8EC"/>
                </a:solidFill>
                <a:latin typeface="Courier New" pitchFamily="34" charset="0"/>
                <a:ea typeface="Courier New" pitchFamily="34" charset="-122"/>
                <a:cs typeface="Courier New" pitchFamily="34" charset="-120"/>
              </a:rPr>
              <a:t>cmake_minimum_required(VERSION 3.16)</a:t>
            </a:r>
            <a:endParaRPr lang="en-US" sz="1100" dirty="0"/>
          </a:p>
          <a:p>
            <a:pPr marL="0" indent="0">
              <a:lnSpc>
                <a:spcPct val="112000"/>
              </a:lnSpc>
              <a:buNone/>
            </a:pPr>
            <a:r>
              <a:rPr lang="en-US" sz="1100" dirty="0">
                <a:solidFill>
                  <a:srgbClr val="E6E8EC"/>
                </a:solidFill>
                <a:latin typeface="Courier New" pitchFamily="34" charset="0"/>
                <a:ea typeface="Courier New" pitchFamily="34" charset="-122"/>
                <a:cs typeface="Courier New" pitchFamily="34" charset="-120"/>
              </a:rPr>
              <a:t>project(name LANGUAGES Fortran)</a:t>
            </a:r>
            <a:endParaRPr lang="en-US" sz="1100" dirty="0"/>
          </a:p>
          <a:p>
            <a:pPr marL="0" indent="0">
              <a:lnSpc>
                <a:spcPct val="112000"/>
              </a:lnSpc>
              <a:buNone/>
            </a:pPr>
            <a:r>
              <a:rPr lang="en-US" sz="1100" dirty="0">
                <a:solidFill>
                  <a:srgbClr val="E6E8EC"/>
                </a:solidFill>
                <a:latin typeface="Courier New" pitchFamily="34" charset="0"/>
                <a:ea typeface="Courier New" pitchFamily="34" charset="-122"/>
                <a:cs typeface="Courier New" pitchFamily="34" charset="-120"/>
              </a:rPr>
              <a:t> </a:t>
            </a:r>
            <a:endParaRPr lang="en-US" sz="1100" dirty="0"/>
          </a:p>
          <a:p>
            <a:pPr marL="0" indent="0">
              <a:lnSpc>
                <a:spcPct val="112000"/>
              </a:lnSpc>
              <a:buNone/>
            </a:pPr>
            <a:r>
              <a:rPr lang="en-US" sz="1100" dirty="0">
                <a:solidFill>
                  <a:srgbClr val="E6E8EC"/>
                </a:solidFill>
                <a:latin typeface="Courier New" pitchFamily="34" charset="0"/>
                <a:ea typeface="Courier New" pitchFamily="34" charset="-122"/>
                <a:cs typeface="Courier New" pitchFamily="34" charset="-120"/>
              </a:rPr>
              <a:t>add_library(lib a.f90 b.f90)</a:t>
            </a:r>
            <a:endParaRPr lang="en-US" sz="1100" dirty="0"/>
          </a:p>
          <a:p>
            <a:pPr marL="0" indent="0">
              <a:lnSpc>
                <a:spcPct val="112000"/>
              </a:lnSpc>
              <a:buNone/>
            </a:pPr>
            <a:r>
              <a:rPr lang="en-US" sz="1100" dirty="0">
                <a:solidFill>
                  <a:srgbClr val="E6E8EC"/>
                </a:solidFill>
                <a:latin typeface="Courier New" pitchFamily="34" charset="0"/>
                <a:ea typeface="Courier New" pitchFamily="34" charset="-122"/>
                <a:cs typeface="Courier New" pitchFamily="34" charset="-120"/>
              </a:rPr>
              <a:t>add_executable(app main.f90)</a:t>
            </a:r>
            <a:endParaRPr lang="en-US" sz="1100" dirty="0"/>
          </a:p>
          <a:p>
            <a:pPr marL="0" indent="0">
              <a:lnSpc>
                <a:spcPct val="112000"/>
              </a:lnSpc>
              <a:buNone/>
            </a:pPr>
            <a:r>
              <a:rPr lang="en-US" sz="1100" dirty="0">
                <a:solidFill>
                  <a:srgbClr val="E6E8EC"/>
                </a:solidFill>
                <a:latin typeface="Courier New" pitchFamily="34" charset="0"/>
                <a:ea typeface="Courier New" pitchFamily="34" charset="-122"/>
                <a:cs typeface="Courier New" pitchFamily="34" charset="-120"/>
              </a:rPr>
              <a:t>target_link_libraries(app PRIVATE lib)</a:t>
            </a:r>
            <a:endParaRPr lang="en-US" sz="1100" dirty="0"/>
          </a:p>
          <a:p>
            <a:pPr marL="0" indent="0">
              <a:lnSpc>
                <a:spcPct val="112000"/>
              </a:lnSpc>
              <a:buNone/>
            </a:pPr>
            <a:r>
              <a:rPr lang="en-US" sz="1100" dirty="0">
                <a:solidFill>
                  <a:srgbClr val="E6E8EC"/>
                </a:solidFill>
                <a:latin typeface="Courier New" pitchFamily="34" charset="0"/>
                <a:ea typeface="Courier New" pitchFamily="34" charset="-122"/>
                <a:cs typeface="Courier New" pitchFamily="34" charset="-120"/>
              </a:rPr>
              <a:t> </a:t>
            </a:r>
            <a:endParaRPr lang="en-US" sz="1100" dirty="0"/>
          </a:p>
          <a:p>
            <a:pPr marL="0" indent="0">
              <a:lnSpc>
                <a:spcPct val="112000"/>
              </a:lnSpc>
              <a:buNone/>
            </a:pPr>
            <a:r>
              <a:rPr lang="en-US" sz="1100" dirty="0">
                <a:solidFill>
                  <a:srgbClr val="E6E8EC"/>
                </a:solidFill>
                <a:latin typeface="Courier New" pitchFamily="34" charset="0"/>
                <a:ea typeface="Courier New" pitchFamily="34" charset="-122"/>
                <a:cs typeface="Courier New" pitchFamily="34" charset="-120"/>
              </a:rPr>
              <a:t>target_include_directories(t PUBLIC ...)</a:t>
            </a:r>
            <a:endParaRPr lang="en-US" sz="1100" dirty="0"/>
          </a:p>
          <a:p>
            <a:pPr marL="0" indent="0">
              <a:lnSpc>
                <a:spcPct val="112000"/>
              </a:lnSpc>
              <a:buNone/>
            </a:pPr>
            <a:r>
              <a:rPr lang="en-US" sz="1100" dirty="0">
                <a:solidFill>
                  <a:srgbClr val="E6E8EC"/>
                </a:solidFill>
                <a:latin typeface="Courier New" pitchFamily="34" charset="0"/>
                <a:ea typeface="Courier New" pitchFamily="34" charset="-122"/>
                <a:cs typeface="Courier New" pitchFamily="34" charset="-120"/>
              </a:rPr>
              <a:t>target_compile_options(t PRIVATE ...)</a:t>
            </a:r>
            <a:endParaRPr lang="en-US" sz="1100" dirty="0"/>
          </a:p>
          <a:p>
            <a:pPr marL="0" indent="0">
              <a:lnSpc>
                <a:spcPct val="112000"/>
              </a:lnSpc>
              <a:buNone/>
            </a:pPr>
            <a:r>
              <a:rPr lang="en-US" sz="1100" dirty="0">
                <a:solidFill>
                  <a:srgbClr val="E6E8EC"/>
                </a:solidFill>
                <a:latin typeface="Courier New" pitchFamily="34" charset="0"/>
                <a:ea typeface="Courier New" pitchFamily="34" charset="-122"/>
                <a:cs typeface="Courier New" pitchFamily="34" charset="-120"/>
              </a:rPr>
              <a:t>find_package(Pkg REQUIRED)</a:t>
            </a:r>
            <a:endParaRPr lang="en-US" sz="1100" dirty="0"/>
          </a:p>
          <a:p>
            <a:pPr marL="0" indent="0">
              <a:lnSpc>
                <a:spcPct val="112000"/>
              </a:lnSpc>
              <a:buNone/>
            </a:pPr>
            <a:r>
              <a:rPr lang="en-US" sz="1100" dirty="0">
                <a:solidFill>
                  <a:srgbClr val="E6E8EC"/>
                </a:solidFill>
                <a:latin typeface="Courier New" pitchFamily="34" charset="0"/>
                <a:ea typeface="Courier New" pitchFamily="34" charset="-122"/>
                <a:cs typeface="Courier New" pitchFamily="34" charset="-120"/>
              </a:rPr>
              <a:t> </a:t>
            </a:r>
            <a:endParaRPr lang="en-US" sz="1100" dirty="0"/>
          </a:p>
          <a:p>
            <a:pPr marL="0" indent="0">
              <a:lnSpc>
                <a:spcPct val="112000"/>
              </a:lnSpc>
              <a:buNone/>
            </a:pPr>
            <a:r>
              <a:rPr lang="en-US" sz="1100" dirty="0">
                <a:solidFill>
                  <a:srgbClr val="E6E8EC"/>
                </a:solidFill>
                <a:latin typeface="Courier New" pitchFamily="34" charset="0"/>
                <a:ea typeface="Courier New" pitchFamily="34" charset="-122"/>
                <a:cs typeface="Courier New" pitchFamily="34" charset="-120"/>
              </a:rPr>
              <a:t>enable_testing()</a:t>
            </a:r>
            <a:endParaRPr lang="en-US" sz="1100" dirty="0"/>
          </a:p>
          <a:p>
            <a:pPr marL="0" indent="0">
              <a:lnSpc>
                <a:spcPct val="112000"/>
              </a:lnSpc>
              <a:buNone/>
            </a:pPr>
            <a:r>
              <a:rPr lang="en-US" sz="1100" dirty="0">
                <a:solidFill>
                  <a:srgbClr val="E6E8EC"/>
                </a:solidFill>
                <a:latin typeface="Courier New" pitchFamily="34" charset="0"/>
                <a:ea typeface="Courier New" pitchFamily="34" charset="-122"/>
                <a:cs typeface="Courier New" pitchFamily="34" charset="-120"/>
              </a:rPr>
              <a:t>add_test(NAME t COMMAND t)</a:t>
            </a:r>
            <a:endParaRPr lang="en-US" sz="1100" dirty="0"/>
          </a:p>
          <a:p>
            <a:pPr marL="0" indent="0">
              <a:lnSpc>
                <a:spcPct val="112000"/>
              </a:lnSpc>
              <a:buNone/>
            </a:pPr>
            <a:r>
              <a:rPr lang="en-US" sz="1100" dirty="0">
                <a:solidFill>
                  <a:srgbClr val="E6E8EC"/>
                </a:solidFill>
                <a:latin typeface="Courier New" pitchFamily="34" charset="0"/>
                <a:ea typeface="Courier New" pitchFamily="34" charset="-122"/>
                <a:cs typeface="Courier New" pitchFamily="34" charset="-120"/>
              </a:rPr>
              <a:t>install(TARGETS lib EXPORT libTargets ...)</a:t>
            </a:r>
            <a:endParaRPr lang="en-US" sz="1100" dirty="0"/>
          </a:p>
        </p:txBody>
      </p:sp>
      <p:sp>
        <p:nvSpPr>
          <p:cNvPr id="10" name="Text 8"/>
          <p:cNvSpPr txBox="1"/>
          <p:nvPr/>
        </p:nvSpPr>
        <p:spPr>
          <a:xfrm>
            <a:off x="7111947" y="5511511"/>
            <a:ext cx="5852160" cy="5486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Questions</a:t>
            </a:r>
            <a:endParaRPr lang="en-US" sz="2600" dirty="0"/>
          </a:p>
        </p:txBody>
      </p:sp>
      <p:sp>
        <p:nvSpPr>
          <p:cNvPr id="12" name="Text 4">
            <a:extLst>
              <a:ext uri="{FF2B5EF4-FFF2-40B4-BE49-F238E27FC236}">
                <a16:creationId xmlns:a16="http://schemas.microsoft.com/office/drawing/2014/main" id="{6ACF4153-CD00-DE39-6B12-FFA4956902EF}"/>
              </a:ext>
            </a:extLst>
          </p:cNvPr>
          <p:cNvSpPr txBox="1"/>
          <p:nvPr/>
        </p:nvSpPr>
        <p:spPr>
          <a:xfrm>
            <a:off x="640870" y="5153167"/>
            <a:ext cx="5852160" cy="329184"/>
          </a:xfrm>
          <a:prstGeom prst="rect">
            <a:avLst/>
          </a:prstGeom>
          <a:noFill/>
          <a:ln/>
        </p:spPr>
        <p:txBody>
          <a:bodyPr wrap="square" lIns="0" tIns="0" rIns="0" bIns="0" rtlCol="0" anchor="ctr"/>
          <a:lstStyle/>
          <a:p>
            <a:pPr marL="0" indent="0">
              <a:buNone/>
            </a:pPr>
            <a:r>
              <a:rPr lang="en-US" sz="1300" b="1" kern="0" spc="150" dirty="0">
                <a:solidFill>
                  <a:srgbClr val="EF6C1A"/>
                </a:solidFill>
                <a:latin typeface="Calibri" pitchFamily="34" charset="0"/>
                <a:ea typeface="Calibri" pitchFamily="34" charset="-122"/>
                <a:cs typeface="Calibri" pitchFamily="34" charset="-120"/>
              </a:rPr>
              <a:t>Where to look next</a:t>
            </a:r>
            <a:endParaRPr lang="en-US" sz="1300" dirty="0"/>
          </a:p>
        </p:txBody>
      </p:sp>
      <p:sp>
        <p:nvSpPr>
          <p:cNvPr id="14" name="Text 5">
            <a:extLst>
              <a:ext uri="{FF2B5EF4-FFF2-40B4-BE49-F238E27FC236}">
                <a16:creationId xmlns:a16="http://schemas.microsoft.com/office/drawing/2014/main" id="{9E303B24-1242-28B7-05F0-6A5C77044BBE}"/>
              </a:ext>
            </a:extLst>
          </p:cNvPr>
          <p:cNvSpPr txBox="1"/>
          <p:nvPr/>
        </p:nvSpPr>
        <p:spPr>
          <a:xfrm>
            <a:off x="640870" y="5500639"/>
            <a:ext cx="5852160" cy="822960"/>
          </a:xfrm>
          <a:prstGeom prst="rect">
            <a:avLst/>
          </a:prstGeom>
          <a:noFill/>
          <a:ln/>
        </p:spPr>
        <p:txBody>
          <a:bodyPr wrap="square" lIns="0" tIns="0" rIns="0" bIns="0" rtlCol="0" anchor="ctr"/>
          <a:lstStyle/>
          <a:p>
            <a:pPr marL="0" indent="0">
              <a:lnSpc>
                <a:spcPct val="120000"/>
              </a:lnSpc>
              <a:buNone/>
            </a:pPr>
            <a:r>
              <a:rPr lang="en-US" sz="1300" dirty="0">
                <a:solidFill>
                  <a:srgbClr val="8A93A6"/>
                </a:solidFill>
                <a:latin typeface="Calibri" pitchFamily="34" charset="0"/>
                <a:ea typeface="Calibri" pitchFamily="34" charset="-122"/>
                <a:cs typeface="Calibri" pitchFamily="34" charset="-120"/>
              </a:rPr>
              <a:t>cmake.org/cmake/help/latest  ·  "Professional CMake" (Craig Scott)  ·  the companion example project shipped with these slides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6259</TotalTime>
  <Words>5886</Words>
  <Application>Microsoft Office PowerPoint</Application>
  <PresentationFormat>Widescreen</PresentationFormat>
  <Paragraphs>565</Paragraphs>
  <Slides>25</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CMake for Fortran</dc:title>
  <dc:subject>PptxGenJS Presentation</dc:subject>
  <dc:creator>Dom Heinzeller</dc:creator>
  <cp:lastModifiedBy>Dom Heinzeller</cp:lastModifiedBy>
  <cp:revision>20</cp:revision>
  <dcterms:created xsi:type="dcterms:W3CDTF">2026-08-27T14:43:09Z</dcterms:created>
  <dcterms:modified xsi:type="dcterms:W3CDTF">2026-09-28T18:49:53Z</dcterms:modified>
</cp:coreProperties>
</file>